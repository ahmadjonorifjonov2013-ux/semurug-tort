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1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064240" y="6355080"/>
            <a:ext cx="731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A8A2BB"/>
                </a:solidFill>
                <a:latin typeface="Calibri"/>
              </a:rPr>
              <a:t>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355080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A8A2BB"/>
                </a:solidFill>
                <a:latin typeface="Calibri"/>
              </a:rPr>
              <a:t>Semurog' Tort Markazi  |  To'liq kod misollari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0" y="0"/>
            <a:ext cx="12191695" cy="164592"/>
          </a:xfrm>
          <a:prstGeom prst="roundRect">
            <a:avLst/>
          </a:prstGeom>
          <a:solidFill>
            <a:srgbClr val="F26D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F5B060"/>
                </a:solidFill>
                <a:latin typeface="Calibri"/>
              </a:rPr>
              <a:t>DJANGO 6.1  ·  5 TA APP  ·  14 TA MODEL  ·  TO'LIQ KOD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24028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5000" b="1">
                <a:solidFill>
                  <a:srgbClr val="F4F1F7"/>
                </a:solidFill>
                <a:latin typeface="Calibri"/>
              </a:rPr>
              <a:t>Semurog' Tort Markazi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10896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500" b="0">
                <a:solidFill>
                  <a:srgbClr val="A8A2BB"/>
                </a:solidFill>
                <a:latin typeface="Calibri"/>
              </a:rPr>
              <a:t>Backend'ni qurish bo'yicha to'liq qo'llanma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4023360"/>
            <a:ext cx="2926080" cy="45720"/>
          </a:xfrm>
          <a:prstGeom prst="roundRect">
            <a:avLst/>
          </a:prstGeom>
          <a:solidFill>
            <a:srgbClr val="F26D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3434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600" b="0">
                <a:solidFill>
                  <a:srgbClr val="A8A2BB"/>
                </a:solidFill>
                <a:latin typeface="Calibri"/>
              </a:rPr>
              <a:t>Har bir app uchun models, admin, views, forms, urls — tayyor kod va izoh.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600" b="0">
                <a:solidFill>
                  <a:srgbClr val="A8A2BB"/>
                </a:solidFill>
                <a:latin typeface="Calibri"/>
              </a:rPr>
              <a:t>Kodni ko'rib, tushunib, o'zgartirib yozishing kerak.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1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>
                <a:solidFill>
                  <a:srgbClr val="F26D9B"/>
                </a:solidFill>
                <a:latin typeface="Calibri"/>
              </a:rPr>
              <a:t>BIRINCHI SAVOLGA JAVOB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76656"/>
            <a:ext cx="10789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F4F1F7"/>
                </a:solidFill>
                <a:latin typeface="Calibri"/>
              </a:rPr>
              <a:t>Har bir app'da nechta model bor?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35024"/>
            <a:ext cx="1371600" cy="54864"/>
          </a:xfrm>
          <a:prstGeom prst="roundRect">
            <a:avLst/>
          </a:prstGeom>
          <a:solidFill>
            <a:srgbClr val="F26D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64240" y="6355080"/>
            <a:ext cx="731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A8A2BB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355080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A8A2BB"/>
                </a:solidFill>
                <a:latin typeface="Calibri"/>
              </a:rPr>
              <a:t>Semurog' Tort Markazi  |  To'liq kod misollari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737360"/>
            <a:ext cx="10817352" cy="2011680"/>
          </a:xfrm>
          <a:prstGeom prst="roundRect">
            <a:avLst/>
          </a:prstGeom>
          <a:solidFill>
            <a:srgbClr val="100D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83664"/>
            <a:ext cx="10360152" cy="1737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54">
                <a:solidFill>
                  <a:srgbClr val="C9C2DA"/>
                </a:solidFill>
                <a:latin typeface="Consolas"/>
              </a:rPr>
              <a:t>app          modellar soni   modellar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54">
                <a:solidFill>
                  <a:srgbClr val="C9C2DA"/>
                </a:solidFill>
                <a:latin typeface="Consolas"/>
              </a:rPr>
              <a:t>----------------------------------------------------------------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54">
                <a:solidFill>
                  <a:srgbClr val="C9C2DA"/>
                </a:solidFill>
                <a:latin typeface="Consolas"/>
              </a:rPr>
              <a:t>core              4 ta        SiteSettings · Banner · GalleryPhoto · FAQ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54">
                <a:solidFill>
                  <a:srgbClr val="C9C2DA"/>
                </a:solidFill>
                <a:latin typeface="Consolas"/>
              </a:rPr>
              <a:t>clients           1 ta        Client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54">
                <a:solidFill>
                  <a:srgbClr val="C9C2DA"/>
                </a:solidFill>
                <a:latin typeface="Consolas"/>
              </a:rPr>
              <a:t>cakes             5 ta        Category · Cake · CakeImage · Option · Allergen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54">
                <a:solidFill>
                  <a:srgbClr val="C9C2DA"/>
                </a:solidFill>
                <a:latin typeface="Consolas"/>
              </a:rPr>
              <a:t>orders            3 ta        Order · OrderItem · PromoCode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54">
                <a:solidFill>
                  <a:srgbClr val="C9C2DA"/>
                </a:solidFill>
                <a:latin typeface="Consolas"/>
              </a:rPr>
              <a:t>reviews           1 ta        Review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54">
                <a:solidFill>
                  <a:srgbClr val="C9C2DA"/>
                </a:solidFill>
                <a:latin typeface="Consolas"/>
              </a:rPr>
              <a:t>----------------------------------------------------------------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54">
                <a:solidFill>
                  <a:srgbClr val="C9C2DA"/>
                </a:solidFill>
                <a:latin typeface="Consolas"/>
              </a:rPr>
              <a:t>JAMI             14 ta 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931920"/>
            <a:ext cx="10607040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500" b="1">
                <a:solidFill>
                  <a:srgbClr val="F4F1F7"/>
                </a:solidFill>
                <a:latin typeface="Calibri"/>
              </a:rPr>
              <a:t>▸  core — saytning sozlamalari va kontenti (4 ta alohida model, chunki bular turlicha vazifani hal qiladi)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500" b="1">
                <a:solidFill>
                  <a:srgbClr val="F4F1F7"/>
                </a:solidFill>
                <a:latin typeface="Calibri"/>
              </a:rPr>
              <a:t>▸  cakes — eng ko'p model: kategoriya, asosiy mahsulot, rasm galereyasi, variantlar, allergenlar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500" b="1">
                <a:solidFill>
                  <a:srgbClr val="F4F1F7"/>
                </a:solidFill>
                <a:latin typeface="Calibri"/>
              </a:rPr>
              <a:t>▸  orders — buyurtma + uning satirlari + promo kod (buyurtma satirsiz bo'lmaydi)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500" b="1">
                <a:solidFill>
                  <a:srgbClr val="F4F1F7"/>
                </a:solidFill>
                <a:latin typeface="Calibri"/>
              </a:rPr>
              <a:t>▸  Har bir model alohida faylda emas — barchasi o'sha app'ning models.py faylida yoziladi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1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>
                <a:solidFill>
                  <a:srgbClr val="F26D9B"/>
                </a:solidFill>
                <a:latin typeface="Calibri"/>
              </a:rPr>
              <a:t>UMUMIY KO'RINISH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76656"/>
            <a:ext cx="10789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F4F1F7"/>
                </a:solidFill>
                <a:latin typeface="Calibri"/>
              </a:rPr>
              <a:t>Loyiha tuzilmasi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35024"/>
            <a:ext cx="1371600" cy="54864"/>
          </a:xfrm>
          <a:prstGeom prst="roundRect">
            <a:avLst/>
          </a:prstGeom>
          <a:solidFill>
            <a:srgbClr val="F26D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64240" y="6355080"/>
            <a:ext cx="731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A8A2BB"/>
                </a:solidFill>
                <a:latin typeface="Calibri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355080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A8A2BB"/>
                </a:solidFill>
                <a:latin typeface="Calibri"/>
              </a:rPr>
              <a:t>Semurog' Tort Markazi  |  To'liq kod misollari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828800"/>
            <a:ext cx="1635252" cy="1645920"/>
          </a:xfrm>
          <a:prstGeom prst="roundRect">
            <a:avLst/>
          </a:prstGeom>
          <a:solidFill>
            <a:srgbClr val="1F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85800" y="1828800"/>
            <a:ext cx="1635252" cy="45720"/>
          </a:xfrm>
          <a:prstGeom prst="roundRect">
            <a:avLst/>
          </a:prstGeom>
          <a:solidFill>
            <a:srgbClr val="F26D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2011680"/>
            <a:ext cx="13060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29" b="1">
                <a:solidFill>
                  <a:srgbClr val="F26D9B"/>
                </a:solidFill>
                <a:latin typeface="Calibri"/>
              </a:rPr>
              <a:t>config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2487168"/>
            <a:ext cx="130606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300" b="0">
                <a:solidFill>
                  <a:srgbClr val="F4F1F7"/>
                </a:solidFill>
                <a:latin typeface="Calibri"/>
              </a:rPr>
              <a:t>settings.py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300" b="0">
                <a:solidFill>
                  <a:srgbClr val="F4F1F7"/>
                </a:solidFill>
                <a:latin typeface="Calibri"/>
              </a:rPr>
              <a:t>urls.py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300" b="0">
                <a:solidFill>
                  <a:srgbClr val="F4F1F7"/>
                </a:solidFill>
                <a:latin typeface="Calibri"/>
              </a:rPr>
              <a:t>wsgi.py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522220" y="1828800"/>
            <a:ext cx="1635252" cy="1645920"/>
          </a:xfrm>
          <a:prstGeom prst="roundRect">
            <a:avLst/>
          </a:prstGeom>
          <a:solidFill>
            <a:srgbClr val="1F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522220" y="1828800"/>
            <a:ext cx="1635252" cy="45720"/>
          </a:xfrm>
          <a:prstGeom prst="roundRect">
            <a:avLst/>
          </a:prstGeom>
          <a:solidFill>
            <a:srgbClr val="F26D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86812" y="2011680"/>
            <a:ext cx="13060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29" b="1">
                <a:solidFill>
                  <a:srgbClr val="F26D9B"/>
                </a:solidFill>
                <a:latin typeface="Calibri"/>
              </a:rPr>
              <a:t>core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86812" y="2487168"/>
            <a:ext cx="130606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300" b="0">
                <a:solidFill>
                  <a:srgbClr val="F4F1F7"/>
                </a:solidFill>
                <a:latin typeface="Calibri"/>
              </a:rPr>
              <a:t>4 model + admin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300" b="0">
                <a:solidFill>
                  <a:srgbClr val="F4F1F7"/>
                </a:solidFill>
                <a:latin typeface="Calibri"/>
              </a:rPr>
              <a:t>+ views + urls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58640" y="1828800"/>
            <a:ext cx="1635252" cy="1645920"/>
          </a:xfrm>
          <a:prstGeom prst="roundRect">
            <a:avLst/>
          </a:prstGeom>
          <a:solidFill>
            <a:srgbClr val="1F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358640" y="1828800"/>
            <a:ext cx="1635252" cy="45720"/>
          </a:xfrm>
          <a:prstGeom prst="roundRect">
            <a:avLst/>
          </a:prstGeom>
          <a:solidFill>
            <a:srgbClr val="F26D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23232" y="2011680"/>
            <a:ext cx="13060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29" b="1">
                <a:solidFill>
                  <a:srgbClr val="F26D9B"/>
                </a:solidFill>
                <a:latin typeface="Calibri"/>
              </a:rPr>
              <a:t>clients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3232" y="2487168"/>
            <a:ext cx="130606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300" b="0">
                <a:solidFill>
                  <a:srgbClr val="F4F1F7"/>
                </a:solidFill>
                <a:latin typeface="Calibri"/>
              </a:rPr>
              <a:t>1 model + forms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300" b="0">
                <a:solidFill>
                  <a:srgbClr val="F4F1F7"/>
                </a:solidFill>
                <a:latin typeface="Calibri"/>
              </a:rPr>
              <a:t>+ auth views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95060" y="1828800"/>
            <a:ext cx="1635252" cy="1645920"/>
          </a:xfrm>
          <a:prstGeom prst="roundRect">
            <a:avLst/>
          </a:prstGeom>
          <a:solidFill>
            <a:srgbClr val="1F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195060" y="1828800"/>
            <a:ext cx="1635252" cy="45720"/>
          </a:xfrm>
          <a:prstGeom prst="roundRect">
            <a:avLst/>
          </a:prstGeom>
          <a:solidFill>
            <a:srgbClr val="F26D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9652" y="2011680"/>
            <a:ext cx="13060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29" b="1">
                <a:solidFill>
                  <a:srgbClr val="F26D9B"/>
                </a:solidFill>
                <a:latin typeface="Calibri"/>
              </a:rPr>
              <a:t>cakes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9652" y="2487168"/>
            <a:ext cx="130606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300" b="0">
                <a:solidFill>
                  <a:srgbClr val="F4F1F7"/>
                </a:solidFill>
                <a:latin typeface="Calibri"/>
              </a:rPr>
              <a:t>5 model + filtr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300" b="0">
                <a:solidFill>
                  <a:srgbClr val="F4F1F7"/>
                </a:solidFill>
                <a:latin typeface="Calibri"/>
              </a:rPr>
              <a:t>+ detail view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31480" y="1828800"/>
            <a:ext cx="1635252" cy="1645920"/>
          </a:xfrm>
          <a:prstGeom prst="roundRect">
            <a:avLst/>
          </a:prstGeom>
          <a:solidFill>
            <a:srgbClr val="1F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031480" y="1828800"/>
            <a:ext cx="1635252" cy="45720"/>
          </a:xfrm>
          <a:prstGeom prst="roundRect">
            <a:avLst/>
          </a:prstGeom>
          <a:solidFill>
            <a:srgbClr val="F26D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96072" y="2011680"/>
            <a:ext cx="13060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29" b="1">
                <a:solidFill>
                  <a:srgbClr val="F26D9B"/>
                </a:solidFill>
                <a:latin typeface="Calibri"/>
              </a:rPr>
              <a:t>orders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96072" y="2487168"/>
            <a:ext cx="130606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300" b="0">
                <a:solidFill>
                  <a:srgbClr val="F4F1F7"/>
                </a:solidFill>
                <a:latin typeface="Calibri"/>
              </a:rPr>
              <a:t>3 model + savat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300" b="0">
                <a:solidFill>
                  <a:srgbClr val="F4F1F7"/>
                </a:solidFill>
                <a:latin typeface="Calibri"/>
              </a:rPr>
              <a:t>+ checkout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867900" y="1828800"/>
            <a:ext cx="1635252" cy="1645920"/>
          </a:xfrm>
          <a:prstGeom prst="roundRect">
            <a:avLst/>
          </a:prstGeom>
          <a:solidFill>
            <a:srgbClr val="1F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867900" y="1828800"/>
            <a:ext cx="1635252" cy="45720"/>
          </a:xfrm>
          <a:prstGeom prst="roundRect">
            <a:avLst/>
          </a:prstGeom>
          <a:solidFill>
            <a:srgbClr val="F26D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032492" y="2011680"/>
            <a:ext cx="13060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29" b="1">
                <a:solidFill>
                  <a:srgbClr val="F26D9B"/>
                </a:solidFill>
                <a:latin typeface="Calibri"/>
              </a:rPr>
              <a:t>reviews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32492" y="2487168"/>
            <a:ext cx="130606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300" b="0">
                <a:solidFill>
                  <a:srgbClr val="F4F1F7"/>
                </a:solidFill>
                <a:latin typeface="Calibri"/>
              </a:rPr>
              <a:t>1 model + shakl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300" b="0">
                <a:solidFill>
                  <a:srgbClr val="F4F1F7"/>
                </a:solidFill>
                <a:latin typeface="Calibri"/>
              </a:rPr>
              <a:t>+ view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85800" y="3703320"/>
            <a:ext cx="10817352" cy="1737360"/>
          </a:xfrm>
          <a:prstGeom prst="roundRect">
            <a:avLst/>
          </a:prstGeom>
          <a:solidFill>
            <a:srgbClr val="100D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3849624"/>
            <a:ext cx="10360152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C9C2DA"/>
                </a:solidFill>
                <a:latin typeface="Consolas"/>
              </a:rPr>
              <a:t>core/models.py       →  SiteSettings, Banner, GalleryPhoto, FAQ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C9C2DA"/>
                </a:solidFill>
                <a:latin typeface="Consolas"/>
              </a:rPr>
              <a:t>core/admin.py        →  @admin.register(...) bilan 4 tasi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C9C2DA"/>
                </a:solidFill>
                <a:latin typeface="Consolas"/>
              </a:rPr>
              <a:t>core/views.py        →  home, about, contact, faq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C9C2DA"/>
                </a:solidFill>
                <a:latin typeface="Consolas"/>
              </a:rPr>
              <a:t>core/urls.py         →  path('', views.home, name='home') ...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C9C2DA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C9C2DA"/>
                </a:solidFill>
                <a:latin typeface="Consolas"/>
              </a:rPr>
              <a:t>Har bir app'da bir xil fayl tuzilmasi: models, admin, views, urls (+ forms, tests)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" y="5532120"/>
            <a:ext cx="108173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F5B060"/>
                </a:solidFill>
                <a:latin typeface="Calibri"/>
              </a:rPr>
              <a:t>Bir faylda bir nechta model bo'ladi — har birini klass (class) sifatida yozamiz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1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064240" y="6355080"/>
            <a:ext cx="731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A8A2BB"/>
                </a:solidFill>
                <a:latin typeface="Calibri"/>
              </a:rPr>
              <a:t>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355080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A8A2BB"/>
                </a:solidFill>
                <a:latin typeface="Calibri"/>
              </a:rPr>
              <a:t>Semurog' Tort Markazi  |  To'liq kod misollari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965960"/>
            <a:ext cx="960120" cy="960120"/>
          </a:xfrm>
          <a:prstGeom prst="roundRect">
            <a:avLst/>
          </a:prstGeom>
          <a:solidFill>
            <a:srgbClr val="F26D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103120"/>
            <a:ext cx="960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4000" b="1">
                <a:solidFill>
                  <a:srgbClr val="14111C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20240" y="2084831"/>
            <a:ext cx="9509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400" b="1">
                <a:solidFill>
                  <a:srgbClr val="F4F1F7"/>
                </a:solidFill>
                <a:latin typeface="Calibri"/>
              </a:rPr>
              <a:t>core — sayt sozlamalari va kontenti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2926080"/>
            <a:ext cx="95097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0">
                <a:solidFill>
                  <a:srgbClr val="A8A2BB"/>
                </a:solidFill>
                <a:latin typeface="Calibri"/>
              </a:rPr>
              <a:t>Telefon, manzil, ish vaqti, yetkazib berish narxi, slayder, galereya va savol-javob.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0">
                <a:solidFill>
                  <a:srgbClr val="A8A2BB"/>
                </a:solidFill>
                <a:latin typeface="Calibri"/>
              </a:rPr>
              <a:t>Bular saytning o'zgarmaydigan qismi — shuning uchun core da.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920240" y="4069080"/>
            <a:ext cx="8686800" cy="457200"/>
          </a:xfrm>
          <a:prstGeom prst="roundRect">
            <a:avLst/>
          </a:prstGeom>
          <a:solidFill>
            <a:srgbClr val="1F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148840" y="4142232"/>
            <a:ext cx="8321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26D9B"/>
                </a:solidFill>
                <a:latin typeface="Calibri"/>
              </a:rPr>
              <a:t>4 ta model:  SiteSettings · Banner · GalleryPhoto · FAQ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1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>
                <a:solidFill>
                  <a:srgbClr val="F26D9B"/>
                </a:solidFill>
                <a:latin typeface="Calibri"/>
              </a:rPr>
              <a:t>APP 1 · MODEL 1/4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76656"/>
            <a:ext cx="10789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F4F1F7"/>
                </a:solidFill>
                <a:latin typeface="Calibri"/>
              </a:rPr>
              <a:t>core/models.py — SiteSettings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35024"/>
            <a:ext cx="1371600" cy="54864"/>
          </a:xfrm>
          <a:prstGeom prst="roundRect">
            <a:avLst/>
          </a:prstGeom>
          <a:solidFill>
            <a:srgbClr val="F26D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64240" y="6355080"/>
            <a:ext cx="731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A8A2BB"/>
                </a:solidFill>
                <a:latin typeface="Calibri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355080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A8A2BB"/>
                </a:solidFill>
                <a:latin typeface="Calibri"/>
              </a:rPr>
              <a:t>Semurog' Tort Markazi  |  To'liq kod misollari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63040"/>
            <a:ext cx="10817352" cy="4846320"/>
          </a:xfrm>
          <a:prstGeom prst="roundRect">
            <a:avLst/>
          </a:prstGeom>
          <a:solidFill>
            <a:srgbClr val="100D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09344"/>
            <a:ext cx="10360152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47">
                <a:solidFill>
                  <a:srgbClr val="F26D9B"/>
                </a:solidFill>
                <a:latin typeface="Consolas"/>
              </a:rPr>
              <a:t>from django.db import models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47">
                <a:solidFill>
                  <a:srgbClr val="C9C2DA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47">
                <a:solidFill>
                  <a:srgbClr val="C9C2DA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47">
                <a:solidFill>
                  <a:srgbClr val="F26D9B"/>
                </a:solidFill>
                <a:latin typeface="Consolas"/>
              </a:rPr>
              <a:t>class SiteSettings(models.Model):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47">
                <a:solidFill>
                  <a:srgbClr val="A8A2BB"/>
                </a:solidFill>
                <a:latin typeface="Consolas"/>
              </a:rPr>
              <a:t>    # Butun sayt sozlamalari. Faqat 1 ta qator bo'ladi.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47">
                <a:solidFill>
                  <a:srgbClr val="C9C2DA"/>
                </a:solidFill>
                <a:latin typeface="Consolas"/>
              </a:rPr>
              <a:t>    site_name        = models.CharField("Nomi", max_length=100,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47">
                <a:solidFill>
                  <a:srgbClr val="C9C2DA"/>
                </a:solidFill>
                <a:latin typeface="Consolas"/>
              </a:rPr>
              <a:t>                                        default="Semurog' Tort Markazi")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47">
                <a:solidFill>
                  <a:srgbClr val="C9C2DA"/>
                </a:solidFill>
                <a:latin typeface="Consolas"/>
              </a:rPr>
              <a:t>    phone            = models.CharField("Telefon", max_length=30)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47">
                <a:solidFill>
                  <a:srgbClr val="C9C2DA"/>
                </a:solidFill>
                <a:latin typeface="Consolas"/>
              </a:rPr>
              <a:t>    telegram         = models.CharField("Telegram", max_length=60, blank=True)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47">
                <a:solidFill>
                  <a:srgbClr val="C9C2DA"/>
                </a:solidFill>
                <a:latin typeface="Consolas"/>
              </a:rPr>
              <a:t>    instagram        = models.URLField("Instagram", blank=True)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47">
                <a:solidFill>
                  <a:srgbClr val="C9C2DA"/>
                </a:solidFill>
                <a:latin typeface="Consolas"/>
              </a:rPr>
              <a:t>    address          = models.CharField("Manzil", max_length=200)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47">
                <a:solidFill>
                  <a:srgbClr val="C9C2DA"/>
                </a:solidFill>
                <a:latin typeface="Consolas"/>
              </a:rPr>
              <a:t>    work_hours       = models.CharField("Ish vaqti", max_length=100,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47">
                <a:solidFill>
                  <a:srgbClr val="C9C2DA"/>
                </a:solidFill>
                <a:latin typeface="Consolas"/>
              </a:rPr>
              <a:t>                                        default="Har kuni 09:00 - 22:00")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47">
                <a:solidFill>
                  <a:srgbClr val="C9C2DA"/>
                </a:solidFill>
                <a:latin typeface="Consolas"/>
              </a:rPr>
              <a:t>    delivery_price   = models.PositiveIntegerField("Yetkazib berish narxi",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47">
                <a:solidFill>
                  <a:srgbClr val="C9C2DA"/>
                </a:solidFill>
                <a:latin typeface="Consolas"/>
              </a:rPr>
              <a:t>                                                   default=0)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47">
                <a:solidFill>
                  <a:srgbClr val="C9C2DA"/>
                </a:solidFill>
                <a:latin typeface="Consolas"/>
              </a:rPr>
              <a:t>    free_delivery_from = models.PositiveIntegerField("Bunda katta bo'lsa bepul",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47">
                <a:solidFill>
                  <a:srgbClr val="C9C2DA"/>
                </a:solidFill>
                <a:latin typeface="Consolas"/>
              </a:rPr>
              <a:t>                                                      null=True, blank=True)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47">
                <a:solidFill>
                  <a:srgbClr val="C9C2DA"/>
                </a:solidFill>
                <a:latin typeface="Consolas"/>
              </a:rPr>
              <a:t>    about_text       = models.TextField("Biz haqimizda", blank=True)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47">
                <a:solidFill>
                  <a:srgbClr val="C9C2DA"/>
                </a:solidFill>
                <a:latin typeface="Consolas"/>
              </a:rPr>
              <a:t>    map_url          = models.URLField("Xarita", blank=True)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47">
                <a:solidFill>
                  <a:srgbClr val="C9C2DA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47">
                <a:solidFill>
                  <a:srgbClr val="F26D9B"/>
                </a:solidFill>
                <a:latin typeface="Consolas"/>
              </a:rPr>
              <a:t>    class Meta: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47">
                <a:solidFill>
                  <a:srgbClr val="C9C2DA"/>
                </a:solidFill>
                <a:latin typeface="Consolas"/>
              </a:rPr>
              <a:t>        verbose_name = "Sayt sozlamalari"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47">
                <a:solidFill>
                  <a:srgbClr val="C9C2DA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47">
                <a:solidFill>
                  <a:srgbClr val="F26D9B"/>
                </a:solidFill>
                <a:latin typeface="Consolas"/>
              </a:rPr>
              <a:t>    def __str__(self):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47">
                <a:solidFill>
                  <a:srgbClr val="F26D9B"/>
                </a:solidFill>
                <a:latin typeface="Consolas"/>
              </a:rPr>
              <a:t>        return self.site_name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1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>
                <a:solidFill>
                  <a:srgbClr val="F26D9B"/>
                </a:solidFill>
                <a:latin typeface="Calibri"/>
              </a:rPr>
              <a:t>APP 1 · MODEL 2-3/4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76656"/>
            <a:ext cx="10789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F4F1F7"/>
                </a:solidFill>
                <a:latin typeface="Calibri"/>
              </a:rPr>
              <a:t>core/models.py — Banner va GalleryPhoto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35024"/>
            <a:ext cx="1371600" cy="54864"/>
          </a:xfrm>
          <a:prstGeom prst="roundRect">
            <a:avLst/>
          </a:prstGeom>
          <a:solidFill>
            <a:srgbClr val="F26D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64240" y="6355080"/>
            <a:ext cx="731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A8A2BB"/>
                </a:solidFill>
                <a:latin typeface="Calibri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355080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A8A2BB"/>
                </a:solidFill>
                <a:latin typeface="Calibri"/>
              </a:rPr>
              <a:t>Semurog' Tort Markazi  |  To'liq kod misollari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63040"/>
            <a:ext cx="10817352" cy="4846320"/>
          </a:xfrm>
          <a:prstGeom prst="roundRect">
            <a:avLst/>
          </a:prstGeom>
          <a:solidFill>
            <a:srgbClr val="100D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09344"/>
            <a:ext cx="10360152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6">
                <a:solidFill>
                  <a:srgbClr val="F26D9B"/>
                </a:solidFill>
                <a:latin typeface="Consolas"/>
              </a:rPr>
              <a:t>class Banner(models.Model):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6">
                <a:solidFill>
                  <a:srgbClr val="A8A2BB"/>
                </a:solidFill>
                <a:latin typeface="Consolas"/>
              </a:rPr>
              <a:t>    # Bosh sahifadagi slayder.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6">
                <a:solidFill>
                  <a:srgbClr val="C9C2DA"/>
                </a:solidFill>
                <a:latin typeface="Consolas"/>
              </a:rPr>
              <a:t>    title     = models.CharField("Sarlavha", max_length=150)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6">
                <a:solidFill>
                  <a:srgbClr val="C9C2DA"/>
                </a:solidFill>
                <a:latin typeface="Consolas"/>
              </a:rPr>
              <a:t>    subtitle  = models.CharField("Matn", max_length=255, blank=True)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6">
                <a:solidFill>
                  <a:srgbClr val="C9C2DA"/>
                </a:solidFill>
                <a:latin typeface="Consolas"/>
              </a:rPr>
              <a:t>    image     = models.ImageField("Rasm", upload_to='banners/')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6">
                <a:solidFill>
                  <a:srgbClr val="C9C2DA"/>
                </a:solidFill>
                <a:latin typeface="Consolas"/>
              </a:rPr>
              <a:t>    link      = models.URLField("Havola", blank=True)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6">
                <a:solidFill>
                  <a:srgbClr val="C9C2DA"/>
                </a:solidFill>
                <a:latin typeface="Consolas"/>
              </a:rPr>
              <a:t>    is_active = models.BooleanField("Faol", default=True)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6">
                <a:solidFill>
                  <a:srgbClr val="C9C2DA"/>
                </a:solidFill>
                <a:latin typeface="Consolas"/>
              </a:rPr>
              <a:t>    order     = models.PositiveIntegerField("Tartib", default=0)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6">
                <a:solidFill>
                  <a:srgbClr val="C9C2DA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6">
                <a:solidFill>
                  <a:srgbClr val="F26D9B"/>
                </a:solidFill>
                <a:latin typeface="Consolas"/>
              </a:rPr>
              <a:t>    class Meta: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6">
                <a:solidFill>
                  <a:srgbClr val="C9C2DA"/>
                </a:solidFill>
                <a:latin typeface="Consolas"/>
              </a:rPr>
              <a:t>        ordering = ['order']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6">
                <a:solidFill>
                  <a:srgbClr val="C9C2DA"/>
                </a:solidFill>
                <a:latin typeface="Consolas"/>
              </a:rPr>
              <a:t>        verbose_name = "Banner"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6">
                <a:solidFill>
                  <a:srgbClr val="C9C2DA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6">
                <a:solidFill>
                  <a:srgbClr val="F26D9B"/>
                </a:solidFill>
                <a:latin typeface="Consolas"/>
              </a:rPr>
              <a:t>    def __str__(self):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6">
                <a:solidFill>
                  <a:srgbClr val="F26D9B"/>
                </a:solidFill>
                <a:latin typeface="Consolas"/>
              </a:rPr>
              <a:t>        return self.title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6">
                <a:solidFill>
                  <a:srgbClr val="C9C2DA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6">
                <a:solidFill>
                  <a:srgbClr val="C9C2DA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6">
                <a:solidFill>
                  <a:srgbClr val="F26D9B"/>
                </a:solidFill>
                <a:latin typeface="Consolas"/>
              </a:rPr>
              <a:t>class GalleryPhoto(models.Model):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6">
                <a:solidFill>
                  <a:srgbClr val="A8A2BB"/>
                </a:solidFill>
                <a:latin typeface="Consolas"/>
              </a:rPr>
              <a:t>    # Tayyor tortlar fotosi (bosh sahifadagi galereya).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6">
                <a:solidFill>
                  <a:srgbClr val="C9C2DA"/>
                </a:solidFill>
                <a:latin typeface="Consolas"/>
              </a:rPr>
              <a:t>    image     = models.ImageField("Rasm", upload_to='gallery/')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6">
                <a:solidFill>
                  <a:srgbClr val="C9C2DA"/>
                </a:solidFill>
                <a:latin typeface="Consolas"/>
              </a:rPr>
              <a:t>    caption   = models.CharField("Izoh", max_length=150, blank=True)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6">
                <a:solidFill>
                  <a:srgbClr val="C9C2DA"/>
                </a:solidFill>
                <a:latin typeface="Consolas"/>
              </a:rPr>
              <a:t>    is_active = models.BooleanField("Faol", default=True)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6">
                <a:solidFill>
                  <a:srgbClr val="C9C2DA"/>
                </a:solidFill>
                <a:latin typeface="Consolas"/>
              </a:rPr>
              <a:t>    order     = models.PositiveIntegerField("Tartib", default=0)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6">
                <a:solidFill>
                  <a:srgbClr val="C9C2DA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6">
                <a:solidFill>
                  <a:srgbClr val="F26D9B"/>
                </a:solidFill>
                <a:latin typeface="Consolas"/>
              </a:rPr>
              <a:t>    class Meta: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6">
                <a:solidFill>
                  <a:srgbClr val="C9C2DA"/>
                </a:solidFill>
                <a:latin typeface="Consolas"/>
              </a:rPr>
              <a:t>        ordering = ['order']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6">
                <a:solidFill>
                  <a:srgbClr val="C9C2DA"/>
                </a:solidFill>
                <a:latin typeface="Consolas"/>
              </a:rPr>
              <a:t>        verbose_name = "Galereya rasmi"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6">
                <a:solidFill>
                  <a:srgbClr val="C9C2DA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6">
                <a:solidFill>
                  <a:srgbClr val="F26D9B"/>
                </a:solidFill>
                <a:latin typeface="Consolas"/>
              </a:rPr>
              <a:t>    def __str__(self):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6">
                <a:solidFill>
                  <a:srgbClr val="F26D9B"/>
                </a:solidFill>
                <a:latin typeface="Consolas"/>
              </a:rPr>
              <a:t>        return self.caption or f'Galereya #{self.pk}'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1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>
                <a:solidFill>
                  <a:srgbClr val="F26D9B"/>
                </a:solidFill>
                <a:latin typeface="Calibri"/>
              </a:rPr>
              <a:t>APP 1 · MODEL 4/4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76656"/>
            <a:ext cx="10789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F4F1F7"/>
                </a:solidFill>
                <a:latin typeface="Calibri"/>
              </a:rPr>
              <a:t>core/models.py — FAQ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35024"/>
            <a:ext cx="1371600" cy="54864"/>
          </a:xfrm>
          <a:prstGeom prst="roundRect">
            <a:avLst/>
          </a:prstGeom>
          <a:solidFill>
            <a:srgbClr val="F26D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64240" y="6355080"/>
            <a:ext cx="731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A8A2BB"/>
                </a:solidFill>
                <a:latin typeface="Calibri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355080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A8A2BB"/>
                </a:solidFill>
                <a:latin typeface="Calibri"/>
              </a:rPr>
              <a:t>Semurog' Tort Markazi  |  To'liq kod misollari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63040"/>
            <a:ext cx="10817352" cy="4846320"/>
          </a:xfrm>
          <a:prstGeom prst="roundRect">
            <a:avLst/>
          </a:prstGeom>
          <a:solidFill>
            <a:srgbClr val="100D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09344"/>
            <a:ext cx="10360152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>
                <a:solidFill>
                  <a:srgbClr val="F26D9B"/>
                </a:solidFill>
                <a:latin typeface="Consolas"/>
              </a:rPr>
              <a:t>class FAQ(models.Model):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>
                <a:solidFill>
                  <a:srgbClr val="A8A2BB"/>
                </a:solidFill>
                <a:latin typeface="Consolas"/>
              </a:rPr>
              <a:t>    # Savol-javob bloklari.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>
                <a:solidFill>
                  <a:srgbClr val="C9C2DA"/>
                </a:solidFill>
                <a:latin typeface="Consolas"/>
              </a:rPr>
              <a:t>    question  = models.CharField("Savol", max_length=255)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>
                <a:solidFill>
                  <a:srgbClr val="C9C2DA"/>
                </a:solidFill>
                <a:latin typeface="Consolas"/>
              </a:rPr>
              <a:t>    answer    = models.TextField("Javob")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>
                <a:solidFill>
                  <a:srgbClr val="C9C2DA"/>
                </a:solidFill>
                <a:latin typeface="Consolas"/>
              </a:rPr>
              <a:t>    order     = models.PositiveIntegerField("Tartib", default=0)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>
                <a:solidFill>
                  <a:srgbClr val="C9C2DA"/>
                </a:solidFill>
                <a:latin typeface="Consolas"/>
              </a:rPr>
              <a:t>    is_active = models.BooleanField("Faol", default=True)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>
                <a:solidFill>
                  <a:srgbClr val="C9C2DA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>
                <a:solidFill>
                  <a:srgbClr val="F26D9B"/>
                </a:solidFill>
                <a:latin typeface="Consolas"/>
              </a:rPr>
              <a:t>    class Meta: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>
                <a:solidFill>
                  <a:srgbClr val="C9C2DA"/>
                </a:solidFill>
                <a:latin typeface="Consolas"/>
              </a:rPr>
              <a:t>        ordering = ['order']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>
                <a:solidFill>
                  <a:srgbClr val="C9C2DA"/>
                </a:solidFill>
                <a:latin typeface="Consolas"/>
              </a:rPr>
              <a:t>        verbose_name = "Savol-javob"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>
                <a:solidFill>
                  <a:srgbClr val="C9C2DA"/>
                </a:solidFill>
                <a:latin typeface="Consolas"/>
              </a:rPr>
              <a:t>        verbose_name_plural = "Savol-javoblar"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>
                <a:solidFill>
                  <a:srgbClr val="C9C2DA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>
                <a:solidFill>
                  <a:srgbClr val="F26D9B"/>
                </a:solidFill>
                <a:latin typeface="Consolas"/>
              </a:rPr>
              <a:t>    def __str__(self):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>
                <a:solidFill>
                  <a:srgbClr val="F26D9B"/>
                </a:solidFill>
                <a:latin typeface="Consolas"/>
              </a:rPr>
              <a:t>        return self.question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4023360"/>
            <a:ext cx="5294376" cy="1737360"/>
          </a:xfrm>
          <a:prstGeom prst="roundRect">
            <a:avLst/>
          </a:prstGeom>
          <a:solidFill>
            <a:srgbClr val="1F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85800" y="4023360"/>
            <a:ext cx="5294376" cy="45720"/>
          </a:xfrm>
          <a:prstGeom prst="roundRect">
            <a:avLst/>
          </a:prstGeom>
          <a:solidFill>
            <a:srgbClr val="F26D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224528"/>
            <a:ext cx="483717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F26D9B"/>
                </a:solidFill>
                <a:latin typeface="Calibri"/>
              </a:rPr>
              <a:t>Muhim qoidalar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736592"/>
            <a:ext cx="4837176" cy="1618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300" b="1">
                <a:solidFill>
                  <a:srgbClr val="F4F1F7"/>
                </a:solidFill>
                <a:latin typeface="Calibri"/>
              </a:rPr>
              <a:t>▸  CharField(max_length=) — har doim uzunlik beriladi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300" b="1">
                <a:solidFill>
                  <a:srgbClr val="F4F1F7"/>
                </a:solidFill>
                <a:latin typeface="Calibri"/>
              </a:rPr>
              <a:t>▸  verbose_name — admin paneldagi inson o'qiydigan nom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300" b="1">
                <a:solidFill>
                  <a:srgbClr val="F4F1F7"/>
                </a:solidFill>
                <a:latin typeface="Calibri"/>
              </a:rPr>
              <a:t>▸  class Meta: ordering — ro'yxat tartibi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08776" y="4023360"/>
            <a:ext cx="5294376" cy="1737360"/>
          </a:xfrm>
          <a:prstGeom prst="roundRect">
            <a:avLst/>
          </a:prstGeom>
          <a:solidFill>
            <a:srgbClr val="1F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08776" y="4023360"/>
            <a:ext cx="5294376" cy="45720"/>
          </a:xfrm>
          <a:prstGeom prst="roundRect">
            <a:avLst/>
          </a:prstGeom>
          <a:solidFill>
            <a:srgbClr val="6CC7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37376" y="4224528"/>
            <a:ext cx="483717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6CC7B8"/>
                </a:solidFill>
                <a:latin typeface="Calibri"/>
              </a:rPr>
              <a:t>Har bir model qo'shilgach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37376" y="4736592"/>
            <a:ext cx="4837176" cy="1618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300" b="1">
                <a:solidFill>
                  <a:srgbClr val="F4F1F7"/>
                </a:solidFill>
                <a:latin typeface="Calibri"/>
              </a:rPr>
              <a:t>▸  python manage.py makemigrations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300" b="1">
                <a:solidFill>
                  <a:srgbClr val="F4F1F7"/>
                </a:solidFill>
                <a:latin typeface="Calibri"/>
              </a:rPr>
              <a:t>▸  python manage.py migrate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300" b="1">
                <a:solidFill>
                  <a:srgbClr val="F4F1F7"/>
                </a:solidFill>
                <a:latin typeface="Calibri"/>
              </a:rPr>
              <a:t>▸  core/admin.py da ro'yxatga olish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1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>
                <a:solidFill>
                  <a:srgbClr val="F26D9B"/>
                </a:solidFill>
                <a:latin typeface="Calibri"/>
              </a:rPr>
              <a:t>APP 1 · ADMIN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76656"/>
            <a:ext cx="10789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F4F1F7"/>
                </a:solidFill>
                <a:latin typeface="Calibri"/>
              </a:rPr>
              <a:t>core/admin.py — to'liq kod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35024"/>
            <a:ext cx="1371600" cy="54864"/>
          </a:xfrm>
          <a:prstGeom prst="roundRect">
            <a:avLst/>
          </a:prstGeom>
          <a:solidFill>
            <a:srgbClr val="F26D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64240" y="6355080"/>
            <a:ext cx="731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A8A2BB"/>
                </a:solidFill>
                <a:latin typeface="Calibri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355080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A8A2BB"/>
                </a:solidFill>
                <a:latin typeface="Calibri"/>
              </a:rPr>
              <a:t>Semurog' Tort Markazi  |  To'liq kod misollari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737360"/>
            <a:ext cx="10817352" cy="4480560"/>
          </a:xfrm>
          <a:prstGeom prst="roundRect">
            <a:avLst/>
          </a:prstGeom>
          <a:solidFill>
            <a:srgbClr val="100D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83664"/>
            <a:ext cx="10360152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31">
                <a:solidFill>
                  <a:srgbClr val="F26D9B"/>
                </a:solidFill>
                <a:latin typeface="Consolas"/>
              </a:rPr>
              <a:t>from django.contrib import admin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31">
                <a:solidFill>
                  <a:srgbClr val="F26D9B"/>
                </a:solidFill>
                <a:latin typeface="Consolas"/>
              </a:rPr>
              <a:t>from .models import SiteSettings, Banner, GalleryPhoto, FAQ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31">
                <a:solidFill>
                  <a:srgbClr val="C9C2DA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31">
                <a:solidFill>
                  <a:srgbClr val="C9C2DA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31">
                <a:solidFill>
                  <a:srgbClr val="F26D9B"/>
                </a:solidFill>
                <a:latin typeface="Consolas"/>
              </a:rPr>
              <a:t>@admin.register(SiteSettings)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31">
                <a:solidFill>
                  <a:srgbClr val="F26D9B"/>
                </a:solidFill>
                <a:latin typeface="Consolas"/>
              </a:rPr>
              <a:t>class SiteSettingsAdmin(admin.ModelAdmin):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31">
                <a:solidFill>
                  <a:srgbClr val="C9C2DA"/>
                </a:solidFill>
                <a:latin typeface="Consolas"/>
              </a:rPr>
              <a:t>    list_display = ('site_name', 'phone', 'delivery_price', 'free_delivery_from')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31">
                <a:solidFill>
                  <a:srgbClr val="C9C2DA"/>
                </a:solidFill>
                <a:latin typeface="Consolas"/>
              </a:rPr>
              <a:t>    fieldsets = (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31">
                <a:solidFill>
                  <a:srgbClr val="C9C2DA"/>
                </a:solidFill>
                <a:latin typeface="Consolas"/>
              </a:rPr>
              <a:t>        ('Asosiy', {'fields': ('site_name', 'phone', 'address', 'work_hours')}),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31">
                <a:solidFill>
                  <a:srgbClr val="C9C2DA"/>
                </a:solidFill>
                <a:latin typeface="Consolas"/>
              </a:rPr>
              <a:t>        ('Aloqa', {'fields': ('telegram', 'instagram', 'map_url')}),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31">
                <a:solidFill>
                  <a:srgbClr val="C9C2DA"/>
                </a:solidFill>
                <a:latin typeface="Consolas"/>
              </a:rPr>
              <a:t>        ('Yetkazib berish', {'fields': ('delivery_price', 'free_delivery_from')}),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31">
                <a:solidFill>
                  <a:srgbClr val="C9C2DA"/>
                </a:solidFill>
                <a:latin typeface="Consolas"/>
              </a:rPr>
              <a:t>        ('Matnlar', {'fields': ('about_text',)}),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31">
                <a:solidFill>
                  <a:srgbClr val="C9C2DA"/>
                </a:solidFill>
                <a:latin typeface="Consolas"/>
              </a:rPr>
              <a:t>    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31">
                <a:solidFill>
                  <a:srgbClr val="C9C2DA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31">
                <a:solidFill>
                  <a:srgbClr val="C9C2DA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31">
                <a:solidFill>
                  <a:srgbClr val="F26D9B"/>
                </a:solidFill>
                <a:latin typeface="Consolas"/>
              </a:rPr>
              <a:t>@admin.register(Banner)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31">
                <a:solidFill>
                  <a:srgbClr val="F26D9B"/>
                </a:solidFill>
                <a:latin typeface="Consolas"/>
              </a:rPr>
              <a:t>class BannerAdmin(admin.ModelAdmin):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31">
                <a:solidFill>
                  <a:srgbClr val="C9C2DA"/>
                </a:solidFill>
                <a:latin typeface="Consolas"/>
              </a:rPr>
              <a:t>    list_display = ('title', 'is_active', 'order')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31">
                <a:solidFill>
                  <a:srgbClr val="C9C2DA"/>
                </a:solidFill>
                <a:latin typeface="Consolas"/>
              </a:rPr>
              <a:t>    list_editable = ('is_active', 'order')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31">
                <a:solidFill>
                  <a:srgbClr val="C9C2DA"/>
                </a:solidFill>
                <a:latin typeface="Consolas"/>
              </a:rPr>
              <a:t>    list_display_links = ('title',)          # sarlavha bosiladigan bo'lsin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31">
                <a:solidFill>
                  <a:srgbClr val="C9C2DA"/>
                </a:solidFill>
                <a:latin typeface="Consolas"/>
              </a:rPr>
              <a:t>    ordering = ('order',)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31">
                <a:solidFill>
                  <a:srgbClr val="C9C2DA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31">
                <a:solidFill>
                  <a:srgbClr val="C9C2DA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31">
                <a:solidFill>
                  <a:srgbClr val="F26D9B"/>
                </a:solidFill>
                <a:latin typeface="Consolas"/>
              </a:rPr>
              <a:t>@admin.register(GalleryPhoto)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31">
                <a:solidFill>
                  <a:srgbClr val="F26D9B"/>
                </a:solidFill>
                <a:latin typeface="Consolas"/>
              </a:rPr>
              <a:t>class GalleryPhotoAdmin(admin.ModelAdmin):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31">
                <a:solidFill>
                  <a:srgbClr val="C9C2DA"/>
                </a:solidFill>
                <a:latin typeface="Consolas"/>
              </a:rPr>
              <a:t>    list_display = ('caption', 'image', 'is_active', 'order')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31">
                <a:solidFill>
                  <a:srgbClr val="C9C2DA"/>
                </a:solidFill>
                <a:latin typeface="Consolas"/>
              </a:rPr>
              <a:t>    list_editable = ('is_active', 'order')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31">
                <a:solidFill>
                  <a:srgbClr val="C9C2DA"/>
                </a:solidFill>
                <a:latin typeface="Consolas"/>
              </a:rPr>
              <a:t>    list_display_links = ('caption',)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31">
                <a:solidFill>
                  <a:srgbClr val="C9C2DA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31">
                <a:solidFill>
                  <a:srgbClr val="C9C2DA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31">
                <a:solidFill>
                  <a:srgbClr val="F26D9B"/>
                </a:solidFill>
                <a:latin typeface="Consolas"/>
              </a:rPr>
              <a:t>@admin.register(FAQ)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31">
                <a:solidFill>
                  <a:srgbClr val="F26D9B"/>
                </a:solidFill>
                <a:latin typeface="Consolas"/>
              </a:rPr>
              <a:t>class FAQAdmin(admin.ModelAdmin):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31">
                <a:solidFill>
                  <a:srgbClr val="C9C2DA"/>
                </a:solidFill>
                <a:latin typeface="Consolas"/>
              </a:rPr>
              <a:t>    list_display = ('question', 'order', 'is_active')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31">
                <a:solidFill>
                  <a:srgbClr val="C9C2DA"/>
                </a:solidFill>
                <a:latin typeface="Consolas"/>
              </a:rPr>
              <a:t>    list_editable = ('order', 'is_active')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31">
                <a:solidFill>
                  <a:srgbClr val="C9C2DA"/>
                </a:solidFill>
                <a:latin typeface="Consolas"/>
              </a:rPr>
              <a:t>    list_display_links = ('question',)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31">
                <a:solidFill>
                  <a:srgbClr val="C9C2DA"/>
                </a:solidFill>
                <a:latin typeface="Consolas"/>
              </a:rPr>
              <a:t>    search_fields = ('question',)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1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>
                <a:solidFill>
                  <a:srgbClr val="F26D9B"/>
                </a:solidFill>
                <a:latin typeface="Calibri"/>
              </a:rPr>
              <a:t>APP 1 · VIEW (1/2)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76656"/>
            <a:ext cx="10789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F4F1F7"/>
                </a:solidFill>
                <a:latin typeface="Calibri"/>
              </a:rPr>
              <a:t>core/views.py — to'liq kod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35024"/>
            <a:ext cx="1371600" cy="54864"/>
          </a:xfrm>
          <a:prstGeom prst="roundRect">
            <a:avLst/>
          </a:prstGeom>
          <a:solidFill>
            <a:srgbClr val="F26D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64240" y="6355080"/>
            <a:ext cx="731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A8A2BB"/>
                </a:solidFill>
                <a:latin typeface="Calibri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355080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A8A2BB"/>
                </a:solidFill>
                <a:latin typeface="Calibri"/>
              </a:rPr>
              <a:t>Semurog' Tort Markazi  |  To'liq kod misollari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63040"/>
            <a:ext cx="10817352" cy="4846320"/>
          </a:xfrm>
          <a:prstGeom prst="roundRect">
            <a:avLst/>
          </a:prstGeom>
          <a:solidFill>
            <a:srgbClr val="100D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09344"/>
            <a:ext cx="10360152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43">
                <a:solidFill>
                  <a:srgbClr val="F26D9B"/>
                </a:solidFill>
                <a:latin typeface="Consolas"/>
              </a:rPr>
              <a:t>from django.shortcuts import render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43">
                <a:solidFill>
                  <a:srgbClr val="F26D9B"/>
                </a:solidFill>
                <a:latin typeface="Consolas"/>
              </a:rPr>
              <a:t>from .models import SiteSettings, Banner, GalleryPhoto, FAQ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43">
                <a:solidFill>
                  <a:srgbClr val="F26D9B"/>
                </a:solidFill>
                <a:latin typeface="Consolas"/>
              </a:rPr>
              <a:t>from cakes.models import Cake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43">
                <a:solidFill>
                  <a:srgbClr val="C9C2DA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43">
                <a:solidFill>
                  <a:srgbClr val="C9C2DA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43">
                <a:solidFill>
                  <a:srgbClr val="F26D9B"/>
                </a:solidFill>
                <a:latin typeface="Consolas"/>
              </a:rPr>
              <a:t>def _base_context():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43">
                <a:solidFill>
                  <a:srgbClr val="A8A2BB"/>
                </a:solidFill>
                <a:latin typeface="Consolas"/>
              </a:rPr>
              <a:t>    # Barcha sahifalarda kerakli umumiy ma'lumotlar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43">
                <a:solidFill>
                  <a:srgbClr val="F26D9B"/>
                </a:solidFill>
                <a:latin typeface="Consolas"/>
              </a:rPr>
              <a:t>    return {'settings_obj': SiteSettings.objects.first()}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43">
                <a:solidFill>
                  <a:srgbClr val="C9C2DA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43">
                <a:solidFill>
                  <a:srgbClr val="C9C2DA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43">
                <a:solidFill>
                  <a:srgbClr val="F26D9B"/>
                </a:solidFill>
                <a:latin typeface="Consolas"/>
              </a:rPr>
              <a:t>def home(request):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43">
                <a:solidFill>
                  <a:srgbClr val="C9C2DA"/>
                </a:solidFill>
                <a:latin typeface="Consolas"/>
              </a:rPr>
              <a:t>    context = _base_context()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43">
                <a:solidFill>
                  <a:srgbClr val="C9C2DA"/>
                </a:solidFill>
                <a:latin typeface="Consolas"/>
              </a:rPr>
              <a:t>    context.update({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43">
                <a:solidFill>
                  <a:srgbClr val="C9C2DA"/>
                </a:solidFill>
                <a:latin typeface="Consolas"/>
              </a:rPr>
              <a:t>        'banners':   Banner.objects.filter(is_active=True),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43">
                <a:solidFill>
                  <a:srgbClr val="C9C2DA"/>
                </a:solidFill>
                <a:latin typeface="Consolas"/>
              </a:rPr>
              <a:t>        'new_cakes': Cake.objects.filter(is_active=True,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43">
                <a:solidFill>
                  <a:srgbClr val="C9C2DA"/>
                </a:solidFill>
                <a:latin typeface="Consolas"/>
              </a:rPr>
              <a:t>                                         is_available=True)[:8],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43">
                <a:solidFill>
                  <a:srgbClr val="C9C2DA"/>
                </a:solidFill>
                <a:latin typeface="Consolas"/>
              </a:rPr>
              <a:t>        'gallery':   GalleryPhoto.objects.filter(is_active=True)[:12],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43">
                <a:solidFill>
                  <a:srgbClr val="C9C2DA"/>
                </a:solidFill>
                <a:latin typeface="Consolas"/>
              </a:rPr>
              <a:t>        'faqs':      FAQ.objects.filter(is_active=True),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43">
                <a:solidFill>
                  <a:srgbClr val="C9C2DA"/>
                </a:solidFill>
                <a:latin typeface="Consolas"/>
              </a:rPr>
              <a:t>    })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43">
                <a:solidFill>
                  <a:srgbClr val="F26D9B"/>
                </a:solidFill>
                <a:latin typeface="Consolas"/>
              </a:rPr>
              <a:t>    return render(request, 'core/home.html', context)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43">
                <a:solidFill>
                  <a:srgbClr val="C9C2DA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43">
                <a:solidFill>
                  <a:srgbClr val="C9C2DA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43">
                <a:solidFill>
                  <a:srgbClr val="F26D9B"/>
                </a:solidFill>
                <a:latin typeface="Consolas"/>
              </a:rPr>
              <a:t>def about(request):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43">
                <a:solidFill>
                  <a:srgbClr val="F26D9B"/>
                </a:solidFill>
                <a:latin typeface="Consolas"/>
              </a:rPr>
              <a:t>    return render(request, 'core/about.html', _base_context())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43">
                <a:solidFill>
                  <a:srgbClr val="C9C2DA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43">
                <a:solidFill>
                  <a:srgbClr val="C9C2DA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43">
                <a:solidFill>
                  <a:srgbClr val="F26D9B"/>
                </a:solidFill>
                <a:latin typeface="Consolas"/>
              </a:rPr>
              <a:t>def contact(request):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43">
                <a:solidFill>
                  <a:srgbClr val="F26D9B"/>
                </a:solidFill>
                <a:latin typeface="Consolas"/>
              </a:rPr>
              <a:t>    return render(request, 'core/contact.html', _base_context())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43">
                <a:solidFill>
                  <a:srgbClr val="C9C2DA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43">
                <a:solidFill>
                  <a:srgbClr val="C9C2DA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43">
                <a:solidFill>
                  <a:srgbClr val="F26D9B"/>
                </a:solidFill>
                <a:latin typeface="Consolas"/>
              </a:rPr>
              <a:t>def faq(request):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43">
                <a:solidFill>
                  <a:srgbClr val="C9C2DA"/>
                </a:solidFill>
                <a:latin typeface="Consolas"/>
              </a:rPr>
              <a:t>    context = _base_context()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43">
                <a:solidFill>
                  <a:srgbClr val="C9C2DA"/>
                </a:solidFill>
                <a:latin typeface="Consolas"/>
              </a:rPr>
              <a:t>    context['faqs'] = FAQ.objects.filter(is_active=True)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43">
                <a:solidFill>
                  <a:srgbClr val="F26D9B"/>
                </a:solidFill>
                <a:latin typeface="Consolas"/>
              </a:rPr>
              <a:t>    return render(request, 'core/faq.html', context)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1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>
                <a:solidFill>
                  <a:srgbClr val="F26D9B"/>
                </a:solidFill>
                <a:latin typeface="Calibri"/>
              </a:rPr>
              <a:t>APP 1 · URL (2/2)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76656"/>
            <a:ext cx="10789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F4F1F7"/>
                </a:solidFill>
                <a:latin typeface="Calibri"/>
              </a:rPr>
              <a:t>core/urls.py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35024"/>
            <a:ext cx="1371600" cy="54864"/>
          </a:xfrm>
          <a:prstGeom prst="roundRect">
            <a:avLst/>
          </a:prstGeom>
          <a:solidFill>
            <a:srgbClr val="F26D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64240" y="6355080"/>
            <a:ext cx="731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A8A2BB"/>
                </a:solidFill>
                <a:latin typeface="Calibri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355080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A8A2BB"/>
                </a:solidFill>
                <a:latin typeface="Calibri"/>
              </a:rPr>
              <a:t>Semurog' Tort Markazi  |  To'liq kod misollari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63040"/>
            <a:ext cx="10817352" cy="4846320"/>
          </a:xfrm>
          <a:prstGeom prst="roundRect">
            <a:avLst/>
          </a:prstGeom>
          <a:solidFill>
            <a:srgbClr val="100D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09344"/>
            <a:ext cx="10360152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26D9B"/>
                </a:solidFill>
                <a:latin typeface="Consolas"/>
              </a:rPr>
              <a:t>from django.urls import path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26D9B"/>
                </a:solidFill>
                <a:latin typeface="Consolas"/>
              </a:rPr>
              <a:t>from . import views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C9C2DA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C9C2DA"/>
                </a:solidFill>
                <a:latin typeface="Consolas"/>
              </a:rPr>
              <a:t>app_name = 'core'            # namespace — nomlar bilan murojaat uchun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C9C2DA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C9C2DA"/>
                </a:solidFill>
                <a:latin typeface="Consolas"/>
              </a:rPr>
              <a:t>urlpatterns = [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C9C2DA"/>
                </a:solidFill>
                <a:latin typeface="Consolas"/>
              </a:rPr>
              <a:t>    path('',          views.home,    name='home'),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C9C2DA"/>
                </a:solidFill>
                <a:latin typeface="Consolas"/>
              </a:rPr>
              <a:t>    path('about/',    views.about,   name='about'),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C9C2DA"/>
                </a:solidFill>
                <a:latin typeface="Consolas"/>
              </a:rPr>
              <a:t>    path('contact/',  views.contact, name='contact'),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C9C2DA"/>
                </a:solidFill>
                <a:latin typeface="Consolas"/>
              </a:rPr>
              <a:t>    path('faq/',      views.faq,     name='faq'),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C9C2DA"/>
                </a:solidFill>
                <a:latin typeface="Consolas"/>
              </a:rPr>
              <a:t>]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C9C2DA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A8A2BB"/>
                </a:solidFill>
                <a:latin typeface="Consolas"/>
              </a:rPr>
              <a:t># config/urls.py da allaqachon bor: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A8A2BB"/>
                </a:solidFill>
                <a:latin typeface="Consolas"/>
              </a:rPr>
              <a:t>#     path('', include('core.urls')),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A8A2BB"/>
                </a:solidFill>
                <a:latin typeface="Consolas"/>
              </a:rPr>
              <a:t>#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A8A2BB"/>
                </a:solidFill>
                <a:latin typeface="Consolas"/>
              </a:rPr>
              <a:t># Natija: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A8A2BB"/>
                </a:solidFill>
                <a:latin typeface="Consolas"/>
              </a:rPr>
              <a:t>#   /          → core:home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A8A2BB"/>
                </a:solidFill>
                <a:latin typeface="Consolas"/>
              </a:rPr>
              <a:t>#   /about/    → core:about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A8A2BB"/>
                </a:solidFill>
                <a:latin typeface="Consolas"/>
              </a:rPr>
              <a:t>#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A8A2BB"/>
                </a:solidFill>
                <a:latin typeface="Consolas"/>
              </a:rPr>
              <a:t># To'g'ri URL (shablon va koddа):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A8A2BB"/>
                </a:solidFill>
                <a:latin typeface="Consolas"/>
              </a:rPr>
              <a:t>#   {% url 'core:home' %}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A8A2BB"/>
                </a:solidFill>
                <a:latin typeface="Consolas"/>
              </a:rPr>
              <a:t>#   {% url 'core:about' %}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A8A2BB"/>
                </a:solidFill>
                <a:latin typeface="Consolas"/>
              </a:rPr>
              <a:t>#   redirect('core:home')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1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>
                <a:solidFill>
                  <a:srgbClr val="F26D9B"/>
                </a:solidFill>
                <a:latin typeface="Calibri"/>
              </a:rPr>
              <a:t>APP 1 · SIGNAL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76656"/>
            <a:ext cx="10789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F4F1F7"/>
                </a:solidFill>
                <a:latin typeface="Calibri"/>
              </a:rPr>
              <a:t>core/signals.py — bitta qator avtomatik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35024"/>
            <a:ext cx="1371600" cy="54864"/>
          </a:xfrm>
          <a:prstGeom prst="roundRect">
            <a:avLst/>
          </a:prstGeom>
          <a:solidFill>
            <a:srgbClr val="F26D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64240" y="6355080"/>
            <a:ext cx="731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A8A2BB"/>
                </a:solidFill>
                <a:latin typeface="Calibri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355080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A8A2BB"/>
                </a:solidFill>
                <a:latin typeface="Calibri"/>
              </a:rPr>
              <a:t>Semurog' Tort Markazi  |  To'liq kod misollari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554480"/>
            <a:ext cx="10817352" cy="2286000"/>
          </a:xfrm>
          <a:prstGeom prst="roundRect">
            <a:avLst/>
          </a:prstGeom>
          <a:solidFill>
            <a:srgbClr val="100D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00784"/>
            <a:ext cx="10360152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15">
                <a:solidFill>
                  <a:srgbClr val="A8A2BB"/>
                </a:solidFill>
                <a:latin typeface="Consolas"/>
              </a:rPr>
              <a:t># core/signals.py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15">
                <a:solidFill>
                  <a:srgbClr val="F26D9B"/>
                </a:solidFill>
                <a:latin typeface="Consolas"/>
              </a:rPr>
              <a:t>from django.db.models.signals import post_save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15">
                <a:solidFill>
                  <a:srgbClr val="F26D9B"/>
                </a:solidFill>
                <a:latin typeface="Consolas"/>
              </a:rPr>
              <a:t>from django.dispatch import receiver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15">
                <a:solidFill>
                  <a:srgbClr val="F26D9B"/>
                </a:solidFill>
                <a:latin typeface="Consolas"/>
              </a:rPr>
              <a:t>from .models import SiteSettings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15">
                <a:solidFill>
                  <a:srgbClr val="C9C2DA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15">
                <a:solidFill>
                  <a:srgbClr val="C9C2DA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15">
                <a:solidFill>
                  <a:srgbClr val="F26D9B"/>
                </a:solidFill>
                <a:latin typeface="Consolas"/>
              </a:rPr>
              <a:t>@receiver(post_save, sender=SiteSettings)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15">
                <a:solidFill>
                  <a:srgbClr val="F26D9B"/>
                </a:solidFill>
                <a:latin typeface="Consolas"/>
              </a:rPr>
              <a:t>def ensure_single_row(sender, instance, created, **kwargs):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15">
                <a:solidFill>
                  <a:srgbClr val="A8A2BB"/>
                </a:solidFill>
                <a:latin typeface="Consolas"/>
              </a:rPr>
              <a:t>    # Sozlamalar jadvalida har doim 1 ta qator bo'lsin.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15">
                <a:solidFill>
                  <a:srgbClr val="C9C2DA"/>
                </a:solidFill>
                <a:latin typeface="Consolas"/>
              </a:rPr>
              <a:t>    SiteSettings.objects.filter(pk__in=SiteSettings.objects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15">
                <a:solidFill>
                  <a:srgbClr val="C9C2DA"/>
                </a:solidFill>
                <a:latin typeface="Consolas"/>
              </a:rPr>
              <a:t>                               .exclude(pk=instance.pk)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15">
                <a:solidFill>
                  <a:srgbClr val="C9C2DA"/>
                </a:solidFill>
                <a:latin typeface="Consolas"/>
              </a:rPr>
              <a:t>                               .values_list('pk', flat=True)).delete()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15">
                <a:solidFill>
                  <a:srgbClr val="C9C2DA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15">
                <a:solidFill>
                  <a:srgbClr val="C9C2DA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15">
                <a:solidFill>
                  <a:srgbClr val="A8A2BB"/>
                </a:solidFill>
                <a:latin typeface="Consolas"/>
              </a:rPr>
              <a:t># config/apps.py ichiga qo'shamiz (core app'ini import qilib chaqiramiz):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15">
                <a:solidFill>
                  <a:srgbClr val="A8A2BB"/>
                </a:solidFill>
                <a:latin typeface="Consolas"/>
              </a:rPr>
              <a:t>#     def ready(self):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15">
                <a:solidFill>
                  <a:srgbClr val="A8A2BB"/>
                </a:solidFill>
                <a:latin typeface="Consolas"/>
              </a:rPr>
              <a:t>#         import core.signals  # noqa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4206240"/>
            <a:ext cx="5294376" cy="2103120"/>
          </a:xfrm>
          <a:prstGeom prst="roundRect">
            <a:avLst/>
          </a:prstGeom>
          <a:solidFill>
            <a:srgbClr val="1F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85800" y="4206240"/>
            <a:ext cx="5294376" cy="45720"/>
          </a:xfrm>
          <a:prstGeom prst="roundRect">
            <a:avLst/>
          </a:prstGeom>
          <a:solidFill>
            <a:srgbClr val="F26D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407408"/>
            <a:ext cx="483717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F26D9B"/>
                </a:solidFill>
                <a:latin typeface="Calibri"/>
              </a:rPr>
              <a:t>Signal nima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919472"/>
            <a:ext cx="4837176" cy="1435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100" b="1">
                <a:solidFill>
                  <a:srgbClr val="F4F1F7"/>
                </a:solidFill>
                <a:latin typeface="Calibri"/>
              </a:rPr>
              <a:t>▸  Model saqlanganda avtomatik ishlaydigan funksiya</a:t>
            </a:r>
          </a:p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100" b="1">
                <a:solidFill>
                  <a:srgbClr val="F4F1F7"/>
                </a:solidFill>
                <a:latin typeface="Calibri"/>
              </a:rPr>
              <a:t>▸  post_save — saqlashdan keyin</a:t>
            </a:r>
          </a:p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100" b="1">
                <a:solidFill>
                  <a:srgbClr val="F4F1F7"/>
                </a:solidFill>
                <a:latin typeface="Calibri"/>
              </a:rPr>
              <a:t>▸  before_save — saqlashdan oldin</a:t>
            </a:r>
          </a:p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100" b="1">
                <a:solidFill>
                  <a:srgbClr val="F4F1F7"/>
                </a:solidFill>
                <a:latin typeface="Calibri"/>
              </a:rPr>
              <a:t>▸  Mijoz to'lov qilganda Telegram xabari yuborish uchun ham ishlatiladi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08776" y="4206240"/>
            <a:ext cx="5294376" cy="2103120"/>
          </a:xfrm>
          <a:prstGeom prst="roundRect">
            <a:avLst/>
          </a:prstGeom>
          <a:solidFill>
            <a:srgbClr val="1F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08776" y="4206240"/>
            <a:ext cx="5294376" cy="45720"/>
          </a:xfrm>
          <a:prstGeom prst="roundRect">
            <a:avLst/>
          </a:prstGeom>
          <a:solidFill>
            <a:srgbClr val="6CC7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37376" y="4407408"/>
            <a:ext cx="483717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6CC7B8"/>
                </a:solidFill>
                <a:latin typeface="Calibri"/>
              </a:rPr>
              <a:t>Alternativa (sodda usul)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37376" y="4919472"/>
            <a:ext cx="4837176" cy="1435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300" b="1">
                <a:solidFill>
                  <a:srgbClr val="F4F1F7"/>
                </a:solidFill>
                <a:latin typeface="Calibri"/>
              </a:rPr>
              <a:t>▸  View ichida: SiteSettings.objects.get_or_create(pk=1)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300" b="1">
                <a:solidFill>
                  <a:srgbClr val="F4F1F7"/>
                </a:solidFill>
                <a:latin typeface="Calibri"/>
              </a:rPr>
              <a:t>▸  Bitta admin ishlatilsa, signal kerak emas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300" b="1">
                <a:solidFill>
                  <a:srgbClr val="F4F1F7"/>
                </a:solidFill>
                <a:latin typeface="Calibri"/>
              </a:rPr>
              <a:t>▸  Ko'p admin bo'lsa, signal kerak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1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064240" y="6355080"/>
            <a:ext cx="731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A8A2BB"/>
                </a:solidFill>
                <a:latin typeface="Calibri"/>
              </a:rPr>
              <a:t>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355080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A8A2BB"/>
                </a:solidFill>
                <a:latin typeface="Calibri"/>
              </a:rPr>
              <a:t>Semurog' Tort Markazi  |  To'liq kod misollari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965960"/>
            <a:ext cx="960120" cy="960120"/>
          </a:xfrm>
          <a:prstGeom prst="roundRect">
            <a:avLst/>
          </a:prstGeom>
          <a:solidFill>
            <a:srgbClr val="F26D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103120"/>
            <a:ext cx="960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4000" b="1">
                <a:solidFill>
                  <a:srgbClr val="14111C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20240" y="2084831"/>
            <a:ext cx="9509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400" b="1">
                <a:solidFill>
                  <a:srgbClr val="F4F1F7"/>
                </a:solidFill>
                <a:latin typeface="Calibri"/>
              </a:rPr>
              <a:t>clients — mijozlar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2926080"/>
            <a:ext cx="95097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0">
                <a:solidFill>
                  <a:srgbClr val="A8A2BB"/>
                </a:solidFill>
                <a:latin typeface="Calibri"/>
              </a:rPr>
              <a:t>Mijoz ro'yxatdan o'tsa, buyurtmalar tarixi saqlanadi va qayta tiklanadi.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0">
                <a:solidFill>
                  <a:srgbClr val="A8A2BB"/>
                </a:solidFill>
                <a:latin typeface="Calibri"/>
              </a:rPr>
              <a:t>Ro'yxatdan o'tmasdan ham buyurtma berish mumkin bo'lishi kerak.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920240" y="4069080"/>
            <a:ext cx="8686800" cy="457200"/>
          </a:xfrm>
          <a:prstGeom prst="roundRect">
            <a:avLst/>
          </a:prstGeom>
          <a:solidFill>
            <a:srgbClr val="1F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148840" y="4142232"/>
            <a:ext cx="8321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26D9B"/>
                </a:solidFill>
                <a:latin typeface="Calibri"/>
              </a:rPr>
              <a:t>1 ta model:  Client   (+ Django'ning tayyor User modeli bilan bog'lanadi)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1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>
                <a:solidFill>
                  <a:srgbClr val="F26D9B"/>
                </a:solidFill>
                <a:latin typeface="Calibri"/>
              </a:rPr>
              <a:t>APP 2 ·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76656"/>
            <a:ext cx="10789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F4F1F7"/>
                </a:solidFill>
                <a:latin typeface="Calibri"/>
              </a:rPr>
              <a:t>clients/models.py — to'liq kod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35024"/>
            <a:ext cx="1371600" cy="54864"/>
          </a:xfrm>
          <a:prstGeom prst="roundRect">
            <a:avLst/>
          </a:prstGeom>
          <a:solidFill>
            <a:srgbClr val="F26D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64240" y="6355080"/>
            <a:ext cx="731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A8A2BB"/>
                </a:solidFill>
                <a:latin typeface="Calibri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355080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A8A2BB"/>
                </a:solidFill>
                <a:latin typeface="Calibri"/>
              </a:rPr>
              <a:t>Semurog' Tort Markazi  |  To'liq kod misollari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63040"/>
            <a:ext cx="10817352" cy="4846320"/>
          </a:xfrm>
          <a:prstGeom prst="roundRect">
            <a:avLst/>
          </a:prstGeom>
          <a:solidFill>
            <a:srgbClr val="100D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09344"/>
            <a:ext cx="10360152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17">
                <a:solidFill>
                  <a:srgbClr val="F26D9B"/>
                </a:solidFill>
                <a:latin typeface="Consolas"/>
              </a:rPr>
              <a:t>from django.db import models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17">
                <a:solidFill>
                  <a:srgbClr val="F26D9B"/>
                </a:solidFill>
                <a:latin typeface="Consolas"/>
              </a:rPr>
              <a:t>from django.contrib.auth.models import User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17">
                <a:solidFill>
                  <a:srgbClr val="F26D9B"/>
                </a:solidFill>
                <a:latin typeface="Consolas"/>
              </a:rPr>
              <a:t>from django.core.validators import RegexValidator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17">
                <a:solidFill>
                  <a:srgbClr val="C9C2DA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17">
                <a:solidFill>
                  <a:srgbClr val="C9C2DA"/>
                </a:solidFill>
                <a:latin typeface="Consolas"/>
              </a:rPr>
              <a:t>phone_validator = RegexValidator(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17">
                <a:solidFill>
                  <a:srgbClr val="C9C2DA"/>
                </a:solidFill>
                <a:latin typeface="Consolas"/>
              </a:rPr>
              <a:t>    regex=r'^\+998\d{9}$',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17">
                <a:solidFill>
                  <a:srgbClr val="C9C2DA"/>
                </a:solidFill>
                <a:latin typeface="Consolas"/>
              </a:rPr>
              <a:t>    message="Telefon +998 XX XXX XX XX ko'rinishida bo'lishi kerak",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17">
                <a:solidFill>
                  <a:srgbClr val="C9C2DA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17">
                <a:solidFill>
                  <a:srgbClr val="C9C2DA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17">
                <a:solidFill>
                  <a:srgbClr val="C9C2DA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17">
                <a:solidFill>
                  <a:srgbClr val="F26D9B"/>
                </a:solidFill>
                <a:latin typeface="Consolas"/>
              </a:rPr>
              <a:t>class Client(models.Model):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17">
                <a:solidFill>
                  <a:srgbClr val="C9C2DA"/>
                </a:solidFill>
                <a:latin typeface="Consolas"/>
              </a:rPr>
              <a:t>    user      = models.OneToOneField(User, on_delete=models.CASCADE,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17">
                <a:solidFill>
                  <a:srgbClr val="C9C2DA"/>
                </a:solidFill>
                <a:latin typeface="Consolas"/>
              </a:rPr>
              <a:t>                                    null=True, blank=True,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17">
                <a:solidFill>
                  <a:srgbClr val="C9C2DA"/>
                </a:solidFill>
                <a:latin typeface="Consolas"/>
              </a:rPr>
              <a:t>                                    related_name='client',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17">
                <a:solidFill>
                  <a:srgbClr val="C9C2DA"/>
                </a:solidFill>
                <a:latin typeface="Consolas"/>
              </a:rPr>
              <a:t>                                    verbose_name="Login")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17">
                <a:solidFill>
                  <a:srgbClr val="C9C2DA"/>
                </a:solidFill>
                <a:latin typeface="Consolas"/>
              </a:rPr>
              <a:t>    full_name = models.CharField("F.I.O", max_length=120)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17">
                <a:solidFill>
                  <a:srgbClr val="C9C2DA"/>
                </a:solidFill>
                <a:latin typeface="Consolas"/>
              </a:rPr>
              <a:t>    phone     = models.CharField("Telefon", max_length=20, unique=True,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17">
                <a:solidFill>
                  <a:srgbClr val="C9C2DA"/>
                </a:solidFill>
                <a:latin typeface="Consolas"/>
              </a:rPr>
              <a:t>                                 validators=[phone_validator])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17">
                <a:solidFill>
                  <a:srgbClr val="C9C2DA"/>
                </a:solidFill>
                <a:latin typeface="Consolas"/>
              </a:rPr>
              <a:t>    email     = models.EmailField("Email", blank=True)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17">
                <a:solidFill>
                  <a:srgbClr val="C9C2DA"/>
                </a:solidFill>
                <a:latin typeface="Consolas"/>
              </a:rPr>
              <a:t>    birthday  = models.DateField("Tug'ilgan kuni", null=True, blank=True)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17">
                <a:solidFill>
                  <a:srgbClr val="C9C2DA"/>
                </a:solidFill>
                <a:latin typeface="Consolas"/>
              </a:rPr>
              <a:t>    address   = models.TextField("Manzil", blank=True)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17">
                <a:solidFill>
                  <a:srgbClr val="C9C2DA"/>
                </a:solidFill>
                <a:latin typeface="Consolas"/>
              </a:rPr>
              <a:t>    notes     = models.TextField("Izoh (allergiya, xohish)", blank=True)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17">
                <a:solidFill>
                  <a:srgbClr val="C9C2DA"/>
                </a:solidFill>
                <a:latin typeface="Consolas"/>
              </a:rPr>
              <a:t>    is_vip    = models.BooleanField("VIP mijoz", default=False)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17">
                <a:solidFill>
                  <a:srgbClr val="C9C2DA"/>
                </a:solidFill>
                <a:latin typeface="Consolas"/>
              </a:rPr>
              <a:t>    created_at = models.DateTimeField("Ro'yxatdan o'tgan", auto_now_add=True)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17">
                <a:solidFill>
                  <a:srgbClr val="C9C2DA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17">
                <a:solidFill>
                  <a:srgbClr val="F26D9B"/>
                </a:solidFill>
                <a:latin typeface="Consolas"/>
              </a:rPr>
              <a:t>    class Meta: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17">
                <a:solidFill>
                  <a:srgbClr val="C9C2DA"/>
                </a:solidFill>
                <a:latin typeface="Consolas"/>
              </a:rPr>
              <a:t>        ordering = ['-created_at']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17">
                <a:solidFill>
                  <a:srgbClr val="C9C2DA"/>
                </a:solidFill>
                <a:latin typeface="Consolas"/>
              </a:rPr>
              <a:t>        verbose_name = "Mijoz"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17">
                <a:solidFill>
                  <a:srgbClr val="C9C2DA"/>
                </a:solidFill>
                <a:latin typeface="Consolas"/>
              </a:rPr>
              <a:t>        verbose_name_plural = "Mijozlar"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17">
                <a:solidFill>
                  <a:srgbClr val="C9C2DA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17">
                <a:solidFill>
                  <a:srgbClr val="F26D9B"/>
                </a:solidFill>
                <a:latin typeface="Consolas"/>
              </a:rPr>
              <a:t>    def __str__(self):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17">
                <a:solidFill>
                  <a:srgbClr val="F26D9B"/>
                </a:solidFill>
                <a:latin typeface="Consolas"/>
              </a:rPr>
              <a:t>        return f"{self.full_name} ({self.phone})"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17">
                <a:solidFill>
                  <a:srgbClr val="C9C2DA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17">
                <a:solidFill>
                  <a:srgbClr val="F26D9B"/>
                </a:solidFill>
                <a:latin typeface="Consolas"/>
              </a:rPr>
              <a:t>    @property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17">
                <a:solidFill>
                  <a:srgbClr val="F26D9B"/>
                </a:solidFill>
                <a:latin typeface="Consolas"/>
              </a:rPr>
              <a:t>    def orders_count(self):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17">
                <a:solidFill>
                  <a:srgbClr val="F26D9B"/>
                </a:solidFill>
                <a:latin typeface="Consolas"/>
              </a:rPr>
              <a:t>        return self.orders.count()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17">
                <a:solidFill>
                  <a:srgbClr val="C9C2DA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17">
                <a:solidFill>
                  <a:srgbClr val="F26D9B"/>
                </a:solidFill>
                <a:latin typeface="Consolas"/>
              </a:rPr>
              <a:t>    @property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17">
                <a:solidFill>
                  <a:srgbClr val="F26D9B"/>
                </a:solidFill>
                <a:latin typeface="Consolas"/>
              </a:rPr>
              <a:t>    def total_spent(self):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17">
                <a:solidFill>
                  <a:srgbClr val="F26D9B"/>
                </a:solidFill>
                <a:latin typeface="Consolas"/>
              </a:rPr>
              <a:t>        return sum(o.total_price for o in self.orders.filter(status='delivered'))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1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>
                <a:solidFill>
                  <a:srgbClr val="F26D9B"/>
                </a:solidFill>
                <a:latin typeface="Calibri"/>
              </a:rPr>
              <a:t>APP 2 · 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76656"/>
            <a:ext cx="10789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F4F1F7"/>
                </a:solidFill>
                <a:latin typeface="Calibri"/>
              </a:rPr>
              <a:t>clients/forms.py — ro'yxatdan o'tish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35024"/>
            <a:ext cx="1371600" cy="54864"/>
          </a:xfrm>
          <a:prstGeom prst="roundRect">
            <a:avLst/>
          </a:prstGeom>
          <a:solidFill>
            <a:srgbClr val="F26D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64240" y="6355080"/>
            <a:ext cx="731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A8A2BB"/>
                </a:solidFill>
                <a:latin typeface="Calibri"/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355080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A8A2BB"/>
                </a:solidFill>
                <a:latin typeface="Calibri"/>
              </a:rPr>
              <a:t>Semurog' Tort Markazi  |  To'liq kod misollari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63040"/>
            <a:ext cx="10817352" cy="4846320"/>
          </a:xfrm>
          <a:prstGeom prst="roundRect">
            <a:avLst/>
          </a:prstGeom>
          <a:solidFill>
            <a:srgbClr val="100D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09344"/>
            <a:ext cx="10360152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17">
                <a:solidFill>
                  <a:srgbClr val="F26D9B"/>
                </a:solidFill>
                <a:latin typeface="Consolas"/>
              </a:rPr>
              <a:t>from django import forms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17">
                <a:solidFill>
                  <a:srgbClr val="F26D9B"/>
                </a:solidFill>
                <a:latin typeface="Consolas"/>
              </a:rPr>
              <a:t>from django.contrib.auth.forms import UserCreationForm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17">
                <a:solidFill>
                  <a:srgbClr val="F26D9B"/>
                </a:solidFill>
                <a:latin typeface="Consolas"/>
              </a:rPr>
              <a:t>from django.contrib.auth.models import User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17">
                <a:solidFill>
                  <a:srgbClr val="F26D9B"/>
                </a:solidFill>
                <a:latin typeface="Consolas"/>
              </a:rPr>
              <a:t>from .models import Client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17">
                <a:solidFill>
                  <a:srgbClr val="C9C2DA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17">
                <a:solidFill>
                  <a:srgbClr val="C9C2DA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17">
                <a:solidFill>
                  <a:srgbClr val="F26D9B"/>
                </a:solidFill>
                <a:latin typeface="Consolas"/>
              </a:rPr>
              <a:t>def clean_phone_value(raw):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17">
                <a:solidFill>
                  <a:srgbClr val="A8A2BB"/>
                </a:solidFill>
                <a:latin typeface="Consolas"/>
              </a:rPr>
              <a:t>    # '+998 90 123 45 67' → '+998901234567'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17">
                <a:solidFill>
                  <a:srgbClr val="C9C2DA"/>
                </a:solidFill>
                <a:latin typeface="Consolas"/>
              </a:rPr>
              <a:t>    digits = ''.join(ch for ch in raw if ch.isdigit())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17">
                <a:solidFill>
                  <a:srgbClr val="C9C2DA"/>
                </a:solidFill>
                <a:latin typeface="Consolas"/>
              </a:rPr>
              <a:t>    if not digits.startswith('998') and len(digits) == 9: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17">
                <a:solidFill>
                  <a:srgbClr val="C9C2DA"/>
                </a:solidFill>
                <a:latin typeface="Consolas"/>
              </a:rPr>
              <a:t>        digits = '998' + digits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17">
                <a:solidFill>
                  <a:srgbClr val="C9C2DA"/>
                </a:solidFill>
                <a:latin typeface="Consolas"/>
              </a:rPr>
              <a:t>    if not digits.startswith('998') or len(digits) != 12: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17">
                <a:solidFill>
                  <a:srgbClr val="C9C2DA"/>
                </a:solidFill>
                <a:latin typeface="Consolas"/>
              </a:rPr>
              <a:t>        raise forms.ValidationError("Telefon +998 XX XXX XX XX bo'lishi kerak")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17">
                <a:solidFill>
                  <a:srgbClr val="F26D9B"/>
                </a:solidFill>
                <a:latin typeface="Consolas"/>
              </a:rPr>
              <a:t>    return '+' + digits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17">
                <a:solidFill>
                  <a:srgbClr val="C9C2DA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17">
                <a:solidFill>
                  <a:srgbClr val="C9C2DA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17">
                <a:solidFill>
                  <a:srgbClr val="F26D9B"/>
                </a:solidFill>
                <a:latin typeface="Consolas"/>
              </a:rPr>
              <a:t>class ClientRegistrationForm(UserCreationForm):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17">
                <a:solidFill>
                  <a:srgbClr val="C9C2DA"/>
                </a:solidFill>
                <a:latin typeface="Consolas"/>
              </a:rPr>
              <a:t>    full_name = forms.CharField(label="F.I.O", max_length=120)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17">
                <a:solidFill>
                  <a:srgbClr val="C9C2DA"/>
                </a:solidFill>
                <a:latin typeface="Consolas"/>
              </a:rPr>
              <a:t>    phone     = forms.CharField(label="Telefon", max_length=20)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17">
                <a:solidFill>
                  <a:srgbClr val="C9C2DA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17">
                <a:solidFill>
                  <a:srgbClr val="F26D9B"/>
                </a:solidFill>
                <a:latin typeface="Consolas"/>
              </a:rPr>
              <a:t>    class Meta: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17">
                <a:solidFill>
                  <a:srgbClr val="C9C2DA"/>
                </a:solidFill>
                <a:latin typeface="Consolas"/>
              </a:rPr>
              <a:t>        model = User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17">
                <a:solidFill>
                  <a:srgbClr val="C9C2DA"/>
                </a:solidFill>
                <a:latin typeface="Consolas"/>
              </a:rPr>
              <a:t>        fields = ('username', 'full_name', 'phone', 'email',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17">
                <a:solidFill>
                  <a:srgbClr val="C9C2DA"/>
                </a:solidFill>
                <a:latin typeface="Consolas"/>
              </a:rPr>
              <a:t>                  'password1', 'password2')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17">
                <a:solidFill>
                  <a:srgbClr val="C9C2DA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17">
                <a:solidFill>
                  <a:srgbClr val="F26D9B"/>
                </a:solidFill>
                <a:latin typeface="Consolas"/>
              </a:rPr>
              <a:t>    def clean_phone(self):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17">
                <a:solidFill>
                  <a:srgbClr val="F26D9B"/>
                </a:solidFill>
                <a:latin typeface="Consolas"/>
              </a:rPr>
              <a:t>        return clean_phone_value(self.cleaned_data['phone'])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17">
                <a:solidFill>
                  <a:srgbClr val="C9C2DA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17">
                <a:solidFill>
                  <a:srgbClr val="C9C2DA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17">
                <a:solidFill>
                  <a:srgbClr val="F26D9B"/>
                </a:solidFill>
                <a:latin typeface="Consolas"/>
              </a:rPr>
              <a:t>class ClientProfileForm(forms.ModelForm):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17">
                <a:solidFill>
                  <a:srgbClr val="F26D9B"/>
                </a:solidFill>
                <a:latin typeface="Consolas"/>
              </a:rPr>
              <a:t>    class Meta: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17">
                <a:solidFill>
                  <a:srgbClr val="C9C2DA"/>
                </a:solidFill>
                <a:latin typeface="Consolas"/>
              </a:rPr>
              <a:t>        model = Client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17">
                <a:solidFill>
                  <a:srgbClr val="C9C2DA"/>
                </a:solidFill>
                <a:latin typeface="Consolas"/>
              </a:rPr>
              <a:t>        fields = ('full_name', 'phone', 'email', 'birthday',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17">
                <a:solidFill>
                  <a:srgbClr val="C9C2DA"/>
                </a:solidFill>
                <a:latin typeface="Consolas"/>
              </a:rPr>
              <a:t>                  'address', 'notes')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17">
                <a:solidFill>
                  <a:srgbClr val="C9C2DA"/>
                </a:solidFill>
                <a:latin typeface="Consolas"/>
              </a:rPr>
              <a:t>        widgets = {'birthday': forms.DateInput(attrs={'type': 'date'})}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17">
                <a:solidFill>
                  <a:srgbClr val="C9C2DA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17">
                <a:solidFill>
                  <a:srgbClr val="C9C2DA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17">
                <a:solidFill>
                  <a:srgbClr val="F26D9B"/>
                </a:solidFill>
                <a:latin typeface="Consolas"/>
              </a:rPr>
              <a:t>class ClientLoginForm(forms.Form):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17">
                <a:solidFill>
                  <a:srgbClr val="C9C2DA"/>
                </a:solidFill>
                <a:latin typeface="Consolas"/>
              </a:rPr>
              <a:t>    username = forms.CharField(label="Login", max_length=150)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17">
                <a:solidFill>
                  <a:srgbClr val="C9C2DA"/>
                </a:solidFill>
                <a:latin typeface="Consolas"/>
              </a:rPr>
              <a:t>    password = forms.CharField(label="Parol", widget=forms.PasswordInput)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1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>
                <a:solidFill>
                  <a:srgbClr val="F26D9B"/>
                </a:solidFill>
                <a:latin typeface="Calibri"/>
              </a:rPr>
              <a:t>APP 2 · VIEW (1/2)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76656"/>
            <a:ext cx="10789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F4F1F7"/>
                </a:solidFill>
                <a:latin typeface="Calibri"/>
              </a:rPr>
              <a:t>clients/views.py — to'liq kod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35024"/>
            <a:ext cx="1371600" cy="54864"/>
          </a:xfrm>
          <a:prstGeom prst="roundRect">
            <a:avLst/>
          </a:prstGeom>
          <a:solidFill>
            <a:srgbClr val="F26D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64240" y="6355080"/>
            <a:ext cx="731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A8A2BB"/>
                </a:solidFill>
                <a:latin typeface="Calibri"/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355080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A8A2BB"/>
                </a:solidFill>
                <a:latin typeface="Calibri"/>
              </a:rPr>
              <a:t>Semurog' Tort Markazi  |  To'liq kod misollari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63040"/>
            <a:ext cx="10817352" cy="4846320"/>
          </a:xfrm>
          <a:prstGeom prst="roundRect">
            <a:avLst/>
          </a:prstGeom>
          <a:solidFill>
            <a:srgbClr val="100D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09344"/>
            <a:ext cx="10360152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35">
                <a:solidFill>
                  <a:srgbClr val="F26D9B"/>
                </a:solidFill>
                <a:latin typeface="Consolas"/>
              </a:rPr>
              <a:t>from django.shortcuts import render, redirect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35">
                <a:solidFill>
                  <a:srgbClr val="F26D9B"/>
                </a:solidFill>
                <a:latin typeface="Consolas"/>
              </a:rPr>
              <a:t>from django.contrib.auth import login, authenticate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35">
                <a:solidFill>
                  <a:srgbClr val="F26D9B"/>
                </a:solidFill>
                <a:latin typeface="Consolas"/>
              </a:rPr>
              <a:t>from django.contrib.auth.decorators import login_required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35">
                <a:solidFill>
                  <a:srgbClr val="F26D9B"/>
                </a:solidFill>
                <a:latin typeface="Consolas"/>
              </a:rPr>
              <a:t>from .models import Client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35">
                <a:solidFill>
                  <a:srgbClr val="F26D9B"/>
                </a:solidFill>
                <a:latin typeface="Consolas"/>
              </a:rPr>
              <a:t>from .forms import ClientRegistrationForm, ClientLoginForm, ClientProfileForm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35">
                <a:solidFill>
                  <a:srgbClr val="C9C2DA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35">
                <a:solidFill>
                  <a:srgbClr val="C9C2DA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35">
                <a:solidFill>
                  <a:srgbClr val="F26D9B"/>
                </a:solidFill>
                <a:latin typeface="Consolas"/>
              </a:rPr>
              <a:t>def register(request):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35">
                <a:solidFill>
                  <a:srgbClr val="C9C2DA"/>
                </a:solidFill>
                <a:latin typeface="Consolas"/>
              </a:rPr>
              <a:t>    if request.user.is_authenticated: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35">
                <a:solidFill>
                  <a:srgbClr val="F26D9B"/>
                </a:solidFill>
                <a:latin typeface="Consolas"/>
              </a:rPr>
              <a:t>        return redirect('core:home')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35">
                <a:solidFill>
                  <a:srgbClr val="C9C2DA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35">
                <a:solidFill>
                  <a:srgbClr val="C9C2DA"/>
                </a:solidFill>
                <a:latin typeface="Consolas"/>
              </a:rPr>
              <a:t>    form = ClientRegistrationForm(request.POST or None)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35">
                <a:solidFill>
                  <a:srgbClr val="C9C2DA"/>
                </a:solidFill>
                <a:latin typeface="Consolas"/>
              </a:rPr>
              <a:t>    if request.method == 'POST' and form.is_valid():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35">
                <a:solidFill>
                  <a:srgbClr val="C9C2DA"/>
                </a:solidFill>
                <a:latin typeface="Consolas"/>
              </a:rPr>
              <a:t>        user = form.save()                       # 1. User yaratildi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35">
                <a:solidFill>
                  <a:srgbClr val="C9C2DA"/>
                </a:solidFill>
                <a:latin typeface="Consolas"/>
              </a:rPr>
              <a:t>        Client.objects.create(                   # 2. Client yaratildi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35">
                <a:solidFill>
                  <a:srgbClr val="C9C2DA"/>
                </a:solidFill>
                <a:latin typeface="Consolas"/>
              </a:rPr>
              <a:t>            user=user,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35">
                <a:solidFill>
                  <a:srgbClr val="C9C2DA"/>
                </a:solidFill>
                <a:latin typeface="Consolas"/>
              </a:rPr>
              <a:t>            full_name=form.cleaned_data['full_name'],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35">
                <a:solidFill>
                  <a:srgbClr val="C9C2DA"/>
                </a:solidFill>
                <a:latin typeface="Consolas"/>
              </a:rPr>
              <a:t>            phone=form.cleaned_data['phone'],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35">
                <a:solidFill>
                  <a:srgbClr val="C9C2DA"/>
                </a:solidFill>
                <a:latin typeface="Consolas"/>
              </a:rPr>
              <a:t>            email=form.cleaned_data.get('email', ''),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35">
                <a:solidFill>
                  <a:srgbClr val="C9C2DA"/>
                </a:solidFill>
                <a:latin typeface="Consolas"/>
              </a:rPr>
              <a:t>        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35">
                <a:solidFill>
                  <a:srgbClr val="C9C2DA"/>
                </a:solidFill>
                <a:latin typeface="Consolas"/>
              </a:rPr>
              <a:t>        login(request, user)                     # 3. Avtomatik kiritish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35">
                <a:solidFill>
                  <a:srgbClr val="F26D9B"/>
                </a:solidFill>
                <a:latin typeface="Consolas"/>
              </a:rPr>
              <a:t>        return redirect('core:home')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35">
                <a:solidFill>
                  <a:srgbClr val="C9C2DA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35">
                <a:solidFill>
                  <a:srgbClr val="F26D9B"/>
                </a:solidFill>
                <a:latin typeface="Consolas"/>
              </a:rPr>
              <a:t>    return render(request, 'clients/register.html', {'form': form})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35">
                <a:solidFill>
                  <a:srgbClr val="C9C2DA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35">
                <a:solidFill>
                  <a:srgbClr val="C9C2DA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35">
                <a:solidFill>
                  <a:srgbClr val="F26D9B"/>
                </a:solidFill>
                <a:latin typeface="Consolas"/>
              </a:rPr>
              <a:t>def client_login(request):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35">
                <a:solidFill>
                  <a:srgbClr val="C9C2DA"/>
                </a:solidFill>
                <a:latin typeface="Consolas"/>
              </a:rPr>
              <a:t>    form = ClientLoginForm(request.POST or None)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35">
                <a:solidFill>
                  <a:srgbClr val="C9C2DA"/>
                </a:solidFill>
                <a:latin typeface="Consolas"/>
              </a:rPr>
              <a:t>    if request.method == 'POST' and form.is_valid():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35">
                <a:solidFill>
                  <a:srgbClr val="C9C2DA"/>
                </a:solidFill>
                <a:latin typeface="Consolas"/>
              </a:rPr>
              <a:t>        user = authenticate(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35">
                <a:solidFill>
                  <a:srgbClr val="C9C2DA"/>
                </a:solidFill>
                <a:latin typeface="Consolas"/>
              </a:rPr>
              <a:t>            request,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35">
                <a:solidFill>
                  <a:srgbClr val="C9C2DA"/>
                </a:solidFill>
                <a:latin typeface="Consolas"/>
              </a:rPr>
              <a:t>            username=form.cleaned_data['username'],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35">
                <a:solidFill>
                  <a:srgbClr val="C9C2DA"/>
                </a:solidFill>
                <a:latin typeface="Consolas"/>
              </a:rPr>
              <a:t>            password=form.cleaned_data['password'],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35">
                <a:solidFill>
                  <a:srgbClr val="C9C2DA"/>
                </a:solidFill>
                <a:latin typeface="Consolas"/>
              </a:rPr>
              <a:t>        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35">
                <a:solidFill>
                  <a:srgbClr val="C9C2DA"/>
                </a:solidFill>
                <a:latin typeface="Consolas"/>
              </a:rPr>
              <a:t>        if user is not None: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35">
                <a:solidFill>
                  <a:srgbClr val="C9C2DA"/>
                </a:solidFill>
                <a:latin typeface="Consolas"/>
              </a:rPr>
              <a:t>            login(request, user)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35">
                <a:solidFill>
                  <a:srgbClr val="F26D9B"/>
                </a:solidFill>
                <a:latin typeface="Consolas"/>
              </a:rPr>
              <a:t>            return redirect('core:home')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35">
                <a:solidFill>
                  <a:srgbClr val="C9C2DA"/>
                </a:solidFill>
                <a:latin typeface="Consolas"/>
              </a:rPr>
              <a:t>        form.add_error('username', 'Login yoki parol xato')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35">
                <a:solidFill>
                  <a:srgbClr val="F26D9B"/>
                </a:solidFill>
                <a:latin typeface="Consolas"/>
              </a:rPr>
              <a:t>    return render(request, 'clients/login.html', {'form': form})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1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>
                <a:solidFill>
                  <a:srgbClr val="F26D9B"/>
                </a:solidFill>
                <a:latin typeface="Calibri"/>
              </a:rPr>
              <a:t>APP 2 · VIEW (2/2)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76656"/>
            <a:ext cx="10789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F4F1F7"/>
                </a:solidFill>
                <a:latin typeface="Calibri"/>
              </a:rPr>
              <a:t>clients — profil, urls, admin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35024"/>
            <a:ext cx="1371600" cy="54864"/>
          </a:xfrm>
          <a:prstGeom prst="roundRect">
            <a:avLst/>
          </a:prstGeom>
          <a:solidFill>
            <a:srgbClr val="F26D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64240" y="6355080"/>
            <a:ext cx="731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A8A2BB"/>
                </a:solidFill>
                <a:latin typeface="Calibri"/>
              </a:rP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355080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A8A2BB"/>
                </a:solidFill>
                <a:latin typeface="Calibri"/>
              </a:rPr>
              <a:t>Semurog' Tort Markazi  |  To'liq kod misollari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63040"/>
            <a:ext cx="10817352" cy="4846320"/>
          </a:xfrm>
          <a:prstGeom prst="roundRect">
            <a:avLst/>
          </a:prstGeom>
          <a:solidFill>
            <a:srgbClr val="100D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09344"/>
            <a:ext cx="10360152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89">
                <a:solidFill>
                  <a:srgbClr val="A8A2BB"/>
                </a:solidFill>
                <a:latin typeface="Consolas"/>
              </a:rPr>
              <a:t># clients/views.py (davomi)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89">
                <a:solidFill>
                  <a:srgbClr val="F26D9B"/>
                </a:solidFill>
                <a:latin typeface="Consolas"/>
              </a:rPr>
              <a:t>@login_required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89">
                <a:solidFill>
                  <a:srgbClr val="F26D9B"/>
                </a:solidFill>
                <a:latin typeface="Consolas"/>
              </a:rPr>
              <a:t>def profile(request):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89">
                <a:solidFill>
                  <a:srgbClr val="A8A2BB"/>
                </a:solidFill>
                <a:latin typeface="Consolas"/>
              </a:rPr>
              <a:t>    # login bo'lgan foydalanuvchi uchun Client qatorini topamiz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89">
                <a:solidFill>
                  <a:srgbClr val="C9C2DA"/>
                </a:solidFill>
                <a:latin typeface="Consolas"/>
              </a:rPr>
              <a:t>    client, created = Client.objects.get_or_create(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89">
                <a:solidFill>
                  <a:srgbClr val="C9C2DA"/>
                </a:solidFill>
                <a:latin typeface="Consolas"/>
              </a:rPr>
              <a:t>        user=request.user,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89">
                <a:solidFill>
                  <a:srgbClr val="C9C2DA"/>
                </a:solidFill>
                <a:latin typeface="Consolas"/>
              </a:rPr>
              <a:t>        defaults={'full_name': request.user.get_full_name() or request.user.username,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89">
                <a:solidFill>
                  <a:srgbClr val="C9C2DA"/>
                </a:solidFill>
                <a:latin typeface="Consolas"/>
              </a:rPr>
              <a:t>                  'phone': '+998000000000'},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89">
                <a:solidFill>
                  <a:srgbClr val="C9C2DA"/>
                </a:solidFill>
                <a:latin typeface="Consolas"/>
              </a:rPr>
              <a:t>    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89">
                <a:solidFill>
                  <a:srgbClr val="C9C2DA"/>
                </a:solidFill>
                <a:latin typeface="Consolas"/>
              </a:rPr>
              <a:t>    form = ClientProfileForm(request.POST or None, instance=client)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89">
                <a:solidFill>
                  <a:srgbClr val="C9C2DA"/>
                </a:solidFill>
                <a:latin typeface="Consolas"/>
              </a:rPr>
              <a:t>    if request.method == 'POST' and form.is_valid():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89">
                <a:solidFill>
                  <a:srgbClr val="C9C2DA"/>
                </a:solidFill>
                <a:latin typeface="Consolas"/>
              </a:rPr>
              <a:t>        form.save()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89">
                <a:solidFill>
                  <a:srgbClr val="F26D9B"/>
                </a:solidFill>
                <a:latin typeface="Consolas"/>
              </a:rPr>
              <a:t>        return redirect('clients:profile')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89">
                <a:solidFill>
                  <a:srgbClr val="F26D9B"/>
                </a:solidFill>
                <a:latin typeface="Consolas"/>
              </a:rPr>
              <a:t>    return render(request, 'clients/profile.html',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89">
                <a:solidFill>
                  <a:srgbClr val="C9C2DA"/>
                </a:solidFill>
                <a:latin typeface="Consolas"/>
              </a:rPr>
              <a:t>                  {'form': form, 'client': client})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89">
                <a:solidFill>
                  <a:srgbClr val="C9C2DA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89">
                <a:solidFill>
                  <a:srgbClr val="C9C2DA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89">
                <a:solidFill>
                  <a:srgbClr val="A8A2BB"/>
                </a:solidFill>
                <a:latin typeface="Consolas"/>
              </a:rPr>
              <a:t># clients/urls.py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89">
                <a:solidFill>
                  <a:srgbClr val="F26D9B"/>
                </a:solidFill>
                <a:latin typeface="Consolas"/>
              </a:rPr>
              <a:t>from django.urls import path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89">
                <a:solidFill>
                  <a:srgbClr val="F26D9B"/>
                </a:solidFill>
                <a:latin typeface="Consolas"/>
              </a:rPr>
              <a:t>from django.contrib.auth import logout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89">
                <a:solidFill>
                  <a:srgbClr val="F26D9B"/>
                </a:solidFill>
                <a:latin typeface="Consolas"/>
              </a:rPr>
              <a:t>from . import views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89">
                <a:solidFill>
                  <a:srgbClr val="C9C2DA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89">
                <a:solidFill>
                  <a:srgbClr val="C9C2DA"/>
                </a:solidFill>
                <a:latin typeface="Consolas"/>
              </a:rPr>
              <a:t>app_name = 'clients'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89">
                <a:solidFill>
                  <a:srgbClr val="C9C2DA"/>
                </a:solidFill>
                <a:latin typeface="Consolas"/>
              </a:rPr>
              <a:t>urlpatterns = [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89">
                <a:solidFill>
                  <a:srgbClr val="C9C2DA"/>
                </a:solidFill>
                <a:latin typeface="Consolas"/>
              </a:rPr>
              <a:t>    path('register/', views.register,     name='register'),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89">
                <a:solidFill>
                  <a:srgbClr val="C9C2DA"/>
                </a:solidFill>
                <a:latin typeface="Consolas"/>
              </a:rPr>
              <a:t>    path('login/',    views.client_login, name='login'),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89">
                <a:solidFill>
                  <a:srgbClr val="C9C2DA"/>
                </a:solidFill>
                <a:latin typeface="Consolas"/>
              </a:rPr>
              <a:t>    path('logout/',   logout,            name='logout'),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89">
                <a:solidFill>
                  <a:srgbClr val="C9C2DA"/>
                </a:solidFill>
                <a:latin typeface="Consolas"/>
              </a:rPr>
              <a:t>    path('profile/',  views.profile,      name='profile'),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89">
                <a:solidFill>
                  <a:srgbClr val="C9C2DA"/>
                </a:solidFill>
                <a:latin typeface="Consolas"/>
              </a:rPr>
              <a:t>]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1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>
                <a:solidFill>
                  <a:srgbClr val="F26D9B"/>
                </a:solidFill>
                <a:latin typeface="Calibri"/>
              </a:rPr>
              <a:t>APP 2 · ADMIN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76656"/>
            <a:ext cx="10789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F4F1F7"/>
                </a:solidFill>
                <a:latin typeface="Calibri"/>
              </a:rPr>
              <a:t>clients/admin.py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35024"/>
            <a:ext cx="1371600" cy="54864"/>
          </a:xfrm>
          <a:prstGeom prst="roundRect">
            <a:avLst/>
          </a:prstGeom>
          <a:solidFill>
            <a:srgbClr val="F26D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64240" y="6355080"/>
            <a:ext cx="731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A8A2BB"/>
                </a:solidFill>
                <a:latin typeface="Calibri"/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355080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A8A2BB"/>
                </a:solidFill>
                <a:latin typeface="Calibri"/>
              </a:rPr>
              <a:t>Semurog' Tort Markazi  |  To'liq kod misollari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63040"/>
            <a:ext cx="10817352" cy="4846320"/>
          </a:xfrm>
          <a:prstGeom prst="roundRect">
            <a:avLst/>
          </a:prstGeom>
          <a:solidFill>
            <a:srgbClr val="100D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09344"/>
            <a:ext cx="10360152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>
                <a:solidFill>
                  <a:srgbClr val="A8A2BB"/>
                </a:solidFill>
                <a:latin typeface="Consolas"/>
              </a:rPr>
              <a:t># clients/admin.py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>
                <a:solidFill>
                  <a:srgbClr val="F26D9B"/>
                </a:solidFill>
                <a:latin typeface="Consolas"/>
              </a:rPr>
              <a:t>from django.contrib import admin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>
                <a:solidFill>
                  <a:srgbClr val="F26D9B"/>
                </a:solidFill>
                <a:latin typeface="Consolas"/>
              </a:rPr>
              <a:t>from .models import Client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>
                <a:solidFill>
                  <a:srgbClr val="C9C2DA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>
                <a:solidFill>
                  <a:srgbClr val="C9C2DA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>
                <a:solidFill>
                  <a:srgbClr val="F26D9B"/>
                </a:solidFill>
                <a:latin typeface="Consolas"/>
              </a:rPr>
              <a:t>@admin.register(Client)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>
                <a:solidFill>
                  <a:srgbClr val="F26D9B"/>
                </a:solidFill>
                <a:latin typeface="Consolas"/>
              </a:rPr>
              <a:t>class ClientAdmin(admin.ModelAdmin):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>
                <a:solidFill>
                  <a:srgbClr val="C9C2DA"/>
                </a:solidFill>
                <a:latin typeface="Consolas"/>
              </a:rPr>
              <a:t>    list_display = ('full_name', 'phone', 'is_vip', 'orders_count',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>
                <a:solidFill>
                  <a:srgbClr val="C9C2DA"/>
                </a:solidFill>
                <a:latin typeface="Consolas"/>
              </a:rPr>
              <a:t>                    'created_at')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>
                <a:solidFill>
                  <a:srgbClr val="C9C2DA"/>
                </a:solidFill>
                <a:latin typeface="Consolas"/>
              </a:rPr>
              <a:t>    list_filter = ('is_vip', 'created_at')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>
                <a:solidFill>
                  <a:srgbClr val="C9C2DA"/>
                </a:solidFill>
                <a:latin typeface="Consolas"/>
              </a:rPr>
              <a:t>    search_fields = ('full_name', 'phone', 'email')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>
                <a:solidFill>
                  <a:srgbClr val="C9C2DA"/>
                </a:solidFill>
                <a:latin typeface="Consolas"/>
              </a:rPr>
              <a:t>    list_display_links = ('full_name',)   # bosiladigan ustun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>
                <a:solidFill>
                  <a:srgbClr val="C9C2DA"/>
                </a:solidFill>
                <a:latin typeface="Consolas"/>
              </a:rPr>
              <a:t>    readonly_fields = ('created_at',)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>
                <a:solidFill>
                  <a:srgbClr val="C9C2DA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>
                <a:solidFill>
                  <a:srgbClr val="F26D9B"/>
                </a:solidFill>
                <a:latin typeface="Consolas"/>
              </a:rPr>
              <a:t>    @admin.display(description="Buyurtmalar")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>
                <a:solidFill>
                  <a:srgbClr val="F26D9B"/>
                </a:solidFill>
                <a:latin typeface="Consolas"/>
              </a:rPr>
              <a:t>    def orders_count(self, obj):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>
                <a:solidFill>
                  <a:srgbClr val="F26D9B"/>
                </a:solidFill>
                <a:latin typeface="Consolas"/>
              </a:rPr>
              <a:t>        return obj.orders.count()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1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064240" y="6355080"/>
            <a:ext cx="731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A8A2BB"/>
                </a:solidFill>
                <a:latin typeface="Calibri"/>
              </a:rPr>
              <a:t>18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355080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A8A2BB"/>
                </a:solidFill>
                <a:latin typeface="Calibri"/>
              </a:rPr>
              <a:t>Semurog' Tort Markazi  |  To'liq kod misollari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965960"/>
            <a:ext cx="960120" cy="960120"/>
          </a:xfrm>
          <a:prstGeom prst="roundRect">
            <a:avLst/>
          </a:prstGeom>
          <a:solidFill>
            <a:srgbClr val="F26D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103120"/>
            <a:ext cx="960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4000" b="1">
                <a:solidFill>
                  <a:srgbClr val="14111C"/>
                </a:solidFill>
                <a:latin typeface="Calibri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20240" y="2084831"/>
            <a:ext cx="9509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400" b="1">
                <a:solidFill>
                  <a:srgbClr val="F4F1F7"/>
                </a:solidFill>
                <a:latin typeface="Calibri"/>
              </a:rPr>
              <a:t>cakes — tort katalogi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2926080"/>
            <a:ext cx="95097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0">
                <a:solidFill>
                  <a:srgbClr val="A8A2BB"/>
                </a:solidFill>
                <a:latin typeface="Calibri"/>
              </a:rPr>
              <a:t>Saytning yuragi. Kategoriya → tort → rasm galereyasi → variant (o'lcham, ta'm)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0">
                <a:solidFill>
                  <a:srgbClr val="A8A2BB"/>
                </a:solidFill>
                <a:latin typeface="Calibri"/>
              </a:rPr>
              <a:t>→ allergenlar. Katalog filtrlari shu modellarga tayanadi.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920240" y="4069080"/>
            <a:ext cx="8686800" cy="457200"/>
          </a:xfrm>
          <a:prstGeom prst="roundRect">
            <a:avLst/>
          </a:prstGeom>
          <a:solidFill>
            <a:srgbClr val="1F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148840" y="4142232"/>
            <a:ext cx="8321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26D9B"/>
                </a:solidFill>
                <a:latin typeface="Calibri"/>
              </a:rPr>
              <a:t>5 ta model:  Category · Cake · CakeImage · Option · Allergen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1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>
                <a:solidFill>
                  <a:srgbClr val="F26D9B"/>
                </a:solidFill>
                <a:latin typeface="Calibri"/>
              </a:rPr>
              <a:t>APP 3 · MODEL 1/5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76656"/>
            <a:ext cx="10789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F4F1F7"/>
                </a:solidFill>
                <a:latin typeface="Calibri"/>
              </a:rPr>
              <a:t>cakes/models.py — Category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35024"/>
            <a:ext cx="1371600" cy="54864"/>
          </a:xfrm>
          <a:prstGeom prst="roundRect">
            <a:avLst/>
          </a:prstGeom>
          <a:solidFill>
            <a:srgbClr val="F26D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64240" y="6355080"/>
            <a:ext cx="731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A8A2BB"/>
                </a:solidFill>
                <a:latin typeface="Calibri"/>
              </a:rPr>
              <a:t>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355080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A8A2BB"/>
                </a:solidFill>
                <a:latin typeface="Calibri"/>
              </a:rPr>
              <a:t>Semurog' Tort Markazi  |  To'liq kod misollari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63040"/>
            <a:ext cx="10817352" cy="4846320"/>
          </a:xfrm>
          <a:prstGeom prst="roundRect">
            <a:avLst/>
          </a:prstGeom>
          <a:solidFill>
            <a:srgbClr val="100D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09344"/>
            <a:ext cx="10360152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3">
                <a:solidFill>
                  <a:srgbClr val="F26D9B"/>
                </a:solidFill>
                <a:latin typeface="Consolas"/>
              </a:rPr>
              <a:t>from django.db import models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3">
                <a:solidFill>
                  <a:srgbClr val="F26D9B"/>
                </a:solidFill>
                <a:latin typeface="Consolas"/>
              </a:rPr>
              <a:t>from django.utils.text import slugify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3">
                <a:solidFill>
                  <a:srgbClr val="C9C2DA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3">
                <a:solidFill>
                  <a:srgbClr val="C9C2DA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3">
                <a:solidFill>
                  <a:srgbClr val="F26D9B"/>
                </a:solidFill>
                <a:latin typeface="Consolas"/>
              </a:rPr>
              <a:t>class Category(models.Model):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3">
                <a:solidFill>
                  <a:srgbClr val="A8A2BB"/>
                </a:solidFill>
                <a:latin typeface="Consolas"/>
              </a:rPr>
              <a:t>    # Tort turlari: Tug'ilgan kun, To'y torti, Shirinliklar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3">
                <a:solidFill>
                  <a:srgbClr val="C9C2DA"/>
                </a:solidFill>
                <a:latin typeface="Consolas"/>
              </a:rPr>
              <a:t>    name        = models.CharField("Nomi", max_length=100, unique=True)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3">
                <a:solidFill>
                  <a:srgbClr val="C9C2DA"/>
                </a:solidFill>
                <a:latin typeface="Consolas"/>
              </a:rPr>
              <a:t>    slug        = models.SlugField("URL", max_length=120, unique=True, blank=True)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3">
                <a:solidFill>
                  <a:srgbClr val="C9C2DA"/>
                </a:solidFill>
                <a:latin typeface="Consolas"/>
              </a:rPr>
              <a:t>    description = models.TextField("Tavsifi", blank=True)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3">
                <a:solidFill>
                  <a:srgbClr val="C9C2DA"/>
                </a:solidFill>
                <a:latin typeface="Consolas"/>
              </a:rPr>
              <a:t>    image       = models.ImageField("Rasm", upload_to='categories/', blank=True)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3">
                <a:solidFill>
                  <a:srgbClr val="C9C2DA"/>
                </a:solidFill>
                <a:latin typeface="Consolas"/>
              </a:rPr>
              <a:t>    order       = models.PositiveIntegerField("Tartib", default=0)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3">
                <a:solidFill>
                  <a:srgbClr val="C9C2DA"/>
                </a:solidFill>
                <a:latin typeface="Consolas"/>
              </a:rPr>
              <a:t>    is_active   = models.BooleanField("Faol", default=True)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3">
                <a:solidFill>
                  <a:srgbClr val="C9C2DA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3">
                <a:solidFill>
                  <a:srgbClr val="F26D9B"/>
                </a:solidFill>
                <a:latin typeface="Consolas"/>
              </a:rPr>
              <a:t>    class Meta: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3">
                <a:solidFill>
                  <a:srgbClr val="C9C2DA"/>
                </a:solidFill>
                <a:latin typeface="Consolas"/>
              </a:rPr>
              <a:t>        ordering = ['order', 'name']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3">
                <a:solidFill>
                  <a:srgbClr val="C9C2DA"/>
                </a:solidFill>
                <a:latin typeface="Consolas"/>
              </a:rPr>
              <a:t>        verbose_name = "Kategoriya"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3">
                <a:solidFill>
                  <a:srgbClr val="C9C2DA"/>
                </a:solidFill>
                <a:latin typeface="Consolas"/>
              </a:rPr>
              <a:t>        verbose_name_plural = "Kategoriyalar"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3">
                <a:solidFill>
                  <a:srgbClr val="C9C2DA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3">
                <a:solidFill>
                  <a:srgbClr val="F26D9B"/>
                </a:solidFill>
                <a:latin typeface="Consolas"/>
              </a:rPr>
              <a:t>    def __str__(self):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3">
                <a:solidFill>
                  <a:srgbClr val="F26D9B"/>
                </a:solidFill>
                <a:latin typeface="Consolas"/>
              </a:rPr>
              <a:t>        return self.name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3">
                <a:solidFill>
                  <a:srgbClr val="C9C2DA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3">
                <a:solidFill>
                  <a:srgbClr val="F26D9B"/>
                </a:solidFill>
                <a:latin typeface="Consolas"/>
              </a:rPr>
              <a:t>    def save(self, *args, **kwargs):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3">
                <a:solidFill>
                  <a:srgbClr val="A8A2BB"/>
                </a:solidFill>
                <a:latin typeface="Consolas"/>
              </a:rPr>
              <a:t>        # slug bo'sh bo'lsa nomidan avtomatik yasaymiz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3">
                <a:solidFill>
                  <a:srgbClr val="C9C2DA"/>
                </a:solidFill>
                <a:latin typeface="Consolas"/>
              </a:rPr>
              <a:t>        if not self.slug: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3">
                <a:solidFill>
                  <a:srgbClr val="C9C2DA"/>
                </a:solidFill>
                <a:latin typeface="Consolas"/>
              </a:rPr>
              <a:t>            self.slug = slugify(self.name)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3">
                <a:solidFill>
                  <a:srgbClr val="C9C2DA"/>
                </a:solidFill>
                <a:latin typeface="Consolas"/>
              </a:rPr>
              <a:t>        super().save(*args, **kwargs)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1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>
                <a:solidFill>
                  <a:srgbClr val="F26D9B"/>
                </a:solidFill>
                <a:latin typeface="Calibri"/>
              </a:rPr>
              <a:t>APP 3 · MODEL 2/5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76656"/>
            <a:ext cx="10789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F4F1F7"/>
                </a:solidFill>
                <a:latin typeface="Calibri"/>
              </a:rPr>
              <a:t>cakes/models.py — Cake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35024"/>
            <a:ext cx="1371600" cy="54864"/>
          </a:xfrm>
          <a:prstGeom prst="roundRect">
            <a:avLst/>
          </a:prstGeom>
          <a:solidFill>
            <a:srgbClr val="F26D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64240" y="6355080"/>
            <a:ext cx="731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A8A2BB"/>
                </a:solidFill>
                <a:latin typeface="Calibri"/>
              </a:rPr>
              <a:t>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355080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A8A2BB"/>
                </a:solidFill>
                <a:latin typeface="Calibri"/>
              </a:rPr>
              <a:t>Semurog' Tort Markazi  |  To'liq kod misollari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63040"/>
            <a:ext cx="10817352" cy="4846320"/>
          </a:xfrm>
          <a:prstGeom prst="roundRect">
            <a:avLst/>
          </a:prstGeom>
          <a:solidFill>
            <a:srgbClr val="100D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09344"/>
            <a:ext cx="10360152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54">
                <a:solidFill>
                  <a:srgbClr val="F26D9B"/>
                </a:solidFill>
                <a:latin typeface="Consolas"/>
              </a:rPr>
              <a:t>class Cake(models.Model):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54">
                <a:solidFill>
                  <a:srgbClr val="C9C2DA"/>
                </a:solidFill>
                <a:latin typeface="Consolas"/>
              </a:rPr>
              <a:t>    category    = models.ForeignKey(Category, on_delete=models.PROTECT,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54">
                <a:solidFill>
                  <a:srgbClr val="C9C2DA"/>
                </a:solidFill>
                <a:latin typeface="Consolas"/>
              </a:rPr>
              <a:t>                                    related_name='cakes', verbose_name="Kategoriya")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54">
                <a:solidFill>
                  <a:srgbClr val="C9C2DA"/>
                </a:solidFill>
                <a:latin typeface="Consolas"/>
              </a:rPr>
              <a:t>    name        = models.CharField("Nomi", max_length=150)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54">
                <a:solidFill>
                  <a:srgbClr val="C9C2DA"/>
                </a:solidFill>
                <a:latin typeface="Consolas"/>
              </a:rPr>
              <a:t>    slug        = models.SlugField("URL", max_length=160, unique=True, blank=True)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54">
                <a:solidFill>
                  <a:srgbClr val="C9C2DA"/>
                </a:solidFill>
                <a:latin typeface="Consolas"/>
              </a:rPr>
              <a:t>    description = models.TextField("Tavsifi")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54">
                <a:solidFill>
                  <a:srgbClr val="C9C2DA"/>
                </a:solidFill>
                <a:latin typeface="Consolas"/>
              </a:rPr>
              <a:t>    price       = models.DecimalField("Narxi", max_digits=10, decimal_places=2)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54">
                <a:solidFill>
                  <a:srgbClr val="C9C2DA"/>
                </a:solidFill>
                <a:latin typeface="Consolas"/>
              </a:rPr>
              <a:t>    old_price   = models.DecimalField("Eski narxi", max_digits=10,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54">
                <a:solidFill>
                  <a:srgbClr val="C9C2DA"/>
                </a:solidFill>
                <a:latin typeface="Consolas"/>
              </a:rPr>
              <a:t>                                      decimal_places=2, null=True, blank=True)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54">
                <a:solidFill>
                  <a:srgbClr val="C9C2DA"/>
                </a:solidFill>
                <a:latin typeface="Consolas"/>
              </a:rPr>
              <a:t>    weight_gram = models.PositiveIntegerField("Og'irligi (gramm)")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54">
                <a:solidFill>
                  <a:srgbClr val="C9C2DA"/>
                </a:solidFill>
                <a:latin typeface="Consolas"/>
              </a:rPr>
              <a:t>    main_image  = models.ImageField("Asosiy rasm", upload_to='cakes/')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54">
                <a:solidFill>
                  <a:srgbClr val="C9C2DA"/>
                </a:solidFill>
                <a:latin typeface="Consolas"/>
              </a:rPr>
              <a:t>    is_available = models.BooleanField("Mavjud", default=True)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54">
                <a:solidFill>
                  <a:srgbClr val="C9C2DA"/>
                </a:solidFill>
                <a:latin typeface="Consolas"/>
              </a:rPr>
              <a:t>    is_active   = models.BooleanField("Saytda ko'rinadi", default=True)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54">
                <a:solidFill>
                  <a:srgbClr val="C9C2DA"/>
                </a:solidFill>
                <a:latin typeface="Consolas"/>
              </a:rPr>
              <a:t>    is_preorder = models.BooleanField("Faqat oldindan buyurtma", default=False)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54">
                <a:solidFill>
                  <a:srgbClr val="C9C2DA"/>
                </a:solidFill>
                <a:latin typeface="Consolas"/>
              </a:rPr>
              <a:t>    min_order_days = models.PositiveSmallIntegerField("Kamida kun oldin", default=0)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54">
                <a:solidFill>
                  <a:srgbClr val="C9C2DA"/>
                </a:solidFill>
                <a:latin typeface="Consolas"/>
              </a:rPr>
              <a:t>    options  = models.ManyToManyField('Option', blank=True, verbose_name="Variantlar")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54">
                <a:solidFill>
                  <a:srgbClr val="C9C2DA"/>
                </a:solidFill>
                <a:latin typeface="Consolas"/>
              </a:rPr>
              <a:t>    allergens = models.ManyToManyField('Allergen', blank=True, verbose_name="Allergenlar")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54">
                <a:solidFill>
                  <a:srgbClr val="C9C2DA"/>
                </a:solidFill>
                <a:latin typeface="Consolas"/>
              </a:rPr>
              <a:t>    created_at = models.DateTimeField(auto_now_add=True)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54">
                <a:solidFill>
                  <a:srgbClr val="C9C2DA"/>
                </a:solidFill>
                <a:latin typeface="Consolas"/>
              </a:rPr>
              <a:t>    updated_at = models.DateTimeField(auto_now=True)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54">
                <a:solidFill>
                  <a:srgbClr val="C9C2DA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54">
                <a:solidFill>
                  <a:srgbClr val="F26D9B"/>
                </a:solidFill>
                <a:latin typeface="Consolas"/>
              </a:rPr>
              <a:t>    class Meta: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54">
                <a:solidFill>
                  <a:srgbClr val="C9C2DA"/>
                </a:solidFill>
                <a:latin typeface="Consolas"/>
              </a:rPr>
              <a:t>        ordering = ['-created_at']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54">
                <a:solidFill>
                  <a:srgbClr val="C9C2DA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54">
                <a:solidFill>
                  <a:srgbClr val="F26D9B"/>
                </a:solidFill>
                <a:latin typeface="Consolas"/>
              </a:rPr>
              <a:t>    def __str__(self):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54">
                <a:solidFill>
                  <a:srgbClr val="F26D9B"/>
                </a:solidFill>
                <a:latin typeface="Consolas"/>
              </a:rPr>
              <a:t>        return self.name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54">
                <a:solidFill>
                  <a:srgbClr val="C9C2DA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54">
                <a:solidFill>
                  <a:srgbClr val="F26D9B"/>
                </a:solidFill>
                <a:latin typeface="Consolas"/>
              </a:rPr>
              <a:t>    def save(self, *args, **kwargs):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54">
                <a:solidFill>
                  <a:srgbClr val="C9C2DA"/>
                </a:solidFill>
                <a:latin typeface="Consolas"/>
              </a:rPr>
              <a:t>        if not self.slug: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54">
                <a:solidFill>
                  <a:srgbClr val="C9C2DA"/>
                </a:solidFill>
                <a:latin typeface="Consolas"/>
              </a:rPr>
              <a:t>            self.slug = slugify(self.name)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54">
                <a:solidFill>
                  <a:srgbClr val="C9C2DA"/>
                </a:solidFill>
                <a:latin typeface="Consolas"/>
              </a:rPr>
              <a:t>        super().save(*args, **kwargs)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54">
                <a:solidFill>
                  <a:srgbClr val="C9C2DA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54">
                <a:solidFill>
                  <a:srgbClr val="F26D9B"/>
                </a:solidFill>
                <a:latin typeface="Consolas"/>
              </a:rPr>
              <a:t>    def get_absolute_url(self):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54">
                <a:solidFill>
                  <a:srgbClr val="F26D9B"/>
                </a:solidFill>
                <a:latin typeface="Consolas"/>
              </a:rPr>
              <a:t>        from django.urls import reverse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54">
                <a:solidFill>
                  <a:srgbClr val="F26D9B"/>
                </a:solidFill>
                <a:latin typeface="Consolas"/>
              </a:rPr>
              <a:t>        return reverse('cakes:detail', kwargs={'slug': self.slug})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54">
                <a:solidFill>
                  <a:srgbClr val="C9C2DA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54">
                <a:solidFill>
                  <a:srgbClr val="F26D9B"/>
                </a:solidFill>
                <a:latin typeface="Consolas"/>
              </a:rPr>
              <a:t>    @property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54">
                <a:solidFill>
                  <a:srgbClr val="F26D9B"/>
                </a:solidFill>
                <a:latin typeface="Consolas"/>
              </a:rPr>
              <a:t>    def has_discount(self):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54">
                <a:solidFill>
                  <a:srgbClr val="F26D9B"/>
                </a:solidFill>
                <a:latin typeface="Consolas"/>
              </a:rPr>
              <a:t>        return bool(self.old_price and self.old_price &gt; self.price)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1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>
                <a:solidFill>
                  <a:srgbClr val="F26D9B"/>
                </a:solidFill>
                <a:latin typeface="Calibri"/>
              </a:rPr>
              <a:t>APP 3 · MODEL 3-5/5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76656"/>
            <a:ext cx="10789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F4F1F7"/>
                </a:solidFill>
                <a:latin typeface="Calibri"/>
              </a:rPr>
              <a:t>cakes/models.py — CakeImage, Option, Allergen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35024"/>
            <a:ext cx="1371600" cy="54864"/>
          </a:xfrm>
          <a:prstGeom prst="roundRect">
            <a:avLst/>
          </a:prstGeom>
          <a:solidFill>
            <a:srgbClr val="F26D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64240" y="6355080"/>
            <a:ext cx="731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A8A2BB"/>
                </a:solidFill>
                <a:latin typeface="Calibri"/>
              </a:rPr>
              <a:t>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355080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A8A2BB"/>
                </a:solidFill>
                <a:latin typeface="Calibri"/>
              </a:rPr>
              <a:t>Semurog' Tort Markazi  |  To'liq kod misollari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63040"/>
            <a:ext cx="10817352" cy="4846320"/>
          </a:xfrm>
          <a:prstGeom prst="roundRect">
            <a:avLst/>
          </a:prstGeom>
          <a:solidFill>
            <a:srgbClr val="100D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09344"/>
            <a:ext cx="10360152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96">
                <a:solidFill>
                  <a:srgbClr val="F26D9B"/>
                </a:solidFill>
                <a:latin typeface="Consolas"/>
              </a:rPr>
              <a:t>class CakeImage(models.Model):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96">
                <a:solidFill>
                  <a:srgbClr val="A8A2BB"/>
                </a:solidFill>
                <a:latin typeface="Consolas"/>
              </a:rPr>
              <a:t>    # Bitta tortning qo'shimcha rasmlari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96">
                <a:solidFill>
                  <a:srgbClr val="C9C2DA"/>
                </a:solidFill>
                <a:latin typeface="Consolas"/>
              </a:rPr>
              <a:t>    cake  = models.ForeignKey(Cake, on_delete=models.CASCADE,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96">
                <a:solidFill>
                  <a:srgbClr val="C9C2DA"/>
                </a:solidFill>
                <a:latin typeface="Consolas"/>
              </a:rPr>
              <a:t>                              related_name='images')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96">
                <a:solidFill>
                  <a:srgbClr val="C9C2DA"/>
                </a:solidFill>
                <a:latin typeface="Consolas"/>
              </a:rPr>
              <a:t>    image = models.ImageField("Rasm", upload_to='cakes/gallery/')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96">
                <a:solidFill>
                  <a:srgbClr val="C9C2DA"/>
                </a:solidFill>
                <a:latin typeface="Consolas"/>
              </a:rPr>
              <a:t>    order = models.PositiveIntegerField("Tartib", default=0)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96">
                <a:solidFill>
                  <a:srgbClr val="C9C2DA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96">
                <a:solidFill>
                  <a:srgbClr val="F26D9B"/>
                </a:solidFill>
                <a:latin typeface="Consolas"/>
              </a:rPr>
              <a:t>    class Meta: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96">
                <a:solidFill>
                  <a:srgbClr val="C9C2DA"/>
                </a:solidFill>
                <a:latin typeface="Consolas"/>
              </a:rPr>
              <a:t>        ordering = ['order']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96">
                <a:solidFill>
                  <a:srgbClr val="C9C2DA"/>
                </a:solidFill>
                <a:latin typeface="Consolas"/>
              </a:rPr>
              <a:t>        verbose_name_plural = "Tort rasmlari"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96">
                <a:solidFill>
                  <a:srgbClr val="C9C2DA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96">
                <a:solidFill>
                  <a:srgbClr val="F26D9B"/>
                </a:solidFill>
                <a:latin typeface="Consolas"/>
              </a:rPr>
              <a:t>    def __str__(self):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96">
                <a:solidFill>
                  <a:srgbClr val="F26D9B"/>
                </a:solidFill>
                <a:latin typeface="Consolas"/>
              </a:rPr>
              <a:t>        return f"{self.cake.name} — rasm {self.pk}"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96">
                <a:solidFill>
                  <a:srgbClr val="C9C2DA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96">
                <a:solidFill>
                  <a:srgbClr val="C9C2DA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96">
                <a:solidFill>
                  <a:srgbClr val="F26D9B"/>
                </a:solidFill>
                <a:latin typeface="Consolas"/>
              </a:rPr>
              <a:t>class Option(models.Model):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96">
                <a:solidFill>
                  <a:srgbClr val="A8A2BB"/>
                </a:solidFill>
                <a:latin typeface="Consolas"/>
              </a:rPr>
              <a:t>    # O'lcham, ta'm, qatlam — narxga qo'shimcha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96">
                <a:solidFill>
                  <a:srgbClr val="C9C2DA"/>
                </a:solidFill>
                <a:latin typeface="Consolas"/>
              </a:rPr>
              <a:t>    name        = models.CharField("Nomi", max_length=100)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96">
                <a:solidFill>
                  <a:srgbClr val="C9C2DA"/>
                </a:solidFill>
                <a:latin typeface="Consolas"/>
              </a:rPr>
              <a:t>    group       = models.CharField("Guruh", max_length=50, default="O'lcham")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96">
                <a:solidFill>
                  <a:srgbClr val="C9C2DA"/>
                </a:solidFill>
                <a:latin typeface="Consolas"/>
              </a:rPr>
              <a:t>    price_delta = models.DecimalField("Qo'shimcha narx", max_digits=10,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96">
                <a:solidFill>
                  <a:srgbClr val="C9C2DA"/>
                </a:solidFill>
                <a:latin typeface="Consolas"/>
              </a:rPr>
              <a:t>                                      decimal_places=2, default=0)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96">
                <a:solidFill>
                  <a:srgbClr val="C9C2DA"/>
                </a:solidFill>
                <a:latin typeface="Consolas"/>
              </a:rPr>
              <a:t>    is_active   = models.BooleanField("Faol", default=True)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96">
                <a:solidFill>
                  <a:srgbClr val="C9C2DA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96">
                <a:solidFill>
                  <a:srgbClr val="F26D9B"/>
                </a:solidFill>
                <a:latin typeface="Consolas"/>
              </a:rPr>
              <a:t>    class Meta: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96">
                <a:solidFill>
                  <a:srgbClr val="C9C2DA"/>
                </a:solidFill>
                <a:latin typeface="Consolas"/>
              </a:rPr>
              <a:t>        ordering = ['group', 'name']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96">
                <a:solidFill>
                  <a:srgbClr val="C9C2DA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96">
                <a:solidFill>
                  <a:srgbClr val="F26D9B"/>
                </a:solidFill>
                <a:latin typeface="Consolas"/>
              </a:rPr>
              <a:t>    def __str__(self):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96">
                <a:solidFill>
                  <a:srgbClr val="F26D9B"/>
                </a:solidFill>
                <a:latin typeface="Consolas"/>
              </a:rPr>
              <a:t>        return f"{self.name} ({self.group})"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96">
                <a:solidFill>
                  <a:srgbClr val="C9C2DA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96">
                <a:solidFill>
                  <a:srgbClr val="C9C2DA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96">
                <a:solidFill>
                  <a:srgbClr val="F26D9B"/>
                </a:solidFill>
                <a:latin typeface="Consolas"/>
              </a:rPr>
              <a:t>class Allergen(models.Model):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96">
                <a:solidFill>
                  <a:srgbClr val="A8A2BB"/>
                </a:solidFill>
                <a:latin typeface="Consolas"/>
              </a:rPr>
              <a:t>    # Yong'oq, tuxum, sut — mijozni ogohlantirish uchun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96">
                <a:solidFill>
                  <a:srgbClr val="C9C2DA"/>
                </a:solidFill>
                <a:latin typeface="Consolas"/>
              </a:rPr>
              <a:t>    name = models.CharField("Nomi", max_length=50, unique=True)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96">
                <a:solidFill>
                  <a:srgbClr val="C9C2DA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96">
                <a:solidFill>
                  <a:srgbClr val="F26D9B"/>
                </a:solidFill>
                <a:latin typeface="Consolas"/>
              </a:rPr>
              <a:t>    def __str__(self):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96">
                <a:solidFill>
                  <a:srgbClr val="F26D9B"/>
                </a:solidFill>
                <a:latin typeface="Consolas"/>
              </a:rPr>
              <a:t>        return self.name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580644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100" b="1">
                <a:solidFill>
                  <a:srgbClr val="F4F1F7"/>
                </a:solidFill>
                <a:latin typeface="Calibri"/>
              </a:rPr>
              <a:t>▸  CakeImage — 1:N (related_name='images'); cake.images.all() orqali olinadi</a:t>
            </a:r>
          </a:p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100" b="1">
                <a:solidFill>
                  <a:srgbClr val="F4F1F7"/>
                </a:solidFill>
                <a:latin typeface="Calibri"/>
              </a:rPr>
              <a:t>▸  Option va Allergen — M2M: cake.options.set([...]) orqali biriktiriladi</a:t>
            </a:r>
          </a:p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100" b="1">
                <a:solidFill>
                  <a:srgbClr val="F4F1F7"/>
                </a:solidFill>
                <a:latin typeface="Calibri"/>
              </a:rPr>
              <a:t>▸  Cake ichidagi M2M maydonlar CakeImage dan keyin yozilgan bo'lishi shart emas — Django hal qiladi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1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>
                <a:solidFill>
                  <a:srgbClr val="F26D9B"/>
                </a:solidFill>
                <a:latin typeface="Calibri"/>
              </a:rPr>
              <a:t>APP 3 · ADMIN 1/2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76656"/>
            <a:ext cx="10789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F4F1F7"/>
                </a:solidFill>
                <a:latin typeface="Calibri"/>
              </a:rPr>
              <a:t>cakes/admin.py — Category va Cake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35024"/>
            <a:ext cx="1371600" cy="54864"/>
          </a:xfrm>
          <a:prstGeom prst="roundRect">
            <a:avLst/>
          </a:prstGeom>
          <a:solidFill>
            <a:srgbClr val="F26D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64240" y="6355080"/>
            <a:ext cx="731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A8A2BB"/>
                </a:solidFill>
                <a:latin typeface="Calibri"/>
              </a:rPr>
              <a:t>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355080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A8A2BB"/>
                </a:solidFill>
                <a:latin typeface="Calibri"/>
              </a:rPr>
              <a:t>Semurog' Tort Markazi  |  To'liq kod misollari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63040"/>
            <a:ext cx="10817352" cy="4846320"/>
          </a:xfrm>
          <a:prstGeom prst="roundRect">
            <a:avLst/>
          </a:prstGeom>
          <a:solidFill>
            <a:srgbClr val="100D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09344"/>
            <a:ext cx="10360152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17">
                <a:solidFill>
                  <a:srgbClr val="F26D9B"/>
                </a:solidFill>
                <a:latin typeface="Consolas"/>
              </a:rPr>
              <a:t>from django.contrib import admin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17">
                <a:solidFill>
                  <a:srgbClr val="F26D9B"/>
                </a:solidFill>
                <a:latin typeface="Consolas"/>
              </a:rPr>
              <a:t>from .models import Category, Cake, CakeImage, Option, Allergen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17">
                <a:solidFill>
                  <a:srgbClr val="C9C2DA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17">
                <a:solidFill>
                  <a:srgbClr val="C9C2DA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17">
                <a:solidFill>
                  <a:srgbClr val="F26D9B"/>
                </a:solidFill>
                <a:latin typeface="Consolas"/>
              </a:rPr>
              <a:t>class CakeImageInline(admin.TabularInline):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17">
                <a:solidFill>
                  <a:srgbClr val="A8A2BB"/>
                </a:solidFill>
                <a:latin typeface="Consolas"/>
              </a:rPr>
              <a:t>    # Tortni tahrirlash sahifasida rasmlar shu yerda chiqadi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17">
                <a:solidFill>
                  <a:srgbClr val="C9C2DA"/>
                </a:solidFill>
                <a:latin typeface="Consolas"/>
              </a:rPr>
              <a:t>    model = CakeImage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17">
                <a:solidFill>
                  <a:srgbClr val="C9C2DA"/>
                </a:solidFill>
                <a:latin typeface="Consolas"/>
              </a:rPr>
              <a:t>    extra = 1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17">
                <a:solidFill>
                  <a:srgbClr val="C9C2DA"/>
                </a:solidFill>
                <a:latin typeface="Consolas"/>
              </a:rPr>
              <a:t>    fields = ('image', 'order')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17">
                <a:solidFill>
                  <a:srgbClr val="C9C2DA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17">
                <a:solidFill>
                  <a:srgbClr val="C9C2DA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17">
                <a:solidFill>
                  <a:srgbClr val="F26D9B"/>
                </a:solidFill>
                <a:latin typeface="Consolas"/>
              </a:rPr>
              <a:t>@admin.register(Category)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17">
                <a:solidFill>
                  <a:srgbClr val="F26D9B"/>
                </a:solidFill>
                <a:latin typeface="Consolas"/>
              </a:rPr>
              <a:t>class CategoryAdmin(admin.ModelAdmin):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17">
                <a:solidFill>
                  <a:srgbClr val="C9C2DA"/>
                </a:solidFill>
                <a:latin typeface="Consolas"/>
              </a:rPr>
              <a:t>    list_display = ('name', 'cake_count', 'is_active', 'order')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17">
                <a:solidFill>
                  <a:srgbClr val="C9C2DA"/>
                </a:solidFill>
                <a:latin typeface="Consolas"/>
              </a:rPr>
              <a:t>    list_editable = ('is_active', 'order')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17">
                <a:solidFill>
                  <a:srgbClr val="C9C2DA"/>
                </a:solidFill>
                <a:latin typeface="Consolas"/>
              </a:rPr>
              <a:t>    prepopulated_fields = {'slug': ('name',)}   # slug nomdan avtomatik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17">
                <a:solidFill>
                  <a:srgbClr val="C9C2DA"/>
                </a:solidFill>
                <a:latin typeface="Consolas"/>
              </a:rPr>
              <a:t>    ordering = ('order',)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17">
                <a:solidFill>
                  <a:srgbClr val="C9C2DA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17">
                <a:solidFill>
                  <a:srgbClr val="F26D9B"/>
                </a:solidFill>
                <a:latin typeface="Consolas"/>
              </a:rPr>
              <a:t>    @admin.display(description="Tort soni")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17">
                <a:solidFill>
                  <a:srgbClr val="F26D9B"/>
                </a:solidFill>
                <a:latin typeface="Consolas"/>
              </a:rPr>
              <a:t>    def cake_count(self, obj):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17">
                <a:solidFill>
                  <a:srgbClr val="F26D9B"/>
                </a:solidFill>
                <a:latin typeface="Consolas"/>
              </a:rPr>
              <a:t>        return obj.cakes.count()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17">
                <a:solidFill>
                  <a:srgbClr val="C9C2DA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17">
                <a:solidFill>
                  <a:srgbClr val="C9C2DA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17">
                <a:solidFill>
                  <a:srgbClr val="F26D9B"/>
                </a:solidFill>
                <a:latin typeface="Consolas"/>
              </a:rPr>
              <a:t>@admin.register(Cake)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17">
                <a:solidFill>
                  <a:srgbClr val="F26D9B"/>
                </a:solidFill>
                <a:latin typeface="Consolas"/>
              </a:rPr>
              <a:t>class CakeAdmin(admin.ModelAdmin):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17">
                <a:solidFill>
                  <a:srgbClr val="C9C2DA"/>
                </a:solidFill>
                <a:latin typeface="Consolas"/>
              </a:rPr>
              <a:t>    list_display = ('name', 'category', 'price', 'is_available', 'is_active')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17">
                <a:solidFill>
                  <a:srgbClr val="C9C2DA"/>
                </a:solidFill>
                <a:latin typeface="Consolas"/>
              </a:rPr>
              <a:t>    list_filter = ('category', 'is_active', 'is_available', 'is_preorder')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17">
                <a:solidFill>
                  <a:srgbClr val="C9C2DA"/>
                </a:solidFill>
                <a:latin typeface="Consolas"/>
              </a:rPr>
              <a:t>    list_editable = ('price', 'is_available', 'is_active')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17">
                <a:solidFill>
                  <a:srgbClr val="C9C2DA"/>
                </a:solidFill>
                <a:latin typeface="Consolas"/>
              </a:rPr>
              <a:t>    search_fields = ('name', 'description')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17">
                <a:solidFill>
                  <a:srgbClr val="C9C2DA"/>
                </a:solidFill>
                <a:latin typeface="Consolas"/>
              </a:rPr>
              <a:t>    prepopulated_fields = {'slug': ('name',)}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17">
                <a:solidFill>
                  <a:srgbClr val="C9C2DA"/>
                </a:solidFill>
                <a:latin typeface="Consolas"/>
              </a:rPr>
              <a:t>    list_select_related = ('category',)       # so'rovlar kamayadi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17">
                <a:solidFill>
                  <a:srgbClr val="C9C2DA"/>
                </a:solidFill>
                <a:latin typeface="Consolas"/>
              </a:rPr>
              <a:t>    inlines = [CakeImageInline]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17">
                <a:solidFill>
                  <a:srgbClr val="C9C2DA"/>
                </a:solidFill>
                <a:latin typeface="Consolas"/>
              </a:rPr>
              <a:t>    fieldsets = (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17">
                <a:solidFill>
                  <a:srgbClr val="C9C2DA"/>
                </a:solidFill>
                <a:latin typeface="Consolas"/>
              </a:rPr>
              <a:t>        ('Asosiy',     {'fields': ('category', 'name', 'slug', 'description')}),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17">
                <a:solidFill>
                  <a:srgbClr val="C9C2DA"/>
                </a:solidFill>
                <a:latin typeface="Consolas"/>
              </a:rPr>
              <a:t>        ('Narx',       {'fields': ('price', 'old_price', 'weight_gram')}),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17">
                <a:solidFill>
                  <a:srgbClr val="C9C2DA"/>
                </a:solidFill>
                <a:latin typeface="Consolas"/>
              </a:rPr>
              <a:t>        ('Rasm',       {'fields': ('main_image',)}),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17">
                <a:solidFill>
                  <a:srgbClr val="C9C2DA"/>
                </a:solidFill>
                <a:latin typeface="Consolas"/>
              </a:rPr>
              <a:t>        ('Variantlar', {'fields': ('options', 'allergens')}),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17">
                <a:solidFill>
                  <a:srgbClr val="C9C2DA"/>
                </a:solidFill>
                <a:latin typeface="Consolas"/>
              </a:rPr>
              <a:t>        ('Holat',      {'fields': ('is_available', 'is_active',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17">
                <a:solidFill>
                  <a:srgbClr val="C9C2DA"/>
                </a:solidFill>
                <a:latin typeface="Consolas"/>
              </a:rPr>
              <a:t>                                   'is_preorder', 'min_order_days')}),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17">
                <a:solidFill>
                  <a:srgbClr val="C9C2DA"/>
                </a:solidFill>
                <a:latin typeface="Consolas"/>
              </a:rPr>
              <a:t>    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1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>
                <a:solidFill>
                  <a:srgbClr val="F26D9B"/>
                </a:solidFill>
                <a:latin typeface="Calibri"/>
              </a:rPr>
              <a:t>APP 3 · ADMIN 2/2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76656"/>
            <a:ext cx="10789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F4F1F7"/>
                </a:solidFill>
                <a:latin typeface="Calibri"/>
              </a:rPr>
              <a:t>cakes/admin.py — variantlar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35024"/>
            <a:ext cx="1371600" cy="54864"/>
          </a:xfrm>
          <a:prstGeom prst="roundRect">
            <a:avLst/>
          </a:prstGeom>
          <a:solidFill>
            <a:srgbClr val="F26D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64240" y="6355080"/>
            <a:ext cx="731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A8A2BB"/>
                </a:solidFill>
                <a:latin typeface="Calibri"/>
              </a:rPr>
              <a:t>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355080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A8A2BB"/>
                </a:solidFill>
                <a:latin typeface="Calibri"/>
              </a:rPr>
              <a:t>Semurog' Tort Markazi  |  To'liq kod misollari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63040"/>
            <a:ext cx="10817352" cy="4846320"/>
          </a:xfrm>
          <a:prstGeom prst="roundRect">
            <a:avLst/>
          </a:prstGeom>
          <a:solidFill>
            <a:srgbClr val="100D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09344"/>
            <a:ext cx="10360152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69">
                <a:solidFill>
                  <a:srgbClr val="A8A2BB"/>
                </a:solidFill>
                <a:latin typeface="Consolas"/>
              </a:rPr>
              <a:t># cakes/admin.py (davomi)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69">
                <a:solidFill>
                  <a:srgbClr val="C9C2DA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69">
                <a:solidFill>
                  <a:srgbClr val="C9C2DA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69">
                <a:solidFill>
                  <a:srgbClr val="F26D9B"/>
                </a:solidFill>
                <a:latin typeface="Consolas"/>
              </a:rPr>
              <a:t>@admin.register(Option)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69">
                <a:solidFill>
                  <a:srgbClr val="F26D9B"/>
                </a:solidFill>
                <a:latin typeface="Consolas"/>
              </a:rPr>
              <a:t>class OptionAdmin(admin.ModelAdmin):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69">
                <a:solidFill>
                  <a:srgbClr val="C9C2DA"/>
                </a:solidFill>
                <a:latin typeface="Consolas"/>
              </a:rPr>
              <a:t>    list_display = ('name', 'group', 'price_delta', 'is_active')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69">
                <a:solidFill>
                  <a:srgbClr val="C9C2DA"/>
                </a:solidFill>
                <a:latin typeface="Consolas"/>
              </a:rPr>
              <a:t>    list_filter = ('group', 'is_active')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69">
                <a:solidFill>
                  <a:srgbClr val="C9C2DA"/>
                </a:solidFill>
                <a:latin typeface="Consolas"/>
              </a:rPr>
              <a:t>    list_editable = ('price_delta', 'is_active')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69">
                <a:solidFill>
                  <a:srgbClr val="C9C2DA"/>
                </a:solidFill>
                <a:latin typeface="Consolas"/>
              </a:rPr>
              <a:t>    search_fields = ('name',)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69">
                <a:solidFill>
                  <a:srgbClr val="C9C2DA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69">
                <a:solidFill>
                  <a:srgbClr val="C9C2DA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69">
                <a:solidFill>
                  <a:srgbClr val="F26D9B"/>
                </a:solidFill>
                <a:latin typeface="Consolas"/>
              </a:rPr>
              <a:t>@admin.register(Allergen)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69">
                <a:solidFill>
                  <a:srgbClr val="F26D9B"/>
                </a:solidFill>
                <a:latin typeface="Consolas"/>
              </a:rPr>
              <a:t>class AllergenAdmin(admin.ModelAdmin):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69">
                <a:solidFill>
                  <a:srgbClr val="C9C2DA"/>
                </a:solidFill>
                <a:latin typeface="Consolas"/>
              </a:rPr>
              <a:t>    list_display = ('name',)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69">
                <a:solidFill>
                  <a:srgbClr val="C9C2DA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69">
                <a:solidFill>
                  <a:srgbClr val="C9C2DA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69">
                <a:solidFill>
                  <a:srgbClr val="F26D9B"/>
                </a:solidFill>
                <a:latin typeface="Consolas"/>
              </a:rPr>
              <a:t>@admin.register(CakeImage)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69">
                <a:solidFill>
                  <a:srgbClr val="F26D9B"/>
                </a:solidFill>
                <a:latin typeface="Consolas"/>
              </a:rPr>
              <a:t>class CakeImageAdmin(admin.ModelAdmin):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69">
                <a:solidFill>
                  <a:srgbClr val="C9C2DA"/>
                </a:solidFill>
                <a:latin typeface="Consolas"/>
              </a:rPr>
              <a:t>    list_display = ('cake', 'image', 'order')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69">
                <a:solidFill>
                  <a:srgbClr val="C9C2DA"/>
                </a:solidFill>
                <a:latin typeface="Consolas"/>
              </a:rPr>
              <a:t>    list_select_related = ('cake',)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69">
                <a:solidFill>
                  <a:srgbClr val="C9C2DA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69">
                <a:solidFill>
                  <a:srgbClr val="C9C2DA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69">
                <a:solidFill>
                  <a:srgbClr val="A8A2BB"/>
                </a:solidFill>
                <a:latin typeface="Consolas"/>
              </a:rPr>
              <a:t># --- ModelAdmin parametrlari ---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69">
                <a:solidFill>
                  <a:srgbClr val="A8A2BB"/>
                </a:solidFill>
                <a:latin typeface="Consolas"/>
              </a:rPr>
              <a:t># list_display       — qaysi ustunlar ko'rinadi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69">
                <a:solidFill>
                  <a:srgbClr val="A8A2BB"/>
                </a:solidFill>
                <a:latin typeface="Consolas"/>
              </a:rPr>
              <a:t># list_editable      — ustundan tahrirlanadi (list_display'ga ham bo'lishi shart)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69">
                <a:solidFill>
                  <a:srgbClr val="A8A2BB"/>
                </a:solidFill>
                <a:latin typeface="Consolas"/>
              </a:rPr>
              <a:t># list_display_links  — qaysi ustun bosiladigan bo'ladi (birinchi bo'lmasligi kerak)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69">
                <a:solidFill>
                  <a:srgbClr val="A8A2BB"/>
                </a:solidFill>
                <a:latin typeface="Consolas"/>
              </a:rPr>
              <a:t># list_filter        — yon panelda filtr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69">
                <a:solidFill>
                  <a:srgbClr val="A8A2BB"/>
                </a:solidFill>
                <a:latin typeface="Consolas"/>
              </a:rPr>
              <a:t># search_fields      — qidiruv maydonlari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69">
                <a:solidFill>
                  <a:srgbClr val="A8A2BB"/>
                </a:solidFill>
                <a:latin typeface="Consolas"/>
              </a:rPr>
              <a:t># prepopulated_fields— slug kabi maydonlarni avtomatik to'ldirish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69">
                <a:solidFill>
                  <a:srgbClr val="A8A2BB"/>
                </a:solidFill>
                <a:latin typeface="Consolas"/>
              </a:rPr>
              <a:t># list_select_related— JOIN kamaytirish (tezlik)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69">
                <a:solidFill>
                  <a:srgbClr val="A8A2BB"/>
                </a:solidFill>
                <a:latin typeface="Consolas"/>
              </a:rPr>
              <a:t># inlines            — bog'liq obyektlarni shu sahifada ko'rsatish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69">
                <a:solidFill>
                  <a:srgbClr val="A8A2BB"/>
                </a:solidFill>
                <a:latin typeface="Consolas"/>
              </a:rPr>
              <a:t># fieldsets          — maydonlarni guruhlarga bo'lish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69">
                <a:solidFill>
                  <a:srgbClr val="A8A2BB"/>
                </a:solidFill>
                <a:latin typeface="Consolas"/>
              </a:rPr>
              <a:t># readonly_fields    — ko'rib bo'lmaydi, o'zgartirib bo'lmaydi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1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>
                <a:solidFill>
                  <a:srgbClr val="F26D9B"/>
                </a:solidFill>
                <a:latin typeface="Calibri"/>
              </a:rPr>
              <a:t>APP 3 · VIEW 1/2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76656"/>
            <a:ext cx="10789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F4F1F7"/>
                </a:solidFill>
                <a:latin typeface="Calibri"/>
              </a:rPr>
              <a:t>cakes/views.py — filtrlar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35024"/>
            <a:ext cx="1371600" cy="54864"/>
          </a:xfrm>
          <a:prstGeom prst="roundRect">
            <a:avLst/>
          </a:prstGeom>
          <a:solidFill>
            <a:srgbClr val="F26D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64240" y="6355080"/>
            <a:ext cx="731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A8A2BB"/>
                </a:solidFill>
                <a:latin typeface="Calibri"/>
              </a:rPr>
              <a:t>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355080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A8A2BB"/>
                </a:solidFill>
                <a:latin typeface="Calibri"/>
              </a:rPr>
              <a:t>Semurog' Tort Markazi  |  To'liq kod misollari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63040"/>
            <a:ext cx="10817352" cy="4846320"/>
          </a:xfrm>
          <a:prstGeom prst="roundRect">
            <a:avLst/>
          </a:prstGeom>
          <a:solidFill>
            <a:srgbClr val="100D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09344"/>
            <a:ext cx="10360152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19">
                <a:solidFill>
                  <a:srgbClr val="F26D9B"/>
                </a:solidFill>
                <a:latin typeface="Consolas"/>
              </a:rPr>
              <a:t>from django.shortcuts import render, get_object_or_404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19">
                <a:solidFill>
                  <a:srgbClr val="F26D9B"/>
                </a:solidFill>
                <a:latin typeface="Consolas"/>
              </a:rPr>
              <a:t>from django.core.paginator import Paginator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19">
                <a:solidFill>
                  <a:srgbClr val="F26D9B"/>
                </a:solidFill>
                <a:latin typeface="Consolas"/>
              </a:rPr>
              <a:t>from .models import Category, Cake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19">
                <a:solidFill>
                  <a:srgbClr val="C9C2DA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19">
                <a:solidFill>
                  <a:srgbClr val="C9C2DA"/>
                </a:solidFill>
                <a:latin typeface="Consolas"/>
              </a:rPr>
              <a:t>SORT_MAP = {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19">
                <a:solidFill>
                  <a:srgbClr val="C9C2DA"/>
                </a:solidFill>
                <a:latin typeface="Consolas"/>
              </a:rPr>
              <a:t>    'price_asc':  ('price',),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19">
                <a:solidFill>
                  <a:srgbClr val="C9C2DA"/>
                </a:solidFill>
                <a:latin typeface="Consolas"/>
              </a:rPr>
              <a:t>    'price_desc': ('-price',),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19">
                <a:solidFill>
                  <a:srgbClr val="C9C2DA"/>
                </a:solidFill>
                <a:latin typeface="Consolas"/>
              </a:rPr>
              <a:t>    'new':        ('-created_at',),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19">
                <a:solidFill>
                  <a:srgbClr val="C9C2DA"/>
                </a:solidFill>
                <a:latin typeface="Consolas"/>
              </a:rPr>
              <a:t>}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19">
                <a:solidFill>
                  <a:srgbClr val="C9C2DA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19">
                <a:solidFill>
                  <a:srgbClr val="C9C2DA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19">
                <a:solidFill>
                  <a:srgbClr val="F26D9B"/>
                </a:solidFill>
                <a:latin typeface="Consolas"/>
              </a:rPr>
              <a:t>def cake_list(request):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19">
                <a:solidFill>
                  <a:srgbClr val="C9C2DA"/>
                </a:solidFill>
                <a:latin typeface="Consolas"/>
              </a:rPr>
              <a:t>    cakes = Cake.objects.filter(is_active=True)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19">
                <a:solidFill>
                  <a:srgbClr val="C9C2DA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19">
                <a:solidFill>
                  <a:srgbClr val="A8A2BB"/>
                </a:solidFill>
                <a:latin typeface="Consolas"/>
              </a:rPr>
              <a:t>    # 1. Kategoriya bo'yicha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19">
                <a:solidFill>
                  <a:srgbClr val="C9C2DA"/>
                </a:solidFill>
                <a:latin typeface="Consolas"/>
              </a:rPr>
              <a:t>    category = request.GET.get('category')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19">
                <a:solidFill>
                  <a:srgbClr val="C9C2DA"/>
                </a:solidFill>
                <a:latin typeface="Consolas"/>
              </a:rPr>
              <a:t>    if category: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19">
                <a:solidFill>
                  <a:srgbClr val="C9C2DA"/>
                </a:solidFill>
                <a:latin typeface="Consolas"/>
              </a:rPr>
              <a:t>        cakes = cakes.filter(category__slug=category)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19">
                <a:solidFill>
                  <a:srgbClr val="C9C2DA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19">
                <a:solidFill>
                  <a:srgbClr val="A8A2BB"/>
                </a:solidFill>
                <a:latin typeface="Consolas"/>
              </a:rPr>
              <a:t>    # 2. Narx oralig'i bo'yicha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19">
                <a:solidFill>
                  <a:srgbClr val="C9C2DA"/>
                </a:solidFill>
                <a:latin typeface="Consolas"/>
              </a:rPr>
              <a:t>    price_min = request.GET.get('price_min')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19">
                <a:solidFill>
                  <a:srgbClr val="C9C2DA"/>
                </a:solidFill>
                <a:latin typeface="Consolas"/>
              </a:rPr>
              <a:t>    price_max = request.GET.get('price_max')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19">
                <a:solidFill>
                  <a:srgbClr val="C9C2DA"/>
                </a:solidFill>
                <a:latin typeface="Consolas"/>
              </a:rPr>
              <a:t>    if price_min: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19">
                <a:solidFill>
                  <a:srgbClr val="C9C2DA"/>
                </a:solidFill>
                <a:latin typeface="Consolas"/>
              </a:rPr>
              <a:t>        cakes = cakes.filter(price__gte=price_min)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19">
                <a:solidFill>
                  <a:srgbClr val="C9C2DA"/>
                </a:solidFill>
                <a:latin typeface="Consolas"/>
              </a:rPr>
              <a:t>    if price_max: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19">
                <a:solidFill>
                  <a:srgbClr val="C9C2DA"/>
                </a:solidFill>
                <a:latin typeface="Consolas"/>
              </a:rPr>
              <a:t>        cakes = cakes.filter(price__lte=price_max)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19">
                <a:solidFill>
                  <a:srgbClr val="C9C2DA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19">
                <a:solidFill>
                  <a:srgbClr val="A8A2BB"/>
                </a:solidFill>
                <a:latin typeface="Consolas"/>
              </a:rPr>
              <a:t>    # 3. Qidiruv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19">
                <a:solidFill>
                  <a:srgbClr val="C9C2DA"/>
                </a:solidFill>
                <a:latin typeface="Consolas"/>
              </a:rPr>
              <a:t>    search = request.GET.get('search')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19">
                <a:solidFill>
                  <a:srgbClr val="C9C2DA"/>
                </a:solidFill>
                <a:latin typeface="Consolas"/>
              </a:rPr>
              <a:t>    if search: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19">
                <a:solidFill>
                  <a:srgbClr val="C9C2DA"/>
                </a:solidFill>
                <a:latin typeface="Consolas"/>
              </a:rPr>
              <a:t>        cakes = cakes.filter(name__icontains=search)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19">
                <a:solidFill>
                  <a:srgbClr val="C9C2DA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19">
                <a:solidFill>
                  <a:srgbClr val="A8A2BB"/>
                </a:solidFill>
                <a:latin typeface="Consolas"/>
              </a:rPr>
              <a:t>    # 4. Faqat mavjudlari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19">
                <a:solidFill>
                  <a:srgbClr val="C9C2DA"/>
                </a:solidFill>
                <a:latin typeface="Consolas"/>
              </a:rPr>
              <a:t>    if request.GET.get('available'):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19">
                <a:solidFill>
                  <a:srgbClr val="C9C2DA"/>
                </a:solidFill>
                <a:latin typeface="Consolas"/>
              </a:rPr>
              <a:t>        cakes = cakes.filter(is_available=True)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1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>
                <a:solidFill>
                  <a:srgbClr val="F26D9B"/>
                </a:solidFill>
                <a:latin typeface="Calibri"/>
              </a:rPr>
              <a:t>APP 3 · VIEW 2/2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76656"/>
            <a:ext cx="10789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F4F1F7"/>
                </a:solidFill>
                <a:latin typeface="Calibri"/>
              </a:rPr>
              <a:t>cakes/views.py — saralash va sahifalash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35024"/>
            <a:ext cx="1371600" cy="54864"/>
          </a:xfrm>
          <a:prstGeom prst="roundRect">
            <a:avLst/>
          </a:prstGeom>
          <a:solidFill>
            <a:srgbClr val="F26D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64240" y="6355080"/>
            <a:ext cx="731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A8A2BB"/>
                </a:solidFill>
                <a:latin typeface="Calibri"/>
              </a:rPr>
              <a:t>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355080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A8A2BB"/>
                </a:solidFill>
                <a:latin typeface="Calibri"/>
              </a:rPr>
              <a:t>Semurog' Tort Markazi  |  To'liq kod misollari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63040"/>
            <a:ext cx="10817352" cy="4846320"/>
          </a:xfrm>
          <a:prstGeom prst="roundRect">
            <a:avLst/>
          </a:prstGeom>
          <a:solidFill>
            <a:srgbClr val="100D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09344"/>
            <a:ext cx="10360152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A8A2BB"/>
                </a:solidFill>
                <a:latin typeface="Consolas"/>
              </a:rPr>
              <a:t>    # cake_list() funksiyasi shu yerda davom etadi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A8A2BB"/>
                </a:solidFill>
                <a:latin typeface="Consolas"/>
              </a:rPr>
              <a:t>    # 5. Saralash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C9C2DA"/>
                </a:solidFill>
                <a:latin typeface="Consolas"/>
              </a:rPr>
              <a:t>    sort = request.GET.get('sort', 'new')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C9C2DA"/>
                </a:solidFill>
                <a:latin typeface="Consolas"/>
              </a:rPr>
              <a:t>    cakes = cakes.order_by(*SORT_MAP.get(sort, SORT_MAP['new']))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C9C2DA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A8A2BB"/>
                </a:solidFill>
                <a:latin typeface="Consolas"/>
              </a:rPr>
              <a:t>    # 6. Sahifalash — har sahifada 12 ta tort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C9C2DA"/>
                </a:solidFill>
                <a:latin typeface="Consolas"/>
              </a:rPr>
              <a:t>    page = Paginator(cakes, 12).get_page(request.GET.get('page'))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C9C2DA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F26D9B"/>
                </a:solidFill>
                <a:latin typeface="Consolas"/>
              </a:rPr>
              <a:t>    return render(request, 'cakes/cake_list.html', {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C9C2DA"/>
                </a:solidFill>
                <a:latin typeface="Consolas"/>
              </a:rPr>
              <a:t>        'page_obj': page,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C9C2DA"/>
                </a:solidFill>
                <a:latin typeface="Consolas"/>
              </a:rPr>
              <a:t>        'cakes': page.object_list,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C9C2DA"/>
                </a:solidFill>
                <a:latin typeface="Consolas"/>
              </a:rPr>
              <a:t>        'categories': Category.objects.filter(is_active=True),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C9C2DA"/>
                </a:solidFill>
                <a:latin typeface="Consolas"/>
              </a:rPr>
              <a:t>        'selected': request.GET,      # forma qiymatlarini saqlab qolish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C9C2DA"/>
                </a:solidFill>
                <a:latin typeface="Consolas"/>
              </a:rPr>
              <a:t>    })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C9C2DA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C9C2DA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A8A2BB"/>
                </a:solidFill>
                <a:latin typeface="Consolas"/>
              </a:rPr>
              <a:t># --- Eslatma ---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A8A2BB"/>
                </a:solidFill>
                <a:latin typeface="Consolas"/>
              </a:rPr>
              <a:t># request.GET.get('search')  — URL dan ?search=chocolate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A8A2BB"/>
                </a:solidFill>
                <a:latin typeface="Consolas"/>
              </a:rPr>
              <a:t># __icontains               — kichik/katta harf farq qilmaydi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A8A2BB"/>
                </a:solidFill>
                <a:latin typeface="Consolas"/>
              </a:rPr>
              <a:t># order_by('-created_at')    — teskari tartib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A8A2BB"/>
                </a:solidFill>
                <a:latin typeface="Consolas"/>
              </a:rPr>
              <a:t># get_page()                 — bo'sh sahifa xatosini ham ushlaydi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A8A2BB"/>
                </a:solidFill>
                <a:latin typeface="Consolas"/>
              </a:rPr>
              <a:t># 'selected': request.GET    — filtr formasida tanlangan qiymat qaytadi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1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>
                <a:solidFill>
                  <a:srgbClr val="F26D9B"/>
                </a:solidFill>
                <a:latin typeface="Calibri"/>
              </a:rPr>
              <a:t>APP 3 · VIEW (2/2)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76656"/>
            <a:ext cx="10789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F4F1F7"/>
                </a:solidFill>
                <a:latin typeface="Calibri"/>
              </a:rPr>
              <a:t>cakes/views.py — bitta tort sahifasi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35024"/>
            <a:ext cx="1371600" cy="54864"/>
          </a:xfrm>
          <a:prstGeom prst="roundRect">
            <a:avLst/>
          </a:prstGeom>
          <a:solidFill>
            <a:srgbClr val="F26D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64240" y="6355080"/>
            <a:ext cx="731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A8A2BB"/>
                </a:solidFill>
                <a:latin typeface="Calibri"/>
              </a:rPr>
              <a:t>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355080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A8A2BB"/>
                </a:solidFill>
                <a:latin typeface="Calibri"/>
              </a:rPr>
              <a:t>Semurog' Tort Markazi  |  To'liq kod misollari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554480"/>
            <a:ext cx="10817352" cy="3200400"/>
          </a:xfrm>
          <a:prstGeom prst="roundRect">
            <a:avLst/>
          </a:prstGeom>
          <a:solidFill>
            <a:srgbClr val="100D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00784"/>
            <a:ext cx="10360152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85">
                <a:solidFill>
                  <a:srgbClr val="A8A2BB"/>
                </a:solidFill>
                <a:latin typeface="Consolas"/>
              </a:rPr>
              <a:t># imports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85">
                <a:solidFill>
                  <a:srgbClr val="F26D9B"/>
                </a:solidFill>
                <a:latin typeface="Consolas"/>
              </a:rPr>
              <a:t>from datetime import timedelta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85">
                <a:solidFill>
                  <a:srgbClr val="F26D9B"/>
                </a:solidFill>
                <a:latin typeface="Consolas"/>
              </a:rPr>
              <a:t>from django.db.models import Avg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85">
                <a:solidFill>
                  <a:srgbClr val="F26D9B"/>
                </a:solidFill>
                <a:latin typeface="Consolas"/>
              </a:rPr>
              <a:t>from django.utils import timezone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85">
                <a:solidFill>
                  <a:srgbClr val="C9C2DA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85">
                <a:solidFill>
                  <a:srgbClr val="C9C2DA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85">
                <a:solidFill>
                  <a:srgbClr val="F26D9B"/>
                </a:solidFill>
                <a:latin typeface="Consolas"/>
              </a:rPr>
              <a:t>def cake_detail(request, slug):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85">
                <a:solidFill>
                  <a:srgbClr val="A8A2BB"/>
                </a:solidFill>
                <a:latin typeface="Consolas"/>
              </a:rPr>
              <a:t>    # get_object_or_404 — yo'q bo'lsa chiroyli 404 sahifasi chiqadi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85">
                <a:solidFill>
                  <a:srgbClr val="C9C2DA"/>
                </a:solidFill>
                <a:latin typeface="Consolas"/>
              </a:rPr>
              <a:t>    cake = get_object_or_404(Cake, slug=slug, is_active=True)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85">
                <a:solidFill>
                  <a:srgbClr val="C9C2DA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85">
                <a:solidFill>
                  <a:srgbClr val="C9C2DA"/>
                </a:solidFill>
                <a:latin typeface="Consolas"/>
              </a:rPr>
              <a:t>    min_date = timezone.localdate() + timedelta(days=cake.min_order_days)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85">
                <a:solidFill>
                  <a:srgbClr val="C9C2DA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85">
                <a:solidFill>
                  <a:srgbClr val="F26D9B"/>
                </a:solidFill>
                <a:latin typeface="Consolas"/>
              </a:rPr>
              <a:t>    return render(request, 'cakes/cake_detail.html', {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85">
                <a:solidFill>
                  <a:srgbClr val="C9C2DA"/>
                </a:solidFill>
                <a:latin typeface="Consolas"/>
              </a:rPr>
              <a:t>        'cake': cake,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85">
                <a:solidFill>
                  <a:srgbClr val="C9C2DA"/>
                </a:solidFill>
                <a:latin typeface="Consolas"/>
              </a:rPr>
              <a:t>        'images': cake.images.all(),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85">
                <a:solidFill>
                  <a:srgbClr val="C9C2DA"/>
                </a:solidFill>
                <a:latin typeface="Consolas"/>
              </a:rPr>
              <a:t>        'related': cake.category.cakes.exclude(pk=cake.pk)[:4],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85">
                <a:solidFill>
                  <a:srgbClr val="C9C2DA"/>
                </a:solidFill>
                <a:latin typeface="Consolas"/>
              </a:rPr>
              <a:t>        'options': cake.options.filter(is_active=True),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85">
                <a:solidFill>
                  <a:srgbClr val="C9C2DA"/>
                </a:solidFill>
                <a:latin typeface="Consolas"/>
              </a:rPr>
              <a:t>        'allergens': cake.allergens.all(),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85">
                <a:solidFill>
                  <a:srgbClr val="C9C2DA"/>
                </a:solidFill>
                <a:latin typeface="Consolas"/>
              </a:rPr>
              <a:t>        'reviews': cake.reviews.filter(is_published=True),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85">
                <a:solidFill>
                  <a:srgbClr val="C9C2DA"/>
                </a:solidFill>
                <a:latin typeface="Consolas"/>
              </a:rPr>
              <a:t>        'min_date': min_date,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85">
                <a:solidFill>
                  <a:srgbClr val="C9C2DA"/>
                </a:solidFill>
                <a:latin typeface="Consolas"/>
              </a:rPr>
              <a:t>        'avg_rating': cake.reviews.filter(is_published=True)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85">
                <a:solidFill>
                  <a:srgbClr val="C9C2DA"/>
                </a:solidFill>
                <a:latin typeface="Consolas"/>
              </a:rPr>
              <a:t>                            .aggregate(Avg('rating'))['rating__avg'] or 0,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85">
                <a:solidFill>
                  <a:srgbClr val="C9C2DA"/>
                </a:solidFill>
                <a:latin typeface="Consolas"/>
              </a:rPr>
              <a:t>    })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4892040"/>
            <a:ext cx="5294376" cy="1417320"/>
          </a:xfrm>
          <a:prstGeom prst="roundRect">
            <a:avLst/>
          </a:prstGeom>
          <a:solidFill>
            <a:srgbClr val="1F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85800" y="4892040"/>
            <a:ext cx="5294376" cy="45720"/>
          </a:xfrm>
          <a:prstGeom prst="roundRect">
            <a:avLst/>
          </a:prstGeom>
          <a:solidFill>
            <a:srgbClr val="F26D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5093208"/>
            <a:ext cx="483717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F26D9B"/>
                </a:solidFill>
                <a:latin typeface="Calibri"/>
              </a:rPr>
              <a:t>cakes/urls.py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605272"/>
            <a:ext cx="4837176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100" b="1">
                <a:solidFill>
                  <a:srgbClr val="F4F1F7"/>
                </a:solidFill>
                <a:latin typeface="Calibri"/>
              </a:rPr>
              <a:t>▸  app_name = 'cakes'</a:t>
            </a:r>
          </a:p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100" b="1">
                <a:solidFill>
                  <a:srgbClr val="F4F1F7"/>
                </a:solidFill>
                <a:latin typeface="Calibri"/>
              </a:rPr>
              <a:t>▸  path('', views.cake_list, name='list')</a:t>
            </a:r>
          </a:p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100" b="1">
                <a:solidFill>
                  <a:srgbClr val="F4F1F7"/>
                </a:solidFill>
                <a:latin typeface="Calibri"/>
              </a:rPr>
              <a:t>▸  path('&lt;slug:slug&gt;/', views.cake_detail, name='detail')</a:t>
            </a:r>
          </a:p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100" b="1">
                <a:solidFill>
                  <a:srgbClr val="F4F1F7"/>
                </a:solidFill>
                <a:latin typeface="Calibri"/>
              </a:rPr>
              <a:t>▸  config/urls.py da: path('cakes/', include(...))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08776" y="4892040"/>
            <a:ext cx="5294376" cy="1417320"/>
          </a:xfrm>
          <a:prstGeom prst="roundRect">
            <a:avLst/>
          </a:prstGeom>
          <a:solidFill>
            <a:srgbClr val="1F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08776" y="4892040"/>
            <a:ext cx="5294376" cy="45720"/>
          </a:xfrm>
          <a:prstGeom prst="roundRect">
            <a:avLst/>
          </a:prstGeom>
          <a:solidFill>
            <a:srgbClr val="6CC7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37376" y="5093208"/>
            <a:ext cx="483717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6CC7B8"/>
                </a:solidFill>
                <a:latin typeface="Calibri"/>
              </a:rPr>
              <a:t>Natija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37376" y="5605272"/>
            <a:ext cx="4837176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100" b="1">
                <a:solidFill>
                  <a:srgbClr val="F4F1F7"/>
                </a:solidFill>
                <a:latin typeface="Calibri"/>
              </a:rPr>
              <a:t>▸  /cakes/  → cakes:list</a:t>
            </a:r>
          </a:p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100" b="1">
                <a:solidFill>
                  <a:srgbClr val="F4F1F7"/>
                </a:solidFill>
                <a:latin typeface="Calibri"/>
              </a:rPr>
              <a:t>▸  /cakes/togilgan-kun-torti/  → cakes:detail</a:t>
            </a:r>
          </a:p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100" b="1">
                <a:solidFill>
                  <a:srgbClr val="F4F1F7"/>
                </a:solidFill>
                <a:latin typeface="Calibri"/>
              </a:rPr>
              <a:t>▸  {% url 'cakes:detail' cake.slug %}</a:t>
            </a:r>
          </a:p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100" b="1">
                <a:solidFill>
                  <a:srgbClr val="F4F1F7"/>
                </a:solidFill>
                <a:latin typeface="Calibri"/>
              </a:rPr>
              <a:t>▸  reverse('cakes:detail', kwargs={'slug': s})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1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064240" y="6355080"/>
            <a:ext cx="731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A8A2BB"/>
                </a:solidFill>
                <a:latin typeface="Calibri"/>
              </a:rPr>
              <a:t>27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355080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A8A2BB"/>
                </a:solidFill>
                <a:latin typeface="Calibri"/>
              </a:rPr>
              <a:t>Semurog' Tort Markazi  |  To'liq kod misollari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965960"/>
            <a:ext cx="960120" cy="960120"/>
          </a:xfrm>
          <a:prstGeom prst="roundRect">
            <a:avLst/>
          </a:prstGeom>
          <a:solidFill>
            <a:srgbClr val="F26D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103120"/>
            <a:ext cx="960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4000" b="1">
                <a:solidFill>
                  <a:srgbClr val="14111C"/>
                </a:solidFill>
                <a:latin typeface="Calibri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20240" y="2084831"/>
            <a:ext cx="9509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400" b="1">
                <a:solidFill>
                  <a:srgbClr val="F4F1F7"/>
                </a:solidFill>
                <a:latin typeface="Calibri"/>
              </a:rPr>
              <a:t>orders — savat, buyurtma, to'lov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2926080"/>
            <a:ext cx="95097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0">
                <a:solidFill>
                  <a:srgbClr val="A8A2BB"/>
                </a:solidFill>
                <a:latin typeface="Calibri"/>
              </a:rPr>
              <a:t>Mijoz tanlagan tortlar session'da saqlanadi, checkout formasida Order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0">
                <a:solidFill>
                  <a:srgbClr val="A8A2BB"/>
                </a:solidFill>
                <a:latin typeface="Calibri"/>
              </a:rPr>
              <a:t>va OrderItem yaratiladi. Markaz esa admin orqali holatni boshqaradi.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920240" y="4069080"/>
            <a:ext cx="8686800" cy="457200"/>
          </a:xfrm>
          <a:prstGeom prst="roundRect">
            <a:avLst/>
          </a:prstGeom>
          <a:solidFill>
            <a:srgbClr val="1F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148840" y="4142232"/>
            <a:ext cx="8321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26D9B"/>
                </a:solidFill>
                <a:latin typeface="Calibri"/>
              </a:rPr>
              <a:t>3 ta model:  Order · OrderItem · PromoCode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1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>
                <a:solidFill>
                  <a:srgbClr val="F26D9B"/>
                </a:solidFill>
                <a:latin typeface="Calibri"/>
              </a:rPr>
              <a:t>APP 4 · MODEL 1/3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76656"/>
            <a:ext cx="10789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F4F1F7"/>
                </a:solidFill>
                <a:latin typeface="Calibri"/>
              </a:rPr>
              <a:t>orders/models.py — Order (holatlar)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35024"/>
            <a:ext cx="1371600" cy="54864"/>
          </a:xfrm>
          <a:prstGeom prst="roundRect">
            <a:avLst/>
          </a:prstGeom>
          <a:solidFill>
            <a:srgbClr val="F26D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64240" y="6355080"/>
            <a:ext cx="731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A8A2BB"/>
                </a:solidFill>
                <a:latin typeface="Calibri"/>
              </a:rPr>
              <a:t>28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355080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A8A2BB"/>
                </a:solidFill>
                <a:latin typeface="Calibri"/>
              </a:rPr>
              <a:t>Semurog' Tort Markazi  |  To'liq kod misollari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63040"/>
            <a:ext cx="10817352" cy="4846320"/>
          </a:xfrm>
          <a:prstGeom prst="roundRect">
            <a:avLst/>
          </a:prstGeom>
          <a:solidFill>
            <a:srgbClr val="100D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09344"/>
            <a:ext cx="10360152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F26D9B"/>
                </a:solidFill>
                <a:latin typeface="Consolas"/>
              </a:rPr>
              <a:t>from django.db import models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F26D9B"/>
                </a:solidFill>
                <a:latin typeface="Consolas"/>
              </a:rPr>
              <a:t>from django.core.validators import MinValueValidator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F26D9B"/>
                </a:solidFill>
                <a:latin typeface="Consolas"/>
              </a:rPr>
              <a:t>from clients.models import Client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F26D9B"/>
                </a:solidFill>
                <a:latin typeface="Consolas"/>
              </a:rPr>
              <a:t>from core.models import SiteSettings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F26D9B"/>
                </a:solidFill>
                <a:latin typeface="Consolas"/>
              </a:rPr>
              <a:t>from cakes.models import Cake, Option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C9C2DA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C9C2DA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F26D9B"/>
                </a:solidFill>
                <a:latin typeface="Consolas"/>
              </a:rPr>
              <a:t>class Order(models.Model):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A8A2BB"/>
                </a:solidFill>
                <a:latin typeface="Consolas"/>
              </a:rPr>
              <a:t>    # Buyurtma holatlari — admin ro'yxatida tanlash uchun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F26D9B"/>
                </a:solidFill>
                <a:latin typeface="Consolas"/>
              </a:rPr>
              <a:t>    class Status(models.TextChoices):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C9C2DA"/>
                </a:solidFill>
                <a:latin typeface="Consolas"/>
              </a:rPr>
              <a:t>        NEW = 'new', 'Yangi'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C9C2DA"/>
                </a:solidFill>
                <a:latin typeface="Consolas"/>
              </a:rPr>
              <a:t>        CONFIRMED = 'confirmed', 'Tasdiqlandi'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C9C2DA"/>
                </a:solidFill>
                <a:latin typeface="Consolas"/>
              </a:rPr>
              <a:t>        IN_PROGRESS = 'in_progress', 'Tayyorlanmoqda'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C9C2DA"/>
                </a:solidFill>
                <a:latin typeface="Consolas"/>
              </a:rPr>
              <a:t>        READY = 'ready', 'Tayyor'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C9C2DA"/>
                </a:solidFill>
                <a:latin typeface="Consolas"/>
              </a:rPr>
              <a:t>        DELIVERED = 'delivered', 'Yetkazildi'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C9C2DA"/>
                </a:solidFill>
                <a:latin typeface="Consolas"/>
              </a:rPr>
              <a:t>        CANCELLED = 'cancelled', 'Bekor qilindi'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C9C2DA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A8A2BB"/>
                </a:solidFill>
                <a:latin typeface="Consolas"/>
              </a:rPr>
              <a:t>    # To'lov usuli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F26D9B"/>
                </a:solidFill>
                <a:latin typeface="Consolas"/>
              </a:rPr>
              <a:t>    class PaymentMethod(models.TextChoices):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C9C2DA"/>
                </a:solidFill>
                <a:latin typeface="Consolas"/>
              </a:rPr>
              <a:t>        CASH = 'cash', 'Naqd'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C9C2DA"/>
                </a:solidFill>
                <a:latin typeface="Consolas"/>
              </a:rPr>
              <a:t>        CARD = 'card', 'Karta'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C9C2DA"/>
                </a:solidFill>
                <a:latin typeface="Consolas"/>
              </a:rPr>
              <a:t>        CLICK = 'click', 'Click / Payme'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1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>
                <a:solidFill>
                  <a:srgbClr val="F26D9B"/>
                </a:solidFill>
                <a:latin typeface="Calibri"/>
              </a:rPr>
              <a:t>APP 4 · MODEL 2/3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76656"/>
            <a:ext cx="10789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F4F1F7"/>
                </a:solidFill>
                <a:latin typeface="Calibri"/>
              </a:rPr>
              <a:t>orders/models.py — Order (maydonlar)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35024"/>
            <a:ext cx="1371600" cy="54864"/>
          </a:xfrm>
          <a:prstGeom prst="roundRect">
            <a:avLst/>
          </a:prstGeom>
          <a:solidFill>
            <a:srgbClr val="F26D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64240" y="6355080"/>
            <a:ext cx="731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A8A2BB"/>
                </a:solidFill>
                <a:latin typeface="Calibri"/>
              </a:rPr>
              <a:t>29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355080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A8A2BB"/>
                </a:solidFill>
                <a:latin typeface="Calibri"/>
              </a:rPr>
              <a:t>Semurog' Tort Markazi  |  To'liq kod misollari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63040"/>
            <a:ext cx="10817352" cy="4846320"/>
          </a:xfrm>
          <a:prstGeom prst="roundRect">
            <a:avLst/>
          </a:prstGeom>
          <a:solidFill>
            <a:srgbClr val="100D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09344"/>
            <a:ext cx="10360152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89">
                <a:solidFill>
                  <a:srgbClr val="A8A2BB"/>
                </a:solidFill>
                <a:latin typeface="Consolas"/>
              </a:rPr>
              <a:t>    # Order klassi ichida davom etadi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89">
                <a:solidFill>
                  <a:srgbClr val="C9C2DA"/>
                </a:solidFill>
                <a:latin typeface="Consolas"/>
              </a:rPr>
              <a:t>    client    = models.ForeignKey(Client, on_delete=models.PROTECT,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89">
                <a:solidFill>
                  <a:srgbClr val="C9C2DA"/>
                </a:solidFill>
                <a:latin typeface="Consolas"/>
              </a:rPr>
              <a:t>                                  related_name='orders', verbose_name="Mijoz")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89">
                <a:solidFill>
                  <a:srgbClr val="C9C2DA"/>
                </a:solidFill>
                <a:latin typeface="Consolas"/>
              </a:rPr>
              <a:t>    status    = models.CharField("Holat", max_length=20, choices=Status.choices,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89">
                <a:solidFill>
                  <a:srgbClr val="C9C2DA"/>
                </a:solidFill>
                <a:latin typeface="Consolas"/>
              </a:rPr>
              <a:t>                                 default=Status.NEW, db_index=True)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89">
                <a:solidFill>
                  <a:srgbClr val="C9C2DA"/>
                </a:solidFill>
                <a:latin typeface="Consolas"/>
              </a:rPr>
              <a:t>    payment_method = models.CharField("To'lov", max_length=10,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89">
                <a:solidFill>
                  <a:srgbClr val="C9C2DA"/>
                </a:solidFill>
                <a:latin typeface="Consolas"/>
              </a:rPr>
              <a:t>                                      choices=PaymentMethod.choices,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89">
                <a:solidFill>
                  <a:srgbClr val="C9C2DA"/>
                </a:solidFill>
                <a:latin typeface="Consolas"/>
              </a:rPr>
              <a:t>                                      default=PaymentMethod.CASH)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89">
                <a:solidFill>
                  <a:srgbClr val="C9C2DA"/>
                </a:solidFill>
                <a:latin typeface="Consolas"/>
              </a:rPr>
              <a:t>    is_paid   = models.BooleanField("To'landi", default=False)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89">
                <a:solidFill>
                  <a:srgbClr val="C9C2DA"/>
                </a:solidFill>
                <a:latin typeface="Consolas"/>
              </a:rPr>
              <a:t>    delivery_address = models.TextField("Yetkazish manzili")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89">
                <a:solidFill>
                  <a:srgbClr val="C9C2DA"/>
                </a:solidFill>
                <a:latin typeface="Consolas"/>
              </a:rPr>
              <a:t>    delivery_date    = models.DateField("Yetkazish sanasi")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89">
                <a:solidFill>
                  <a:srgbClr val="C9C2DA"/>
                </a:solidFill>
                <a:latin typeface="Consolas"/>
              </a:rPr>
              <a:t>    delivery_time    = models.TimeField("Vaqt", null=True, blank=True)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89">
                <a:solidFill>
                  <a:srgbClr val="C9C2DA"/>
                </a:solidFill>
                <a:latin typeface="Consolas"/>
              </a:rPr>
              <a:t>    comment   = models.TextField("Izoh", blank=True)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89">
                <a:solidFill>
                  <a:srgbClr val="C9C2DA"/>
                </a:solidFill>
                <a:latin typeface="Consolas"/>
              </a:rPr>
              <a:t>    total_price = models.DecimalField("Jami", max_digits=12, decimal_places=2,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89">
                <a:solidFill>
                  <a:srgbClr val="C9C2DA"/>
                </a:solidFill>
                <a:latin typeface="Consolas"/>
              </a:rPr>
              <a:t>                                      default=0)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89">
                <a:solidFill>
                  <a:srgbClr val="C9C2DA"/>
                </a:solidFill>
                <a:latin typeface="Consolas"/>
              </a:rPr>
              <a:t>    promo_code = models.ForeignKey('PromoCode', null=True, blank=True,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89">
                <a:solidFill>
                  <a:srgbClr val="C9C2DA"/>
                </a:solidFill>
                <a:latin typeface="Consolas"/>
              </a:rPr>
              <a:t>                                   on_delete=SET_NULL, related_name='orders')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89">
                <a:solidFill>
                  <a:srgbClr val="C9C2DA"/>
                </a:solidFill>
                <a:latin typeface="Consolas"/>
              </a:rPr>
              <a:t>    created_at = models.DateTimeField(auto_now_add=True)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89">
                <a:solidFill>
                  <a:srgbClr val="C9C2DA"/>
                </a:solidFill>
                <a:latin typeface="Consolas"/>
              </a:rPr>
              <a:t>    updated_at = models.DateTimeField(auto_now=True)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89">
                <a:solidFill>
                  <a:srgbClr val="C9C2DA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89">
                <a:solidFill>
                  <a:srgbClr val="F26D9B"/>
                </a:solidFill>
                <a:latin typeface="Consolas"/>
              </a:rPr>
              <a:t>    class Meta: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89">
                <a:solidFill>
                  <a:srgbClr val="C9C2DA"/>
                </a:solidFill>
                <a:latin typeface="Consolas"/>
              </a:rPr>
              <a:t>        ordering = ['-created_at']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89">
                <a:solidFill>
                  <a:srgbClr val="C9C2DA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89">
                <a:solidFill>
                  <a:srgbClr val="F26D9B"/>
                </a:solidFill>
                <a:latin typeface="Consolas"/>
              </a:rPr>
              <a:t>    def __str__(self):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89">
                <a:solidFill>
                  <a:srgbClr val="F26D9B"/>
                </a:solidFill>
                <a:latin typeface="Consolas"/>
              </a:rPr>
              <a:t>        return f"Buyurtma #{self.pk} — {self.client.full_name}"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89">
                <a:solidFill>
                  <a:srgbClr val="C9C2DA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89">
                <a:solidFill>
                  <a:srgbClr val="F26D9B"/>
                </a:solidFill>
                <a:latin typeface="Consolas"/>
              </a:rPr>
              <a:t>    @property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89">
                <a:solidFill>
                  <a:srgbClr val="F26D9B"/>
                </a:solidFill>
                <a:latin typeface="Consolas"/>
              </a:rPr>
              <a:t>    def items_count(self):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89">
                <a:solidFill>
                  <a:srgbClr val="F26D9B"/>
                </a:solidFill>
                <a:latin typeface="Consolas"/>
              </a:rPr>
              <a:t>        return sum(i.quantity for i in self.items.all())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1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>
                <a:solidFill>
                  <a:srgbClr val="F26D9B"/>
                </a:solidFill>
                <a:latin typeface="Calibri"/>
              </a:rPr>
              <a:t>APP 4 · MODEL 3/3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76656"/>
            <a:ext cx="10789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F4F1F7"/>
                </a:solidFill>
                <a:latin typeface="Calibri"/>
              </a:rPr>
              <a:t>orders/models.py — hisoblash va OrderItem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35024"/>
            <a:ext cx="1371600" cy="54864"/>
          </a:xfrm>
          <a:prstGeom prst="roundRect">
            <a:avLst/>
          </a:prstGeom>
          <a:solidFill>
            <a:srgbClr val="F26D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64240" y="6355080"/>
            <a:ext cx="731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A8A2BB"/>
                </a:solidFill>
                <a:latin typeface="Calibri"/>
              </a:rPr>
              <a:t>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355080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A8A2BB"/>
                </a:solidFill>
                <a:latin typeface="Calibri"/>
              </a:rPr>
              <a:t>Semurog' Tort Markazi  |  To'liq kod misollari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63040"/>
            <a:ext cx="10817352" cy="4846320"/>
          </a:xfrm>
          <a:prstGeom prst="roundRect">
            <a:avLst/>
          </a:prstGeom>
          <a:solidFill>
            <a:srgbClr val="100D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09344"/>
            <a:ext cx="10360152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69">
                <a:solidFill>
                  <a:srgbClr val="A8A2BB"/>
                </a:solidFill>
                <a:latin typeface="Consolas"/>
              </a:rPr>
              <a:t>    # Order klassi ichida davom etadi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69">
                <a:solidFill>
                  <a:srgbClr val="F26D9B"/>
                </a:solidFill>
                <a:latin typeface="Consolas"/>
              </a:rPr>
              <a:t>    def recalc_total(self):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69">
                <a:solidFill>
                  <a:srgbClr val="C9C2DA"/>
                </a:solidFill>
                <a:latin typeface="Consolas"/>
              </a:rPr>
              <a:t>        subtotal = sum(i.subtotal for i in self.items.all())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69">
                <a:solidFill>
                  <a:srgbClr val="C9C2DA"/>
                </a:solidFill>
                <a:latin typeface="Consolas"/>
              </a:rPr>
              <a:t>        delivery = 0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69">
                <a:solidFill>
                  <a:srgbClr val="C9C2DA"/>
                </a:solidFill>
                <a:latin typeface="Consolas"/>
              </a:rPr>
              <a:t>        s = SiteSettings.objects.first()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69">
                <a:solidFill>
                  <a:srgbClr val="C9C2DA"/>
                </a:solidFill>
                <a:latin typeface="Consolas"/>
              </a:rPr>
              <a:t>        if s: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69">
                <a:solidFill>
                  <a:srgbClr val="C9C2DA"/>
                </a:solidFill>
                <a:latin typeface="Consolas"/>
              </a:rPr>
              <a:t>            delivery = s.delivery_price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69">
                <a:solidFill>
                  <a:srgbClr val="C9C2DA"/>
                </a:solidFill>
                <a:latin typeface="Consolas"/>
              </a:rPr>
              <a:t>            if s.free_delivery_from and subtotal &gt;= s.free_delivery_from: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69">
                <a:solidFill>
                  <a:srgbClr val="C9C2DA"/>
                </a:solidFill>
                <a:latin typeface="Consolas"/>
              </a:rPr>
              <a:t>                delivery = 0          # katta summa — bepul yetkazish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69">
                <a:solidFill>
                  <a:srgbClr val="C9C2DA"/>
                </a:solidFill>
                <a:latin typeface="Consolas"/>
              </a:rPr>
              <a:t>        if self.promo_code: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69">
                <a:solidFill>
                  <a:srgbClr val="C9C2DA"/>
                </a:solidFill>
                <a:latin typeface="Consolas"/>
              </a:rPr>
              <a:t>            subtotal -= subtotal * self.promo_code.discount_percent / 100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69">
                <a:solidFill>
                  <a:srgbClr val="C9C2DA"/>
                </a:solidFill>
                <a:latin typeface="Consolas"/>
              </a:rPr>
              <a:t>        self.total_price = subtotal + delivery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69">
                <a:solidFill>
                  <a:srgbClr val="C9C2DA"/>
                </a:solidFill>
                <a:latin typeface="Consolas"/>
              </a:rPr>
              <a:t>        self.save(update_fields=['total_price'])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69">
                <a:solidFill>
                  <a:srgbClr val="F26D9B"/>
                </a:solidFill>
                <a:latin typeface="Consolas"/>
              </a:rPr>
              <a:t>        return self.total_price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69">
                <a:solidFill>
                  <a:srgbClr val="C9C2DA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69">
                <a:solidFill>
                  <a:srgbClr val="C9C2DA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69">
                <a:solidFill>
                  <a:srgbClr val="F26D9B"/>
                </a:solidFill>
                <a:latin typeface="Consolas"/>
              </a:rPr>
              <a:t>class OrderItem(models.Model):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69">
                <a:solidFill>
                  <a:srgbClr val="A8A2BB"/>
                </a:solidFill>
                <a:latin typeface="Consolas"/>
              </a:rPr>
              <a:t>    # Buyurtmadagi bitta tort — bitta buyurtmada ko'plab bo'ladi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69">
                <a:solidFill>
                  <a:srgbClr val="C9C2DA"/>
                </a:solidFill>
                <a:latin typeface="Consolas"/>
              </a:rPr>
              <a:t>    order    = models.ForeignKey(Order, on_delete=models.CASCADE,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69">
                <a:solidFill>
                  <a:srgbClr val="C9C2DA"/>
                </a:solidFill>
                <a:latin typeface="Consolas"/>
              </a:rPr>
              <a:t>                                 related_name='items')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69">
                <a:solidFill>
                  <a:srgbClr val="C9C2DA"/>
                </a:solidFill>
                <a:latin typeface="Consolas"/>
              </a:rPr>
              <a:t>    cake     = models.ForeignKey(Cake, on_delete=models.PROTECT, verbose_name="Tort")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69">
                <a:solidFill>
                  <a:srgbClr val="C9C2DA"/>
                </a:solidFill>
                <a:latin typeface="Consolas"/>
              </a:rPr>
              <a:t>    quantity = models.PositiveIntegerField("Soni", default=1,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69">
                <a:solidFill>
                  <a:srgbClr val="C9C2DA"/>
                </a:solidFill>
                <a:latin typeface="Consolas"/>
              </a:rPr>
              <a:t>                                           validators=[MinValueValidator(1)])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69">
                <a:solidFill>
                  <a:srgbClr val="C9C2DA"/>
                </a:solidFill>
                <a:latin typeface="Consolas"/>
              </a:rPr>
              <a:t>    price    = models.DecimalField("Narxi", max_digits=10, decimal_places=2)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69">
                <a:solidFill>
                  <a:srgbClr val="C9C2DA"/>
                </a:solidFill>
                <a:latin typeface="Consolas"/>
              </a:rPr>
              <a:t>    options  = models.ManyToManyField(Option, blank=True)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69">
                <a:solidFill>
                  <a:srgbClr val="C9C2DA"/>
                </a:solidFill>
                <a:latin typeface="Consolas"/>
              </a:rPr>
              <a:t>    comment  = models.CharField("Yozuv", max_length=255, blank=True)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69">
                <a:solidFill>
                  <a:srgbClr val="C9C2DA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69">
                <a:solidFill>
                  <a:srgbClr val="F26D9B"/>
                </a:solidFill>
                <a:latin typeface="Consolas"/>
              </a:rPr>
              <a:t>    def __str__(self):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69">
                <a:solidFill>
                  <a:srgbClr val="F26D9B"/>
                </a:solidFill>
                <a:latin typeface="Consolas"/>
              </a:rPr>
              <a:t>        return f"{self.cake.name} × {self.quantity}"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69">
                <a:solidFill>
                  <a:srgbClr val="C9C2DA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69">
                <a:solidFill>
                  <a:srgbClr val="F26D9B"/>
                </a:solidFill>
                <a:latin typeface="Consolas"/>
              </a:rPr>
              <a:t>    @property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69">
                <a:solidFill>
                  <a:srgbClr val="F26D9B"/>
                </a:solidFill>
                <a:latin typeface="Consolas"/>
              </a:rPr>
              <a:t>    def subtotal(self):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69">
                <a:solidFill>
                  <a:srgbClr val="F26D9B"/>
                </a:solidFill>
                <a:latin typeface="Consolas"/>
              </a:rPr>
              <a:t>        return self.price * self.quantity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1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>
                <a:solidFill>
                  <a:srgbClr val="F26D9B"/>
                </a:solidFill>
                <a:latin typeface="Calibri"/>
              </a:rPr>
              <a:t>APP 4 · MODELLAR (2/2)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76656"/>
            <a:ext cx="10789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F4F1F7"/>
                </a:solidFill>
                <a:latin typeface="Calibri"/>
              </a:rPr>
              <a:t>orders/models.py — PromoCode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35024"/>
            <a:ext cx="1371600" cy="54864"/>
          </a:xfrm>
          <a:prstGeom prst="roundRect">
            <a:avLst/>
          </a:prstGeom>
          <a:solidFill>
            <a:srgbClr val="F26D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64240" y="6355080"/>
            <a:ext cx="731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A8A2BB"/>
                </a:solidFill>
                <a:latin typeface="Calibri"/>
              </a:rPr>
              <a:t>31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355080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A8A2BB"/>
                </a:solidFill>
                <a:latin typeface="Calibri"/>
              </a:rPr>
              <a:t>Semurog' Tort Markazi  |  To'liq kod misollari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63040"/>
            <a:ext cx="10817352" cy="3794760"/>
          </a:xfrm>
          <a:prstGeom prst="roundRect">
            <a:avLst/>
          </a:prstGeom>
          <a:solidFill>
            <a:srgbClr val="100D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09344"/>
            <a:ext cx="10360152" cy="3520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42">
                <a:solidFill>
                  <a:srgbClr val="F26D9B"/>
                </a:solidFill>
                <a:latin typeface="Consolas"/>
              </a:rPr>
              <a:t>class PromoCode(models.Model):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42">
                <a:solidFill>
                  <a:srgbClr val="A8A2BB"/>
                </a:solidFill>
                <a:latin typeface="Consolas"/>
              </a:rPr>
              <a:t>    # Chegirma kodi (masalan: YANVAR10).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42">
                <a:solidFill>
                  <a:srgbClr val="C9C2DA"/>
                </a:solidFill>
                <a:latin typeface="Consolas"/>
              </a:rPr>
              <a:t>    code             = models.CharField("Kod", max_length=20, unique=True)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42">
                <a:solidFill>
                  <a:srgbClr val="C9C2DA"/>
                </a:solidFill>
                <a:latin typeface="Consolas"/>
              </a:rPr>
              <a:t>    discount_percent = models.PositiveSmallIntegerField("Chegirma %", default=10)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42">
                <a:solidFill>
                  <a:srgbClr val="C9C2DA"/>
                </a:solidFill>
                <a:latin typeface="Consolas"/>
              </a:rPr>
              <a:t>    min_order_sum    = models.DecimalField("Minimal summa", max_digits=10,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42">
                <a:solidFill>
                  <a:srgbClr val="C9C2DA"/>
                </a:solidFill>
                <a:latin typeface="Consolas"/>
              </a:rPr>
              <a:t>                                           decimal_places=2, default=0)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42">
                <a:solidFill>
                  <a:srgbClr val="C9C2DA"/>
                </a:solidFill>
                <a:latin typeface="Consolas"/>
              </a:rPr>
              <a:t>    valid_from       = models.DateTimeField("Boshlanishi", null=True, blank=True)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42">
                <a:solidFill>
                  <a:srgbClr val="C9C2DA"/>
                </a:solidFill>
                <a:latin typeface="Consolas"/>
              </a:rPr>
              <a:t>    valid_until      = models.DateTimeField("Tugashi", null=True, blank=True)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42">
                <a:solidFill>
                  <a:srgbClr val="C9C2DA"/>
                </a:solidFill>
                <a:latin typeface="Consolas"/>
              </a:rPr>
              <a:t>    is_active        = models.BooleanField("Faol", default=True)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42">
                <a:solidFill>
                  <a:srgbClr val="C9C2DA"/>
                </a:solidFill>
                <a:latin typeface="Consolas"/>
              </a:rPr>
              <a:t>    used_count       = models.PositiveIntegerField("Ishlatilgan", default=0)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42">
                <a:solidFill>
                  <a:srgbClr val="C9C2DA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42">
                <a:solidFill>
                  <a:srgbClr val="F26D9B"/>
                </a:solidFill>
                <a:latin typeface="Consolas"/>
              </a:rPr>
              <a:t>    def __str__(self):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42">
                <a:solidFill>
                  <a:srgbClr val="F26D9B"/>
                </a:solidFill>
                <a:latin typeface="Consolas"/>
              </a:rPr>
              <a:t>        return self.code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42">
                <a:solidFill>
                  <a:srgbClr val="C9C2DA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42">
                <a:solidFill>
                  <a:srgbClr val="F26D9B"/>
                </a:solidFill>
                <a:latin typeface="Consolas"/>
              </a:rPr>
              <a:t>    def is_valid(self, order_sum):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42">
                <a:solidFill>
                  <a:srgbClr val="F26D9B"/>
                </a:solidFill>
                <a:latin typeface="Consolas"/>
              </a:rPr>
              <a:t>        from django.utils import timezone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42">
                <a:solidFill>
                  <a:srgbClr val="C9C2DA"/>
                </a:solidFill>
                <a:latin typeface="Consolas"/>
              </a:rPr>
              <a:t>        now = timezone.now()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42">
                <a:solidFill>
                  <a:srgbClr val="C9C2DA"/>
                </a:solidFill>
                <a:latin typeface="Consolas"/>
              </a:rPr>
              <a:t>        if not self.is_active: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42">
                <a:solidFill>
                  <a:srgbClr val="F26D9B"/>
                </a:solidFill>
                <a:latin typeface="Consolas"/>
              </a:rPr>
              <a:t>            return False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42">
                <a:solidFill>
                  <a:srgbClr val="C9C2DA"/>
                </a:solidFill>
                <a:latin typeface="Consolas"/>
              </a:rPr>
              <a:t>        if order_sum &lt; self.min_order_sum: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42">
                <a:solidFill>
                  <a:srgbClr val="F26D9B"/>
                </a:solidFill>
                <a:latin typeface="Consolas"/>
              </a:rPr>
              <a:t>            return False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42">
                <a:solidFill>
                  <a:srgbClr val="C9C2DA"/>
                </a:solidFill>
                <a:latin typeface="Consolas"/>
              </a:rPr>
              <a:t>        if self.valid_from and now &lt; self.valid_from: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42">
                <a:solidFill>
                  <a:srgbClr val="F26D9B"/>
                </a:solidFill>
                <a:latin typeface="Consolas"/>
              </a:rPr>
              <a:t>            return False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42">
                <a:solidFill>
                  <a:srgbClr val="C9C2DA"/>
                </a:solidFill>
                <a:latin typeface="Consolas"/>
              </a:rPr>
              <a:t>        if self.valid_until and now &gt; self.valid_until: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42">
                <a:solidFill>
                  <a:srgbClr val="F26D9B"/>
                </a:solidFill>
                <a:latin typeface="Consolas"/>
              </a:rPr>
              <a:t>            return False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42">
                <a:solidFill>
                  <a:srgbClr val="F26D9B"/>
                </a:solidFill>
                <a:latin typeface="Consolas"/>
              </a:rPr>
              <a:t>        return True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5440680"/>
            <a:ext cx="5294376" cy="914400"/>
          </a:xfrm>
          <a:prstGeom prst="roundRect">
            <a:avLst/>
          </a:prstGeom>
          <a:solidFill>
            <a:srgbClr val="1F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85800" y="5440680"/>
            <a:ext cx="5294376" cy="45720"/>
          </a:xfrm>
          <a:prstGeom prst="roundRect">
            <a:avLst/>
          </a:prstGeom>
          <a:solidFill>
            <a:srgbClr val="F26D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5641848"/>
            <a:ext cx="483717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F26D9B"/>
                </a:solidFill>
                <a:latin typeface="Calibri"/>
              </a:rPr>
              <a:t>on_delete farqi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6153912"/>
            <a:ext cx="483717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100" b="1">
                <a:solidFill>
                  <a:srgbClr val="F4F1F7"/>
                </a:solidFill>
                <a:latin typeface="Calibri"/>
              </a:rPr>
              <a:t>▸  CASCADE — ichki obyekt o'chirilsa, o'zi ham (OrderItem)</a:t>
            </a:r>
          </a:p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100" b="1">
                <a:solidFill>
                  <a:srgbClr val="F4F1F7"/>
                </a:solidFill>
                <a:latin typeface="Calibri"/>
              </a:rPr>
              <a:t>▸  PROTECT — o'chirishga to'sqinlik (buyurtmasi bor mijoz/tort)</a:t>
            </a:r>
          </a:p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100" b="1">
                <a:solidFill>
                  <a:srgbClr val="F4F1F7"/>
                </a:solidFill>
                <a:latin typeface="Calibri"/>
              </a:rPr>
              <a:t>▸  SET_NULL — o'chirilsa, maydon bo'sh qoladi (sharh)</a:t>
            </a:r>
          </a:p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100" b="1">
                <a:solidFill>
                  <a:srgbClr val="F4F1F7"/>
                </a:solidFill>
                <a:latin typeface="Calibri"/>
              </a:rPr>
              <a:t>▸  DO_NOTHING — hech narsa qilinmaydi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08776" y="5440680"/>
            <a:ext cx="5294376" cy="914400"/>
          </a:xfrm>
          <a:prstGeom prst="roundRect">
            <a:avLst/>
          </a:prstGeom>
          <a:solidFill>
            <a:srgbClr val="1F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08776" y="5440680"/>
            <a:ext cx="5294376" cy="45720"/>
          </a:xfrm>
          <a:prstGeom prst="roundRect">
            <a:avLst/>
          </a:prstGeom>
          <a:solidFill>
            <a:srgbClr val="6CC7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37376" y="5641848"/>
            <a:ext cx="483717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6CC7B8"/>
                </a:solidFill>
                <a:latin typeface="Calibri"/>
              </a:rPr>
              <a:t>Narxni saqlash qoidasi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37376" y="6153912"/>
            <a:ext cx="483717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100" b="1">
                <a:solidFill>
                  <a:srgbClr val="F4F1F7"/>
                </a:solidFill>
                <a:latin typeface="Calibri"/>
              </a:rPr>
              <a:t>▸  OrderItem.price — buyurtma vaqtidagi narx</a:t>
            </a:r>
          </a:p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100" b="1">
                <a:solidFill>
                  <a:srgbClr val="F4F1F7"/>
                </a:solidFill>
                <a:latin typeface="Calibri"/>
              </a:rPr>
              <a:t>▸  Keyin tort narxi o'zgarsa, eski buyurtma o'zgarmaydi</a:t>
            </a:r>
          </a:p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100" b="1">
                <a:solidFill>
                  <a:srgbClr val="F4F1F7"/>
                </a:solidFill>
                <a:latin typeface="Calibri"/>
              </a:rPr>
              <a:t>▸  Shuning uchun narx Cake dan emas, OrderItem dan olinadi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1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>
                <a:solidFill>
                  <a:srgbClr val="F26D9B"/>
                </a:solidFill>
                <a:latin typeface="Calibri"/>
              </a:rPr>
              <a:t>APP 4 · LOGIKA 1/2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76656"/>
            <a:ext cx="10789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F4F1F7"/>
                </a:solidFill>
                <a:latin typeface="Calibri"/>
              </a:rPr>
              <a:t>orders/cart.py — savat (session)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35024"/>
            <a:ext cx="1371600" cy="54864"/>
          </a:xfrm>
          <a:prstGeom prst="roundRect">
            <a:avLst/>
          </a:prstGeom>
          <a:solidFill>
            <a:srgbClr val="F26D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64240" y="6355080"/>
            <a:ext cx="731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A8A2BB"/>
                </a:solidFill>
                <a:latin typeface="Calibri"/>
              </a:rPr>
              <a:t>32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355080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A8A2BB"/>
                </a:solidFill>
                <a:latin typeface="Calibri"/>
              </a:rPr>
              <a:t>Semurog' Tort Markazi  |  To'liq kod misollari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63040"/>
            <a:ext cx="10817352" cy="4846320"/>
          </a:xfrm>
          <a:prstGeom prst="roundRect">
            <a:avLst/>
          </a:prstGeom>
          <a:solidFill>
            <a:srgbClr val="100D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09344"/>
            <a:ext cx="10360152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699">
                <a:solidFill>
                  <a:srgbClr val="A8A2BB"/>
                </a:solidFill>
                <a:latin typeface="Consolas"/>
              </a:rPr>
              <a:t># orders/cart.py  — savat bilan ishlashning barcha funksiyalari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699">
                <a:solidFill>
                  <a:srgbClr val="F26D9B"/>
                </a:solidFill>
                <a:latin typeface="Consolas"/>
              </a:rPr>
              <a:t>from decimal import Decimal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699">
                <a:solidFill>
                  <a:srgbClr val="F26D9B"/>
                </a:solidFill>
                <a:latin typeface="Consolas"/>
              </a:rPr>
              <a:t>from cakes.models import Cake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699">
                <a:solidFill>
                  <a:srgbClr val="C9C2DA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699">
                <a:solidFill>
                  <a:srgbClr val="C9C2DA"/>
                </a:solidFill>
                <a:latin typeface="Consolas"/>
              </a:rPr>
              <a:t>CART_KEY = 'cart'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699">
                <a:solidFill>
                  <a:srgbClr val="C9C2DA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699">
                <a:solidFill>
                  <a:srgbClr val="C9C2DA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699">
                <a:solidFill>
                  <a:srgbClr val="F26D9B"/>
                </a:solidFill>
                <a:latin typeface="Consolas"/>
              </a:rPr>
              <a:t>def get_cart(request):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699">
                <a:solidFill>
                  <a:srgbClr val="A8A2BB"/>
                </a:solidFill>
                <a:latin typeface="Consolas"/>
              </a:rPr>
              <a:t>    # Sessiyadagi savat: {tort_id: 'miqdor'}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699">
                <a:solidFill>
                  <a:srgbClr val="C9C2DA"/>
                </a:solidFill>
                <a:latin typeface="Consolas"/>
              </a:rPr>
              <a:t>    if CART_KEY not in request.session: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699">
                <a:solidFill>
                  <a:srgbClr val="C9C2DA"/>
                </a:solidFill>
                <a:latin typeface="Consolas"/>
              </a:rPr>
              <a:t>        request.session[CART_KEY] = {}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699">
                <a:solidFill>
                  <a:srgbClr val="F26D9B"/>
                </a:solidFill>
                <a:latin typeface="Consolas"/>
              </a:rPr>
              <a:t>    return request.session[CART_KEY]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699">
                <a:solidFill>
                  <a:srgbClr val="C9C2DA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699">
                <a:solidFill>
                  <a:srgbClr val="C9C2DA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699">
                <a:solidFill>
                  <a:srgbClr val="F26D9B"/>
                </a:solidFill>
                <a:latin typeface="Consolas"/>
              </a:rPr>
              <a:t>def add(request, cake_id):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699">
                <a:solidFill>
                  <a:srgbClr val="C9C2DA"/>
                </a:solidFill>
                <a:latin typeface="Consolas"/>
              </a:rPr>
              <a:t>    cart = get_cart(request)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699">
                <a:solidFill>
                  <a:srgbClr val="C9C2DA"/>
                </a:solidFill>
                <a:latin typeface="Consolas"/>
              </a:rPr>
              <a:t>    key = str(cake_id)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699">
                <a:solidFill>
                  <a:srgbClr val="C9C2DA"/>
                </a:solidFill>
                <a:latin typeface="Consolas"/>
              </a:rPr>
              <a:t>    cart[key] = int(cart.get(key, 0)) + 1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699">
                <a:solidFill>
                  <a:srgbClr val="C9C2DA"/>
                </a:solidFill>
                <a:latin typeface="Consolas"/>
              </a:rPr>
              <a:t>    request.session.modified = True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699">
                <a:solidFill>
                  <a:srgbClr val="F26D9B"/>
                </a:solidFill>
                <a:latin typeface="Consolas"/>
              </a:rPr>
              <a:t>    return cart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699">
                <a:solidFill>
                  <a:srgbClr val="C9C2DA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699">
                <a:solidFill>
                  <a:srgbClr val="C9C2DA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699">
                <a:solidFill>
                  <a:srgbClr val="F26D9B"/>
                </a:solidFill>
                <a:latin typeface="Consolas"/>
              </a:rPr>
              <a:t>def update(request, cake_id, qty):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699">
                <a:solidFill>
                  <a:srgbClr val="C9C2DA"/>
                </a:solidFill>
                <a:latin typeface="Consolas"/>
              </a:rPr>
              <a:t>    cart = get_cart(request)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699">
                <a:solidFill>
                  <a:srgbClr val="C9C2DA"/>
                </a:solidFill>
                <a:latin typeface="Consolas"/>
              </a:rPr>
              <a:t>    key = str(cake_id)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699">
                <a:solidFill>
                  <a:srgbClr val="C9C2DA"/>
                </a:solidFill>
                <a:latin typeface="Consolas"/>
              </a:rPr>
              <a:t>    if qty &lt; 1: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699">
                <a:solidFill>
                  <a:srgbClr val="C9C2DA"/>
                </a:solidFill>
                <a:latin typeface="Consolas"/>
              </a:rPr>
              <a:t>        cart.pop(key, None)          # 0 yoki minus — o'chiramiz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699">
                <a:solidFill>
                  <a:srgbClr val="C9C2DA"/>
                </a:solidFill>
                <a:latin typeface="Consolas"/>
              </a:rPr>
              <a:t>    else: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699">
                <a:solidFill>
                  <a:srgbClr val="C9C2DA"/>
                </a:solidFill>
                <a:latin typeface="Consolas"/>
              </a:rPr>
              <a:t>        cart[key] = qty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699">
                <a:solidFill>
                  <a:srgbClr val="C9C2DA"/>
                </a:solidFill>
                <a:latin typeface="Consolas"/>
              </a:rPr>
              <a:t>    request.session.modified = True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699">
                <a:solidFill>
                  <a:srgbClr val="F26D9B"/>
                </a:solidFill>
                <a:latin typeface="Consolas"/>
              </a:rPr>
              <a:t>    return cart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699">
                <a:solidFill>
                  <a:srgbClr val="C9C2DA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699">
                <a:solidFill>
                  <a:srgbClr val="C9C2DA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699">
                <a:solidFill>
                  <a:srgbClr val="F26D9B"/>
                </a:solidFill>
                <a:latin typeface="Consolas"/>
              </a:rPr>
              <a:t>def remove(request, cake_id):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699">
                <a:solidFill>
                  <a:srgbClr val="C9C2DA"/>
                </a:solidFill>
                <a:latin typeface="Consolas"/>
              </a:rPr>
              <a:t>    get_cart(request).pop(str(cake_id), None)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699">
                <a:solidFill>
                  <a:srgbClr val="C9C2DA"/>
                </a:solidFill>
                <a:latin typeface="Consolas"/>
              </a:rPr>
              <a:t>    request.session.modified = True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699">
                <a:solidFill>
                  <a:srgbClr val="C9C2DA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699">
                <a:solidFill>
                  <a:srgbClr val="C9C2DA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699">
                <a:solidFill>
                  <a:srgbClr val="F26D9B"/>
                </a:solidFill>
                <a:latin typeface="Consolas"/>
              </a:rPr>
              <a:t>def clear(request):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699">
                <a:solidFill>
                  <a:srgbClr val="C9C2DA"/>
                </a:solidFill>
                <a:latin typeface="Consolas"/>
              </a:rPr>
              <a:t>    request.session[CART_KEY] = {}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699">
                <a:solidFill>
                  <a:srgbClr val="C9C2DA"/>
                </a:solidFill>
                <a:latin typeface="Consolas"/>
              </a:rPr>
              <a:t>    request.session.modified = True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1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>
                <a:solidFill>
                  <a:srgbClr val="F26D9B"/>
                </a:solidFill>
                <a:latin typeface="Calibri"/>
              </a:rPr>
              <a:t>APP 4 · LOGIKA 2/2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76656"/>
            <a:ext cx="10789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F4F1F7"/>
                </a:solidFill>
                <a:latin typeface="Calibri"/>
              </a:rPr>
              <a:t>orders/cart.py — savat ro'yxati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35024"/>
            <a:ext cx="1371600" cy="54864"/>
          </a:xfrm>
          <a:prstGeom prst="roundRect">
            <a:avLst/>
          </a:prstGeom>
          <a:solidFill>
            <a:srgbClr val="F26D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64240" y="6355080"/>
            <a:ext cx="731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A8A2BB"/>
                </a:solidFill>
                <a:latin typeface="Calibri"/>
              </a:rPr>
              <a:t>33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355080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A8A2BB"/>
                </a:solidFill>
                <a:latin typeface="Calibri"/>
              </a:rPr>
              <a:t>Semurog' Tort Markazi  |  To'liq kod misollari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63040"/>
            <a:ext cx="10817352" cy="4846320"/>
          </a:xfrm>
          <a:prstGeom prst="roundRect">
            <a:avLst/>
          </a:prstGeom>
          <a:solidFill>
            <a:srgbClr val="100D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09344"/>
            <a:ext cx="10360152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47">
                <a:solidFill>
                  <a:srgbClr val="F26D9B"/>
                </a:solidFill>
                <a:latin typeface="Consolas"/>
              </a:rPr>
              <a:t>def rows(request):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47">
                <a:solidFill>
                  <a:srgbClr val="A8A2BB"/>
                </a:solidFill>
                <a:latin typeface="Consolas"/>
              </a:rPr>
              <a:t>    # Savatdagi ID'lar bo'yicha ma'lumotlar bazasidan ma'lumot olamiz.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47">
                <a:solidFill>
                  <a:srgbClr val="A8A2BB"/>
                </a:solidFill>
                <a:latin typeface="Consolas"/>
              </a:rPr>
              <a:t>    # Nomi va narxi saqlanmaydi — har doim joriy bazadan olinadi.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47">
                <a:solidFill>
                  <a:srgbClr val="C9C2DA"/>
                </a:solidFill>
                <a:latin typeface="Consolas"/>
              </a:rPr>
              <a:t>    cart = get_cart(request)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47">
                <a:solidFill>
                  <a:srgbClr val="C9C2DA"/>
                </a:solidFill>
                <a:latin typeface="Consolas"/>
              </a:rPr>
              <a:t>    if not cart: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47">
                <a:solidFill>
                  <a:srgbClr val="F26D9B"/>
                </a:solidFill>
                <a:latin typeface="Consolas"/>
              </a:rPr>
              <a:t>        return [], Decimal('0')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47">
                <a:solidFill>
                  <a:srgbClr val="C9C2DA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47">
                <a:solidFill>
                  <a:srgbClr val="C9C2DA"/>
                </a:solidFill>
                <a:latin typeface="Consolas"/>
              </a:rPr>
              <a:t>    cakes = {c.pk: c for c in Cake.objects.filter(pk__in=cart.keys())}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47">
                <a:solidFill>
                  <a:srgbClr val="C9C2DA"/>
                </a:solidFill>
                <a:latin typeface="Consolas"/>
              </a:rPr>
              <a:t>    result, total = [], Decimal('0')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47">
                <a:solidFill>
                  <a:srgbClr val="C9C2DA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47">
                <a:solidFill>
                  <a:srgbClr val="C9C2DA"/>
                </a:solidFill>
                <a:latin typeface="Consolas"/>
              </a:rPr>
              <a:t>    for cake_id, qty in cart.items():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47">
                <a:solidFill>
                  <a:srgbClr val="C9C2DA"/>
                </a:solidFill>
                <a:latin typeface="Consolas"/>
              </a:rPr>
              <a:t>        cake = cakes.get(int(cake_id))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47">
                <a:solidFill>
                  <a:srgbClr val="C9C2DA"/>
                </a:solidFill>
                <a:latin typeface="Consolas"/>
              </a:rPr>
              <a:t>        if not cake:                 # tort o'chirilgan bo'lsa — tashlab ketamiz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47">
                <a:solidFill>
                  <a:srgbClr val="C9C2DA"/>
                </a:solidFill>
                <a:latin typeface="Consolas"/>
              </a:rPr>
              <a:t>            continue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47">
                <a:solidFill>
                  <a:srgbClr val="C9C2DA"/>
                </a:solidFill>
                <a:latin typeface="Consolas"/>
              </a:rPr>
              <a:t>        subtotal = cake.price * int(qty)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47">
                <a:solidFill>
                  <a:srgbClr val="C9C2DA"/>
                </a:solidFill>
                <a:latin typeface="Consolas"/>
              </a:rPr>
              <a:t>        total += subtotal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47">
                <a:solidFill>
                  <a:srgbClr val="C9C2DA"/>
                </a:solidFill>
                <a:latin typeface="Consolas"/>
              </a:rPr>
              <a:t>        result.append({'cake': cake, 'quantity': int(qty),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47">
                <a:solidFill>
                  <a:srgbClr val="C9C2DA"/>
                </a:solidFill>
                <a:latin typeface="Consolas"/>
              </a:rPr>
              <a:t>                       'subtotal': subtotal})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47">
                <a:solidFill>
                  <a:srgbClr val="C9C2DA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47">
                <a:solidFill>
                  <a:srgbClr val="F26D9B"/>
                </a:solidFill>
                <a:latin typeface="Consolas"/>
              </a:rPr>
              <a:t>    return result, total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47">
                <a:solidFill>
                  <a:srgbClr val="C9C2DA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47">
                <a:solidFill>
                  <a:srgbClr val="C9C2DA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47">
                <a:solidFill>
                  <a:srgbClr val="F26D9B"/>
                </a:solidFill>
                <a:latin typeface="Consolas"/>
              </a:rPr>
              <a:t>def count(request):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47">
                <a:solidFill>
                  <a:srgbClr val="A8A2BB"/>
                </a:solidFill>
                <a:latin typeface="Consolas"/>
              </a:rPr>
              <a:t>    # Navbardagi savatdagi dona soni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47">
                <a:solidFill>
                  <a:srgbClr val="F26D9B"/>
                </a:solidFill>
                <a:latin typeface="Consolas"/>
              </a:rPr>
              <a:t>    return sum(int(v) for v in get_cart(request).values())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5486400"/>
            <a:ext cx="106070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200" b="1">
                <a:solidFill>
                  <a:srgbClr val="F4F1F7"/>
                </a:solidFill>
                <a:latin typeface="Calibri"/>
              </a:rPr>
              <a:t>▸  Nima uchun session? — ma'lumot bazaga yozilmaydi, tez va sodda. Ro'yxatdan o'tmagan ham foydalanadi.</a:t>
            </a:r>
          </a:p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200" b="1">
                <a:solidFill>
                  <a:srgbClr val="F4F1F7"/>
                </a:solidFill>
                <a:latin typeface="Calibri"/>
              </a:rPr>
              <a:t>▸  Nima uchun ID saqlanadi? — narx o'zgarsa ro'yxatdagi narx yangilanadi (eski emas).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1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>
                <a:solidFill>
                  <a:srgbClr val="F26D9B"/>
                </a:solidFill>
                <a:latin typeface="Calibri"/>
              </a:rPr>
              <a:t>APP 4 · FORM 1/2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76656"/>
            <a:ext cx="10789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F4F1F7"/>
                </a:solidFill>
                <a:latin typeface="Calibri"/>
              </a:rPr>
              <a:t>orders/forms.py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35024"/>
            <a:ext cx="1371600" cy="54864"/>
          </a:xfrm>
          <a:prstGeom prst="roundRect">
            <a:avLst/>
          </a:prstGeom>
          <a:solidFill>
            <a:srgbClr val="F26D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64240" y="6355080"/>
            <a:ext cx="731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A8A2BB"/>
                </a:solidFill>
                <a:latin typeface="Calibri"/>
              </a:rPr>
              <a:t>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355080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A8A2BB"/>
                </a:solidFill>
                <a:latin typeface="Calibri"/>
              </a:rPr>
              <a:t>Semurog' Tort Markazi  |  To'liq kod misollari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63040"/>
            <a:ext cx="10817352" cy="4846320"/>
          </a:xfrm>
          <a:prstGeom prst="roundRect">
            <a:avLst/>
          </a:prstGeom>
          <a:solidFill>
            <a:srgbClr val="100D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09344"/>
            <a:ext cx="10360152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96">
                <a:solidFill>
                  <a:srgbClr val="A8A2BB"/>
                </a:solidFill>
                <a:latin typeface="Consolas"/>
              </a:rPr>
              <a:t># orders/forms.py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96">
                <a:solidFill>
                  <a:srgbClr val="F26D9B"/>
                </a:solidFill>
                <a:latin typeface="Consolas"/>
              </a:rPr>
              <a:t>from django import forms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96">
                <a:solidFill>
                  <a:srgbClr val="F26D9B"/>
                </a:solidFill>
                <a:latin typeface="Consolas"/>
              </a:rPr>
              <a:t>from django.utils import timezone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96">
                <a:solidFill>
                  <a:srgbClr val="F26D9B"/>
                </a:solidFill>
                <a:latin typeface="Consolas"/>
              </a:rPr>
              <a:t>from .models import Order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96">
                <a:solidFill>
                  <a:srgbClr val="F26D9B"/>
                </a:solidFill>
                <a:latin typeface="Consolas"/>
              </a:rPr>
              <a:t>from clients.forms import clean_phone_value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96">
                <a:solidFill>
                  <a:srgbClr val="F26D9B"/>
                </a:solidFill>
                <a:latin typeface="Consolas"/>
              </a:rPr>
              <a:t>from clients.models import Client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96">
                <a:solidFill>
                  <a:srgbClr val="C9C2DA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96">
                <a:solidFill>
                  <a:srgbClr val="C9C2DA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96">
                <a:solidFill>
                  <a:srgbClr val="F26D9B"/>
                </a:solidFill>
                <a:latin typeface="Consolas"/>
              </a:rPr>
              <a:t>class OrderForm(forms.ModelForm):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96">
                <a:solidFill>
                  <a:srgbClr val="A8A2BB"/>
                </a:solidFill>
                <a:latin typeface="Consolas"/>
              </a:rPr>
              <a:t>    # Anonim mijoz uchun ham, ro'yxatdan o'tgan uchun ham — bir xil forma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96">
                <a:solidFill>
                  <a:srgbClr val="C9C2DA"/>
                </a:solidFill>
                <a:latin typeface="Consolas"/>
              </a:rPr>
              <a:t>    phone  = forms.CharField("Telefon", max_length=20)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96">
                <a:solidFill>
                  <a:srgbClr val="C9C2DA"/>
                </a:solidFill>
                <a:latin typeface="Consolas"/>
              </a:rPr>
              <a:t>    name   = forms.CharField("F.I.O", max_length=120)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96">
                <a:solidFill>
                  <a:srgbClr val="C9C2DA"/>
                </a:solidFill>
                <a:latin typeface="Consolas"/>
              </a:rPr>
              <a:t>    delivery_date = forms.DateField("Yetkazish sanasi",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96">
                <a:solidFill>
                  <a:srgbClr val="C9C2DA"/>
                </a:solidFill>
                <a:latin typeface="Consolas"/>
              </a:rPr>
              <a:t>                                    initial=timezone.localdate)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96">
                <a:solidFill>
                  <a:srgbClr val="C9C2DA"/>
                </a:solidFill>
                <a:latin typeface="Consolas"/>
              </a:rPr>
              <a:t>    delivery_time = forms.TimeField("Vaqt", required=False)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96">
                <a:solidFill>
                  <a:srgbClr val="C9C2DA"/>
                </a:solidFill>
                <a:latin typeface="Consolas"/>
              </a:rPr>
              <a:t>    comment = forms.CharField("Izoh", widget=forms.Textarea, required=False)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96">
                <a:solidFill>
                  <a:srgbClr val="C9C2DA"/>
                </a:solidFill>
                <a:latin typeface="Consolas"/>
              </a:rPr>
              <a:t>    promo_code = forms.CharField("Promo kod", required=False)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96">
                <a:solidFill>
                  <a:srgbClr val="C9C2DA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96">
                <a:solidFill>
                  <a:srgbClr val="F26D9B"/>
                </a:solidFill>
                <a:latin typeface="Consolas"/>
              </a:rPr>
              <a:t>    class Meta: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96">
                <a:solidFill>
                  <a:srgbClr val="C9C2DA"/>
                </a:solidFill>
                <a:latin typeface="Consolas"/>
              </a:rPr>
              <a:t>        model = Order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96">
                <a:solidFill>
                  <a:srgbClr val="C9C2DA"/>
                </a:solidFill>
                <a:latin typeface="Consolas"/>
              </a:rPr>
              <a:t>        fields = ('delivery_address', 'delivery_date', 'delivery_time',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96">
                <a:solidFill>
                  <a:srgbClr val="C9C2DA"/>
                </a:solidFill>
                <a:latin typeface="Consolas"/>
              </a:rPr>
              <a:t>                  'payment_method', 'comment')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96">
                <a:solidFill>
                  <a:srgbClr val="C9C2DA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96">
                <a:solidFill>
                  <a:srgbClr val="F26D9B"/>
                </a:solidFill>
                <a:latin typeface="Consolas"/>
              </a:rPr>
              <a:t>    def clean_phone(self):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96">
                <a:solidFill>
                  <a:srgbClr val="A8A2BB"/>
                </a:solidFill>
                <a:latin typeface="Consolas"/>
              </a:rPr>
              <a:t>        # Telefonni bir xil ko'rinishga keltiramiz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96">
                <a:solidFill>
                  <a:srgbClr val="F26D9B"/>
                </a:solidFill>
                <a:latin typeface="Consolas"/>
              </a:rPr>
              <a:t>        return clean_phone_value(self.cleaned_data['phone'])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96">
                <a:solidFill>
                  <a:srgbClr val="C9C2DA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96">
                <a:solidFill>
                  <a:srgbClr val="F26D9B"/>
                </a:solidFill>
                <a:latin typeface="Consolas"/>
              </a:rPr>
              <a:t>    def clean_delivery_date(self):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96">
                <a:solidFill>
                  <a:srgbClr val="C9C2DA"/>
                </a:solidFill>
                <a:latin typeface="Consolas"/>
              </a:rPr>
              <a:t>        date = self.cleaned_data['delivery_date']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96">
                <a:solidFill>
                  <a:srgbClr val="C9C2DA"/>
                </a:solidFill>
                <a:latin typeface="Consolas"/>
              </a:rPr>
              <a:t>        if date &lt; timezone.localdate():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96">
                <a:solidFill>
                  <a:srgbClr val="C9C2DA"/>
                </a:solidFill>
                <a:latin typeface="Consolas"/>
              </a:rPr>
              <a:t>            raise forms.ValidationError("Sana bugundan oldin bo'lmasligi kerak")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96">
                <a:solidFill>
                  <a:srgbClr val="F26D9B"/>
                </a:solidFill>
                <a:latin typeface="Consolas"/>
              </a:rPr>
              <a:t>        return date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1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>
                <a:solidFill>
                  <a:srgbClr val="F26D9B"/>
                </a:solidFill>
                <a:latin typeface="Calibri"/>
              </a:rPr>
              <a:t>APP 4 · FORM 2/2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76656"/>
            <a:ext cx="10789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F4F1F7"/>
                </a:solidFill>
                <a:latin typeface="Calibri"/>
              </a:rPr>
              <a:t>orders/forms.py — mijoz yaratish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35024"/>
            <a:ext cx="1371600" cy="54864"/>
          </a:xfrm>
          <a:prstGeom prst="roundRect">
            <a:avLst/>
          </a:prstGeom>
          <a:solidFill>
            <a:srgbClr val="F26D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64240" y="6355080"/>
            <a:ext cx="731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A8A2BB"/>
                </a:solidFill>
                <a:latin typeface="Calibri"/>
              </a:rPr>
              <a:t>35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355080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A8A2BB"/>
                </a:solidFill>
                <a:latin typeface="Calibri"/>
              </a:rPr>
              <a:t>Semurog' Tort Markazi  |  To'liq kod misollari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63040"/>
            <a:ext cx="10817352" cy="4846320"/>
          </a:xfrm>
          <a:prstGeom prst="roundRect">
            <a:avLst/>
          </a:prstGeom>
          <a:solidFill>
            <a:srgbClr val="100D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09344"/>
            <a:ext cx="10360152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A8A2BB"/>
                </a:solidFill>
                <a:latin typeface="Consolas"/>
              </a:rPr>
              <a:t>    # OrderForm klassi ichida davom etadi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F26D9B"/>
                </a:solidFill>
                <a:latin typeface="Consolas"/>
              </a:rPr>
              <a:t>    def get_or_create_client(self):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A8A2BB"/>
                </a:solidFill>
                <a:latin typeface="Consolas"/>
              </a:rPr>
              <a:t>        # Ro'yxatdan o'tmagan mijoz uchun ham Client qatori yaratamiz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C9C2DA"/>
                </a:solidFill>
                <a:latin typeface="Consolas"/>
              </a:rPr>
              <a:t>        phone = self.cleaned_data['phone']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C9C2DA"/>
                </a:solidFill>
                <a:latin typeface="Consolas"/>
              </a:rPr>
              <a:t>        client, created = Client.objects.get_or_create(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C9C2DA"/>
                </a:solidFill>
                <a:latin typeface="Consolas"/>
              </a:rPr>
              <a:t>            phone=phone,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C9C2DA"/>
                </a:solidFill>
                <a:latin typeface="Consolas"/>
              </a:rPr>
              <a:t>            defaults={'full_name': self.cleaned_data['name']},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C9C2DA"/>
                </a:solidFill>
                <a:latin typeface="Consolas"/>
              </a:rPr>
              <a:t>        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C9C2DA"/>
                </a:solidFill>
                <a:latin typeface="Consolas"/>
              </a:rPr>
              <a:t>        if not created: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C9C2DA"/>
                </a:solidFill>
                <a:latin typeface="Consolas"/>
              </a:rPr>
              <a:t>            client.full_name = self.cleaned_data['name']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C9C2DA"/>
                </a:solidFill>
                <a:latin typeface="Consolas"/>
              </a:rPr>
              <a:t>            client.save(update_fields=['full_name'])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F26D9B"/>
                </a:solidFill>
                <a:latin typeface="Consolas"/>
              </a:rPr>
              <a:t>        return client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C9C2DA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C9C2DA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F26D9B"/>
                </a:solidFill>
                <a:latin typeface="Consolas"/>
              </a:rPr>
              <a:t>class CouponForm(forms.Form):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C9C2DA"/>
                </a:solidFill>
                <a:latin typeface="Consolas"/>
              </a:rPr>
              <a:t>    code = forms.CharField(max_length=20)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C9C2DA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A8A2BB"/>
                </a:solidFill>
                <a:latin typeface="Consolas"/>
              </a:rPr>
              <a:t># --- Eslatma ---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A8A2BB"/>
                </a:solidFill>
                <a:latin typeface="Consolas"/>
              </a:rPr>
              <a:t># clean_&lt;maydon&gt;()  — maydon bo'yicha tekshiruv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A8A2BB"/>
                </a:solidFill>
                <a:latin typeface="Consolas"/>
              </a:rPr>
              <a:t># clean()          — butun forma bo'yicha tekshiruv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A8A2BB"/>
                </a:solidFill>
                <a:latin typeface="Consolas"/>
              </a:rPr>
              <a:t># form.errors      — xatolar ro'yxati (shablonga chiqadi)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A8A2BB"/>
                </a:solidFill>
                <a:latin typeface="Consolas"/>
              </a:rPr>
              <a:t># form.cleaned_data — tekshirilgan ma'lumotlar (lug'at)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1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>
                <a:solidFill>
                  <a:srgbClr val="F26D9B"/>
                </a:solidFill>
                <a:latin typeface="Calibri"/>
              </a:rPr>
              <a:t>APP 4 · VIEW 1/3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76656"/>
            <a:ext cx="10789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F4F1F7"/>
                </a:solidFill>
                <a:latin typeface="Calibri"/>
              </a:rPr>
              <a:t>orders/views.py — savat view'lari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35024"/>
            <a:ext cx="1371600" cy="54864"/>
          </a:xfrm>
          <a:prstGeom prst="roundRect">
            <a:avLst/>
          </a:prstGeom>
          <a:solidFill>
            <a:srgbClr val="F26D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64240" y="6355080"/>
            <a:ext cx="731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A8A2BB"/>
                </a:solidFill>
                <a:latin typeface="Calibri"/>
              </a:rPr>
              <a:t>36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355080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A8A2BB"/>
                </a:solidFill>
                <a:latin typeface="Calibri"/>
              </a:rPr>
              <a:t>Semurog' Tort Markazi  |  To'liq kod misollari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63040"/>
            <a:ext cx="10817352" cy="4846320"/>
          </a:xfrm>
          <a:prstGeom prst="roundRect">
            <a:avLst/>
          </a:prstGeom>
          <a:solidFill>
            <a:srgbClr val="100D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09344"/>
            <a:ext cx="10360152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69">
                <a:solidFill>
                  <a:srgbClr val="F26D9B"/>
                </a:solidFill>
                <a:latin typeface="Consolas"/>
              </a:rPr>
              <a:t>from django.shortcuts import render, redirect, get_object_or_404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69">
                <a:solidFill>
                  <a:srgbClr val="F26D9B"/>
                </a:solidFill>
                <a:latin typeface="Consolas"/>
              </a:rPr>
              <a:t>from django.contrib.auth.decorators import login_required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69">
                <a:solidFill>
                  <a:srgbClr val="F26D9B"/>
                </a:solidFill>
                <a:latin typeface="Consolas"/>
              </a:rPr>
              <a:t>from django.db import transaction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69">
                <a:solidFill>
                  <a:srgbClr val="F26D9B"/>
                </a:solidFill>
                <a:latin typeface="Consolas"/>
              </a:rPr>
              <a:t>from django.contrib import messages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69">
                <a:solidFill>
                  <a:srgbClr val="F26D9B"/>
                </a:solidFill>
                <a:latin typeface="Consolas"/>
              </a:rPr>
              <a:t>from . import cart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69">
                <a:solidFill>
                  <a:srgbClr val="F26D9B"/>
                </a:solidFill>
                <a:latin typeface="Consolas"/>
              </a:rPr>
              <a:t>from .models import Order, OrderItem, PromoCode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69">
                <a:solidFill>
                  <a:srgbClr val="F26D9B"/>
                </a:solidFill>
                <a:latin typeface="Consolas"/>
              </a:rPr>
              <a:t>from .forms import OrderForm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69">
                <a:solidFill>
                  <a:srgbClr val="F26D9B"/>
                </a:solidFill>
                <a:latin typeface="Consolas"/>
              </a:rPr>
              <a:t>from .services import send_order_to_telegram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69">
                <a:solidFill>
                  <a:srgbClr val="C9C2DA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69">
                <a:solidFill>
                  <a:srgbClr val="C9C2DA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69">
                <a:solidFill>
                  <a:srgbClr val="F26D9B"/>
                </a:solidFill>
                <a:latin typeface="Consolas"/>
              </a:rPr>
              <a:t>def cart_view(request):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69">
                <a:solidFill>
                  <a:srgbClr val="C9C2DA"/>
                </a:solidFill>
                <a:latin typeface="Consolas"/>
              </a:rPr>
              <a:t>    rows, total = cart.rows(request)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69">
                <a:solidFill>
                  <a:srgbClr val="F26D9B"/>
                </a:solidFill>
                <a:latin typeface="Consolas"/>
              </a:rPr>
              <a:t>    return render(request, 'orders/cart.html', {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69">
                <a:solidFill>
                  <a:srgbClr val="C9C2DA"/>
                </a:solidFill>
                <a:latin typeface="Consolas"/>
              </a:rPr>
              <a:t>        'rows': rows, 'total': total, 'count': cart.count(request)})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69">
                <a:solidFill>
                  <a:srgbClr val="C9C2DA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69">
                <a:solidFill>
                  <a:srgbClr val="C9C2DA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69">
                <a:solidFill>
                  <a:srgbClr val="F26D9B"/>
                </a:solidFill>
                <a:latin typeface="Consolas"/>
              </a:rPr>
              <a:t>def cart_add(request, pk):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69">
                <a:solidFill>
                  <a:srgbClr val="C9C2DA"/>
                </a:solidFill>
                <a:latin typeface="Consolas"/>
              </a:rPr>
              <a:t>    cart.add(request, pk)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69">
                <a:solidFill>
                  <a:srgbClr val="C9C2DA"/>
                </a:solidFill>
                <a:latin typeface="Consolas"/>
              </a:rPr>
              <a:t>    messages.success(request, "Savatga qo'shildi")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69">
                <a:solidFill>
                  <a:srgbClr val="A8A2BB"/>
                </a:solidFill>
                <a:latin typeface="Consolas"/>
              </a:rPr>
              <a:t>    # "Sotib olish" tugmasi yoki kartadan — qayerdan bosilsa, o'shaga qaytadi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69">
                <a:solidFill>
                  <a:srgbClr val="F26D9B"/>
                </a:solidFill>
                <a:latin typeface="Consolas"/>
              </a:rPr>
              <a:t>    return redirect(request.POST.get('next') or 'orders:cart')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69">
                <a:solidFill>
                  <a:srgbClr val="C9C2DA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69">
                <a:solidFill>
                  <a:srgbClr val="C9C2DA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69">
                <a:solidFill>
                  <a:srgbClr val="F26D9B"/>
                </a:solidFill>
                <a:latin typeface="Consolas"/>
              </a:rPr>
              <a:t>def cart_update(request, pk):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69">
                <a:solidFill>
                  <a:srgbClr val="A8A2BB"/>
                </a:solidFill>
                <a:latin typeface="Consolas"/>
              </a:rPr>
              <a:t>    # Faqat son raqamini o'qiydi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69">
                <a:solidFill>
                  <a:srgbClr val="C9C2DA"/>
                </a:solidFill>
                <a:latin typeface="Consolas"/>
              </a:rPr>
              <a:t>    qty = int(request.POST.get('quantity', 1))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69">
                <a:solidFill>
                  <a:srgbClr val="C9C2DA"/>
                </a:solidFill>
                <a:latin typeface="Consolas"/>
              </a:rPr>
              <a:t>    cart.update(request, pk, qty)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69">
                <a:solidFill>
                  <a:srgbClr val="F26D9B"/>
                </a:solidFill>
                <a:latin typeface="Consolas"/>
              </a:rPr>
              <a:t>    return redirect('orders:cart')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69">
                <a:solidFill>
                  <a:srgbClr val="C9C2DA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69">
                <a:solidFill>
                  <a:srgbClr val="C9C2DA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69">
                <a:solidFill>
                  <a:srgbClr val="F26D9B"/>
                </a:solidFill>
                <a:latin typeface="Consolas"/>
              </a:rPr>
              <a:t>def cart_remove(request, pk):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69">
                <a:solidFill>
                  <a:srgbClr val="C9C2DA"/>
                </a:solidFill>
                <a:latin typeface="Consolas"/>
              </a:rPr>
              <a:t>    cart.remove(request, pk)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69">
                <a:solidFill>
                  <a:srgbClr val="F26D9B"/>
                </a:solidFill>
                <a:latin typeface="Consolas"/>
              </a:rPr>
              <a:t>    return redirect('orders:cart')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1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>
                <a:solidFill>
                  <a:srgbClr val="F26D9B"/>
                </a:solidFill>
                <a:latin typeface="Calibri"/>
              </a:rPr>
              <a:t>APP 4 · VIEW 2/3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76656"/>
            <a:ext cx="10789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F4F1F7"/>
                </a:solidFill>
                <a:latin typeface="Calibri"/>
              </a:rPr>
              <a:t>orders/views.py — checkout (buyurtmani saqlash)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35024"/>
            <a:ext cx="1371600" cy="54864"/>
          </a:xfrm>
          <a:prstGeom prst="roundRect">
            <a:avLst/>
          </a:prstGeom>
          <a:solidFill>
            <a:srgbClr val="F26D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64240" y="6355080"/>
            <a:ext cx="731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A8A2BB"/>
                </a:solidFill>
                <a:latin typeface="Calibri"/>
              </a:rPr>
              <a:t>37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355080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A8A2BB"/>
                </a:solidFill>
                <a:latin typeface="Calibri"/>
              </a:rPr>
              <a:t>Semurog' Tort Markazi  |  To'liq kod misollari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63040"/>
            <a:ext cx="10817352" cy="4846320"/>
          </a:xfrm>
          <a:prstGeom prst="roundRect">
            <a:avLst/>
          </a:prstGeom>
          <a:solidFill>
            <a:srgbClr val="100D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09344"/>
            <a:ext cx="10360152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95">
                <a:solidFill>
                  <a:srgbClr val="F26D9B"/>
                </a:solidFill>
                <a:latin typeface="Consolas"/>
              </a:rPr>
              <a:t>def checkout(request):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95">
                <a:solidFill>
                  <a:srgbClr val="C9C2DA"/>
                </a:solidFill>
                <a:latin typeface="Consolas"/>
              </a:rPr>
              <a:t>    rows, total = cart.rows(request)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95">
                <a:solidFill>
                  <a:srgbClr val="C9C2DA"/>
                </a:solidFill>
                <a:latin typeface="Consolas"/>
              </a:rPr>
              <a:t>    if not rows: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95">
                <a:solidFill>
                  <a:srgbClr val="F26D9B"/>
                </a:solidFill>
                <a:latin typeface="Consolas"/>
              </a:rPr>
              <a:t>        return redirect('cakes:list')        # savat bo'sh bo'lsa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95">
                <a:solidFill>
                  <a:srgbClr val="C9C2DA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95">
                <a:solidFill>
                  <a:srgbClr val="C9C2DA"/>
                </a:solidFill>
                <a:latin typeface="Consolas"/>
              </a:rPr>
              <a:t>    if request.method == 'POST':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95">
                <a:solidFill>
                  <a:srgbClr val="C9C2DA"/>
                </a:solidFill>
                <a:latin typeface="Consolas"/>
              </a:rPr>
              <a:t>        form = OrderForm(request.POST)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95">
                <a:solidFill>
                  <a:srgbClr val="C9C2DA"/>
                </a:solidFill>
                <a:latin typeface="Consolas"/>
              </a:rPr>
              <a:t>        if form.is_valid():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95">
                <a:solidFill>
                  <a:srgbClr val="A8A2BB"/>
                </a:solidFill>
                <a:latin typeface="Consolas"/>
              </a:rPr>
              <a:t>            # Hammasi saqlansin yoki hech narsa saqlanmasin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95">
                <a:solidFill>
                  <a:srgbClr val="C9C2DA"/>
                </a:solidFill>
                <a:latin typeface="Consolas"/>
              </a:rPr>
              <a:t>            with transaction.atomic():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95">
                <a:solidFill>
                  <a:srgbClr val="C9C2DA"/>
                </a:solidFill>
                <a:latin typeface="Consolas"/>
              </a:rPr>
              <a:t>                client = form.get_or_create_client()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95">
                <a:solidFill>
                  <a:srgbClr val="C9C2DA"/>
                </a:solidFill>
                <a:latin typeface="Consolas"/>
              </a:rPr>
              <a:t>                order = Order.objects.create(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95">
                <a:solidFill>
                  <a:srgbClr val="C9C2DA"/>
                </a:solidFill>
                <a:latin typeface="Consolas"/>
              </a:rPr>
              <a:t>                    client=client,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95">
                <a:solidFill>
                  <a:srgbClr val="C9C2DA"/>
                </a:solidFill>
                <a:latin typeface="Consolas"/>
              </a:rPr>
              <a:t>                    delivery_address=form.cleaned_data['delivery_address'],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95">
                <a:solidFill>
                  <a:srgbClr val="C9C2DA"/>
                </a:solidFill>
                <a:latin typeface="Consolas"/>
              </a:rPr>
              <a:t>                    delivery_date=form.cleaned_data['delivery_date'],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95">
                <a:solidFill>
                  <a:srgbClr val="C9C2DA"/>
                </a:solidFill>
                <a:latin typeface="Consolas"/>
              </a:rPr>
              <a:t>                    delivery_time=form.cleaned_data.get('delivery_time'),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95">
                <a:solidFill>
                  <a:srgbClr val="C9C2DA"/>
                </a:solidFill>
                <a:latin typeface="Consolas"/>
              </a:rPr>
              <a:t>                    payment_method=form.cleaned_data['payment_method'],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95">
                <a:solidFill>
                  <a:srgbClr val="C9C2DA"/>
                </a:solidFill>
                <a:latin typeface="Consolas"/>
              </a:rPr>
              <a:t>                    comment=form.cleaned_data.get('comment', ''),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95">
                <a:solidFill>
                  <a:srgbClr val="C9C2DA"/>
                </a:solidFill>
                <a:latin typeface="Consolas"/>
              </a:rPr>
              <a:t>                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95">
                <a:solidFill>
                  <a:srgbClr val="C9C2DA"/>
                </a:solidFill>
                <a:latin typeface="Consolas"/>
              </a:rPr>
              <a:t>                for row in rows: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95">
                <a:solidFill>
                  <a:srgbClr val="C9C2DA"/>
                </a:solidFill>
                <a:latin typeface="Consolas"/>
              </a:rPr>
              <a:t>                    OrderItem.objects.create(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95">
                <a:solidFill>
                  <a:srgbClr val="C9C2DA"/>
                </a:solidFill>
                <a:latin typeface="Consolas"/>
              </a:rPr>
              <a:t>                        order=order, cake=row['cake'],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95">
                <a:solidFill>
                  <a:srgbClr val="C9C2DA"/>
                </a:solidFill>
                <a:latin typeface="Consolas"/>
              </a:rPr>
              <a:t>                        quantity=row['quantity'],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95">
                <a:solidFill>
                  <a:srgbClr val="C9C2DA"/>
                </a:solidFill>
                <a:latin typeface="Consolas"/>
              </a:rPr>
              <a:t>                        price=row['cake'].price)   # narx shu vaqtga qayd etiladi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1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>
                <a:solidFill>
                  <a:srgbClr val="F26D9B"/>
                </a:solidFill>
                <a:latin typeface="Calibri"/>
              </a:rPr>
              <a:t>APP 4 · VIEW 3/3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76656"/>
            <a:ext cx="10789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F4F1F7"/>
                </a:solidFill>
                <a:latin typeface="Calibri"/>
              </a:rPr>
              <a:t>orders/views.py — promo va natija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35024"/>
            <a:ext cx="1371600" cy="54864"/>
          </a:xfrm>
          <a:prstGeom prst="roundRect">
            <a:avLst/>
          </a:prstGeom>
          <a:solidFill>
            <a:srgbClr val="F26D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64240" y="6355080"/>
            <a:ext cx="731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A8A2BB"/>
                </a:solidFill>
                <a:latin typeface="Calibri"/>
              </a:rPr>
              <a:t>38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355080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A8A2BB"/>
                </a:solidFill>
                <a:latin typeface="Calibri"/>
              </a:rPr>
              <a:t>Semurog' Tort Markazi  |  To'liq kod misollari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63040"/>
            <a:ext cx="10817352" cy="4846320"/>
          </a:xfrm>
          <a:prstGeom prst="roundRect">
            <a:avLst/>
          </a:prstGeom>
          <a:solidFill>
            <a:srgbClr val="100D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09344"/>
            <a:ext cx="10360152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47">
                <a:solidFill>
                  <a:srgbClr val="A8A2BB"/>
                </a:solidFill>
                <a:latin typeface="Consolas"/>
              </a:rPr>
              <a:t>    # checkout() funksiyasi shu yerda davom etadi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47">
                <a:solidFill>
                  <a:srgbClr val="C9C2DA"/>
                </a:solidFill>
                <a:latin typeface="Consolas"/>
              </a:rPr>
              <a:t>                code_str = form.cleaned_data.get('promo_code', '').strip()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47">
                <a:solidFill>
                  <a:srgbClr val="C9C2DA"/>
                </a:solidFill>
                <a:latin typeface="Consolas"/>
              </a:rPr>
              <a:t>                if code_str: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47">
                <a:solidFill>
                  <a:srgbClr val="C9C2DA"/>
                </a:solidFill>
                <a:latin typeface="Consolas"/>
              </a:rPr>
              <a:t>                    promo = PromoCode.objects.filter(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47">
                <a:solidFill>
                  <a:srgbClr val="C9C2DA"/>
                </a:solidFill>
                <a:latin typeface="Consolas"/>
              </a:rPr>
              <a:t>                        code=code_str.upper(), is_active=True).first()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47">
                <a:solidFill>
                  <a:srgbClr val="C9C2DA"/>
                </a:solidFill>
                <a:latin typeface="Consolas"/>
              </a:rPr>
              <a:t>                    if promo and promo.is_valid(total):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47">
                <a:solidFill>
                  <a:srgbClr val="C9C2DA"/>
                </a:solidFill>
                <a:latin typeface="Consolas"/>
              </a:rPr>
              <a:t>                        order.promo_code = promo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47">
                <a:solidFill>
                  <a:srgbClr val="C9C2DA"/>
                </a:solidFill>
                <a:latin typeface="Consolas"/>
              </a:rPr>
              <a:t>                        promo.used_count += 1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47">
                <a:solidFill>
                  <a:srgbClr val="C9C2DA"/>
                </a:solidFill>
                <a:latin typeface="Consolas"/>
              </a:rPr>
              <a:t>                        promo.save(update_fields=['used_count'])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47">
                <a:solidFill>
                  <a:srgbClr val="C9C2DA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47">
                <a:solidFill>
                  <a:srgbClr val="C9C2DA"/>
                </a:solidFill>
                <a:latin typeface="Consolas"/>
              </a:rPr>
              <a:t>                order.recalc_total()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47">
                <a:solidFill>
                  <a:srgbClr val="C9C2DA"/>
                </a:solidFill>
                <a:latin typeface="Consolas"/>
              </a:rPr>
              <a:t>                cart.clear(request)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47">
                <a:solidFill>
                  <a:srgbClr val="C9C2DA"/>
                </a:solidFill>
                <a:latin typeface="Consolas"/>
              </a:rPr>
              <a:t>                send_order_to_telegram(order)      # markazga xabar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47">
                <a:solidFill>
                  <a:srgbClr val="F26D9B"/>
                </a:solidFill>
                <a:latin typeface="Consolas"/>
              </a:rPr>
              <a:t>            return redirect('orders:success', pk=order.pk)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47">
                <a:solidFill>
                  <a:srgbClr val="C9C2DA"/>
                </a:solidFill>
                <a:latin typeface="Consolas"/>
              </a:rPr>
              <a:t>    else: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47">
                <a:solidFill>
                  <a:srgbClr val="C9C2DA"/>
                </a:solidFill>
                <a:latin typeface="Consolas"/>
              </a:rPr>
              <a:t>        initial = {}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47">
                <a:solidFill>
                  <a:srgbClr val="C9C2DA"/>
                </a:solidFill>
                <a:latin typeface="Consolas"/>
              </a:rPr>
              <a:t>        if request.user.is_authenticated: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47">
                <a:solidFill>
                  <a:srgbClr val="C9C2DA"/>
                </a:solidFill>
                <a:latin typeface="Consolas"/>
              </a:rPr>
              <a:t>            c = getattr(request.user, 'client', None)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47">
                <a:solidFill>
                  <a:srgbClr val="C9C2DA"/>
                </a:solidFill>
                <a:latin typeface="Consolas"/>
              </a:rPr>
              <a:t>            if c: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47">
                <a:solidFill>
                  <a:srgbClr val="C9C2DA"/>
                </a:solidFill>
                <a:latin typeface="Consolas"/>
              </a:rPr>
              <a:t>                initial = {'name': c.full_name, 'phone': c.phone,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47">
                <a:solidFill>
                  <a:srgbClr val="C9C2DA"/>
                </a:solidFill>
                <a:latin typeface="Consolas"/>
              </a:rPr>
              <a:t>                           'delivery_address': c.address}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47">
                <a:solidFill>
                  <a:srgbClr val="C9C2DA"/>
                </a:solidFill>
                <a:latin typeface="Consolas"/>
              </a:rPr>
              <a:t>        form = OrderForm(initial=initial)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47">
                <a:solidFill>
                  <a:srgbClr val="C9C2DA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47">
                <a:solidFill>
                  <a:srgbClr val="F26D9B"/>
                </a:solidFill>
                <a:latin typeface="Consolas"/>
              </a:rPr>
              <a:t>    return render(request, 'orders/checkout.html',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47">
                <a:solidFill>
                  <a:srgbClr val="C9C2DA"/>
                </a:solidFill>
                <a:latin typeface="Consolas"/>
              </a:rPr>
              <a:t>                  {'form': form, 'rows': rows, 'total': total})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1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>
                <a:solidFill>
                  <a:srgbClr val="F26D9B"/>
                </a:solidFill>
                <a:latin typeface="Calibri"/>
              </a:rPr>
              <a:t>APP 4 · VIEW 4/4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76656"/>
            <a:ext cx="10789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F4F1F7"/>
                </a:solidFill>
                <a:latin typeface="Calibri"/>
              </a:rPr>
              <a:t>orders/views.py — natija va buyurtmalarim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35024"/>
            <a:ext cx="1371600" cy="54864"/>
          </a:xfrm>
          <a:prstGeom prst="roundRect">
            <a:avLst/>
          </a:prstGeom>
          <a:solidFill>
            <a:srgbClr val="F26D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64240" y="6355080"/>
            <a:ext cx="731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A8A2BB"/>
                </a:solidFill>
                <a:latin typeface="Calibri"/>
              </a:rPr>
              <a:t>39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355080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A8A2BB"/>
                </a:solidFill>
                <a:latin typeface="Calibri"/>
              </a:rPr>
              <a:t>Semurog' Tort Markazi  |  To'liq kod misollari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63040"/>
            <a:ext cx="10817352" cy="4846320"/>
          </a:xfrm>
          <a:prstGeom prst="roundRect">
            <a:avLst/>
          </a:prstGeom>
          <a:solidFill>
            <a:srgbClr val="100D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09344"/>
            <a:ext cx="10360152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F26D9B"/>
                </a:solidFill>
                <a:latin typeface="Consolas"/>
              </a:rPr>
              <a:t>@login_required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F26D9B"/>
                </a:solidFill>
                <a:latin typeface="Consolas"/>
              </a:rPr>
              <a:t>def success(request, pk):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C9C2DA"/>
                </a:solidFill>
                <a:latin typeface="Consolas"/>
              </a:rPr>
              <a:t>    order = get_object_or_404(Order, pk=pk)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F26D9B"/>
                </a:solidFill>
                <a:latin typeface="Consolas"/>
              </a:rPr>
              <a:t>    return render(request, 'orders/success.html', {'order': order})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C9C2DA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C9C2DA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F26D9B"/>
                </a:solidFill>
                <a:latin typeface="Consolas"/>
              </a:rPr>
              <a:t>@login_required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F26D9B"/>
                </a:solidFill>
                <a:latin typeface="Consolas"/>
              </a:rPr>
              <a:t>def my_orders(request):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A8A2BB"/>
                </a:solidFill>
                <a:latin typeface="Consolas"/>
              </a:rPr>
              <a:t>    # request.user orqali Client profiliga ulanadi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C9C2DA"/>
                </a:solidFill>
                <a:latin typeface="Consolas"/>
              </a:rPr>
              <a:t>    client = getattr(request.user, 'client', None)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C9C2DA"/>
                </a:solidFill>
                <a:latin typeface="Consolas"/>
              </a:rPr>
              <a:t>    orders = client.orders.all() if client else Order.objects.none()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F26D9B"/>
                </a:solidFill>
                <a:latin typeface="Consolas"/>
              </a:rPr>
              <a:t>    return render(request, 'orders/my_orders.html', {'orders': orders})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C9C2DA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C9C2DA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A8A2BB"/>
                </a:solidFill>
                <a:latin typeface="Consolas"/>
              </a:rPr>
              <a:t># --- Eslatma ---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A8A2BB"/>
                </a:solidFill>
                <a:latin typeface="Consolas"/>
              </a:rPr>
              <a:t># get_object_or_404 — yo'q bo'lsa 404 sahifasi (Order.DoesNotExist dan saqlaydi)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A8A2BB"/>
                </a:solidFill>
                <a:latin typeface="Consolas"/>
              </a:rPr>
              <a:t># getattr(request.user, 'client', None) — profil bo'lmasa None qaytaradi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A8A2BB"/>
                </a:solidFill>
                <a:latin typeface="Consolas"/>
              </a:rPr>
              <a:t># Order.objects.none() — bo'sh queryset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1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>
                <a:solidFill>
                  <a:srgbClr val="F26D9B"/>
                </a:solidFill>
                <a:latin typeface="Calibri"/>
              </a:rPr>
              <a:t>APP 4 · ADMIN 1/2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76656"/>
            <a:ext cx="10789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F4F1F7"/>
                </a:solidFill>
                <a:latin typeface="Calibri"/>
              </a:rPr>
              <a:t>orders/admin.py — buyurtmalar ro'yxati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35024"/>
            <a:ext cx="1371600" cy="54864"/>
          </a:xfrm>
          <a:prstGeom prst="roundRect">
            <a:avLst/>
          </a:prstGeom>
          <a:solidFill>
            <a:srgbClr val="F26D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64240" y="6355080"/>
            <a:ext cx="731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A8A2BB"/>
                </a:solidFill>
                <a:latin typeface="Calibri"/>
              </a:rPr>
              <a:t>40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355080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A8A2BB"/>
                </a:solidFill>
                <a:latin typeface="Calibri"/>
              </a:rPr>
              <a:t>Semurog' Tort Markazi  |  To'liq kod misollari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63040"/>
            <a:ext cx="10817352" cy="4846320"/>
          </a:xfrm>
          <a:prstGeom prst="roundRect">
            <a:avLst/>
          </a:prstGeom>
          <a:solidFill>
            <a:srgbClr val="100D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09344"/>
            <a:ext cx="10360152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3">
                <a:solidFill>
                  <a:srgbClr val="F26D9B"/>
                </a:solidFill>
                <a:latin typeface="Consolas"/>
              </a:rPr>
              <a:t>from django.contrib import admin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3">
                <a:solidFill>
                  <a:srgbClr val="F26D9B"/>
                </a:solidFill>
                <a:latin typeface="Consolas"/>
              </a:rPr>
              <a:t>from .models import Order, OrderItem, PromoCode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3">
                <a:solidFill>
                  <a:srgbClr val="C9C2DA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3">
                <a:solidFill>
                  <a:srgbClr val="C9C2DA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3">
                <a:solidFill>
                  <a:srgbClr val="F26D9B"/>
                </a:solidFill>
                <a:latin typeface="Consolas"/>
              </a:rPr>
              <a:t>class OrderItemInline(admin.TabularInline):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3">
                <a:solidFill>
                  <a:srgbClr val="A8A2BB"/>
                </a:solidFill>
                <a:latin typeface="Consolas"/>
              </a:rPr>
              <a:t>    # Buyurtma sahifasida tortlar ro'yxati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3">
                <a:solidFill>
                  <a:srgbClr val="C9C2DA"/>
                </a:solidFill>
                <a:latin typeface="Consolas"/>
              </a:rPr>
              <a:t>    model = OrderItem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3">
                <a:solidFill>
                  <a:srgbClr val="C9C2DA"/>
                </a:solidFill>
                <a:latin typeface="Consolas"/>
              </a:rPr>
              <a:t>    extra = 0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3">
                <a:solidFill>
                  <a:srgbClr val="C9C2DA"/>
                </a:solidFill>
                <a:latin typeface="Consolas"/>
              </a:rPr>
              <a:t>    readonly_fields = ('subtotal',)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3">
                <a:solidFill>
                  <a:srgbClr val="C9C2DA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3">
                <a:solidFill>
                  <a:srgbClr val="C9C2DA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3">
                <a:solidFill>
                  <a:srgbClr val="F26D9B"/>
                </a:solidFill>
                <a:latin typeface="Consolas"/>
              </a:rPr>
              <a:t>@admin.register(Order)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3">
                <a:solidFill>
                  <a:srgbClr val="F26D9B"/>
                </a:solidFill>
                <a:latin typeface="Consolas"/>
              </a:rPr>
              <a:t>class OrderAdmin(admin.ModelAdmin):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3">
                <a:solidFill>
                  <a:srgbClr val="C9C2DA"/>
                </a:solidFill>
                <a:latin typeface="Consolas"/>
              </a:rPr>
              <a:t>    list_display = ('id', 'created_at', 'client', 'phone', 'total_price',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3">
                <a:solidFill>
                  <a:srgbClr val="C9C2DA"/>
                </a:solidFill>
                <a:latin typeface="Consolas"/>
              </a:rPr>
              <a:t>                    'status', 'is_paid', 'delivery_date')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3">
                <a:solidFill>
                  <a:srgbClr val="C9C2DA"/>
                </a:solidFill>
                <a:latin typeface="Consolas"/>
              </a:rPr>
              <a:t>    list_filter = ('status', 'is_paid', 'payment_method', 'delivery_date')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3">
                <a:solidFill>
                  <a:srgbClr val="C9C2DA"/>
                </a:solidFill>
                <a:latin typeface="Consolas"/>
              </a:rPr>
              <a:t>    list_editable = ('status', 'is_paid')      # ro'yxatdan to'g'rilash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3">
                <a:solidFill>
                  <a:srgbClr val="C9C2DA"/>
                </a:solidFill>
                <a:latin typeface="Consolas"/>
              </a:rPr>
              <a:t>    search_fields = ('id', 'client__full_name', 'client__phone')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3">
                <a:solidFill>
                  <a:srgbClr val="C9C2DA"/>
                </a:solidFill>
                <a:latin typeface="Consolas"/>
              </a:rPr>
              <a:t>    date_hierarchy = 'created_at'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3">
                <a:solidFill>
                  <a:srgbClr val="C9C2DA"/>
                </a:solidFill>
                <a:latin typeface="Consolas"/>
              </a:rPr>
              <a:t>    list_select_related = ('client',)          # so'rovlar kamayadi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3">
                <a:solidFill>
                  <a:srgbClr val="C9C2DA"/>
                </a:solidFill>
                <a:latin typeface="Consolas"/>
              </a:rPr>
              <a:t>    inlines = [OrderItemInline]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3">
                <a:solidFill>
                  <a:srgbClr val="C9C2DA"/>
                </a:solidFill>
                <a:latin typeface="Consolas"/>
              </a:rPr>
              <a:t>    readonly_fields = ('total_price', 'created_at', 'updated_at')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3">
                <a:solidFill>
                  <a:srgbClr val="C9C2DA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3">
                <a:solidFill>
                  <a:srgbClr val="F26D9B"/>
                </a:solidFill>
                <a:latin typeface="Consolas"/>
              </a:rPr>
              <a:t>    @admin.display(description="Telefon", ordering='client__phone')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3">
                <a:solidFill>
                  <a:srgbClr val="F26D9B"/>
                </a:solidFill>
                <a:latin typeface="Consolas"/>
              </a:rPr>
              <a:t>    def phone(self, obj):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3">
                <a:solidFill>
                  <a:srgbClr val="F26D9B"/>
                </a:solidFill>
                <a:latin typeface="Consolas"/>
              </a:rPr>
              <a:t>        return obj.client.phone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1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>
                <a:solidFill>
                  <a:srgbClr val="F26D9B"/>
                </a:solidFill>
                <a:latin typeface="Calibri"/>
              </a:rPr>
              <a:t>APP 4 · ADMIN 2/2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76656"/>
            <a:ext cx="10789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F4F1F7"/>
                </a:solidFill>
                <a:latin typeface="Calibri"/>
              </a:rPr>
              <a:t>orders/admin.py — maxsus imkoniyatlar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35024"/>
            <a:ext cx="1371600" cy="54864"/>
          </a:xfrm>
          <a:prstGeom prst="roundRect">
            <a:avLst/>
          </a:prstGeom>
          <a:solidFill>
            <a:srgbClr val="F26D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64240" y="6355080"/>
            <a:ext cx="731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A8A2BB"/>
                </a:solidFill>
                <a:latin typeface="Calibri"/>
              </a:rPr>
              <a:t>41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355080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A8A2BB"/>
                </a:solidFill>
                <a:latin typeface="Calibri"/>
              </a:rPr>
              <a:t>Semurog' Tort Markazi  |  To'liq kod misollari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63040"/>
            <a:ext cx="10817352" cy="4846320"/>
          </a:xfrm>
          <a:prstGeom prst="roundRect">
            <a:avLst/>
          </a:prstGeom>
          <a:solidFill>
            <a:srgbClr val="100D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09344"/>
            <a:ext cx="10360152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47">
                <a:solidFill>
                  <a:srgbClr val="A8A2BB"/>
                </a:solidFill>
                <a:latin typeface="Consolas"/>
              </a:rPr>
              <a:t>    # OrderAdmin klassi ichida davom etadi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47">
                <a:solidFill>
                  <a:srgbClr val="F26D9B"/>
                </a:solidFill>
                <a:latin typeface="Consolas"/>
              </a:rPr>
              <a:t>    def has_delete_permission(self, request, obj=None):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47">
                <a:solidFill>
                  <a:srgbClr val="F26D9B"/>
                </a:solidFill>
                <a:latin typeface="Consolas"/>
              </a:rPr>
              <a:t>        return False        # buyurtmalarni o'chirib bo'lmaydi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47">
                <a:solidFill>
                  <a:srgbClr val="C9C2DA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47">
                <a:solidFill>
                  <a:srgbClr val="F26D9B"/>
                </a:solidFill>
                <a:latin typeface="Consolas"/>
              </a:rPr>
              <a:t>    def get_queryset(self, request):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47">
                <a:solidFill>
                  <a:srgbClr val="F26D9B"/>
                </a:solidFill>
                <a:latin typeface="Consolas"/>
              </a:rPr>
              <a:t>        return super().get_queryset(request).select_related('client')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47">
                <a:solidFill>
                  <a:srgbClr val="C9C2DA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47">
                <a:solidFill>
                  <a:srgbClr val="C9C2DA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47">
                <a:solidFill>
                  <a:srgbClr val="F26D9B"/>
                </a:solidFill>
                <a:latin typeface="Consolas"/>
              </a:rPr>
              <a:t>@admin.register(OrderItem)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47">
                <a:solidFill>
                  <a:srgbClr val="F26D9B"/>
                </a:solidFill>
                <a:latin typeface="Consolas"/>
              </a:rPr>
              <a:t>class OrderItemAdmin(admin.ModelAdmin):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47">
                <a:solidFill>
                  <a:srgbClr val="C9C2DA"/>
                </a:solidFill>
                <a:latin typeface="Consolas"/>
              </a:rPr>
              <a:t>    list_display = ('order', 'cake', 'quantity', 'price', 'subtotal')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47">
                <a:solidFill>
                  <a:srgbClr val="C9C2DA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47">
                <a:solidFill>
                  <a:srgbClr val="C9C2DA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47">
                <a:solidFill>
                  <a:srgbClr val="F26D9B"/>
                </a:solidFill>
                <a:latin typeface="Consolas"/>
              </a:rPr>
              <a:t>@admin.register(PromoCode)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47">
                <a:solidFill>
                  <a:srgbClr val="F26D9B"/>
                </a:solidFill>
                <a:latin typeface="Consolas"/>
              </a:rPr>
              <a:t>class PromoCodeAdmin(admin.ModelAdmin):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47">
                <a:solidFill>
                  <a:srgbClr val="C9C2DA"/>
                </a:solidFill>
                <a:latin typeface="Consolas"/>
              </a:rPr>
              <a:t>    list_display = ('code', 'discount_percent', 'min_order_sum',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47">
                <a:solidFill>
                  <a:srgbClr val="C9C2DA"/>
                </a:solidFill>
                <a:latin typeface="Consolas"/>
              </a:rPr>
              <a:t>                    'is_active', 'used_count')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47">
                <a:solidFill>
                  <a:srgbClr val="C9C2DA"/>
                </a:solidFill>
                <a:latin typeface="Consolas"/>
              </a:rPr>
              <a:t>    list_editable = ('is_active',)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47">
                <a:solidFill>
                  <a:srgbClr val="C9C2DA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47">
                <a:solidFill>
                  <a:srgbClr val="C9C2DA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47">
                <a:solidFill>
                  <a:srgbClr val="A8A2BB"/>
                </a:solidFill>
                <a:latin typeface="Consolas"/>
              </a:rPr>
              <a:t># --- Qo'shimcha imkoniyatlar ---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47">
                <a:solidFill>
                  <a:srgbClr val="A8A2BB"/>
                </a:solidFill>
                <a:latin typeface="Consolas"/>
              </a:rPr>
              <a:t># date_hierarchy      — sanalar bo'yicha navigatsiya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47">
                <a:solidFill>
                  <a:srgbClr val="A8A2BB"/>
                </a:solidFill>
                <a:latin typeface="Consolas"/>
              </a:rPr>
              <a:t># @admin.display      — metod ustunini nomlash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47">
                <a:solidFill>
                  <a:srgbClr val="A8A2BB"/>
                </a:solidFill>
                <a:latin typeface="Consolas"/>
              </a:rPr>
              <a:t># has_delete_permission — o'chirishni taqiqlash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47">
                <a:solidFill>
                  <a:srgbClr val="A8A2BB"/>
                </a:solidFill>
                <a:latin typeface="Consolas"/>
              </a:rPr>
              <a:t># actions = ['mark_paid'] — ro'yxat ustida ommaviy amal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1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>
                <a:solidFill>
                  <a:srgbClr val="F26D9B"/>
                </a:solidFill>
                <a:latin typeface="Calibri"/>
              </a:rPr>
              <a:t>APP 4 · URL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76656"/>
            <a:ext cx="10789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F4F1F7"/>
                </a:solidFill>
                <a:latin typeface="Calibri"/>
              </a:rPr>
              <a:t>orders/urls.py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35024"/>
            <a:ext cx="1371600" cy="54864"/>
          </a:xfrm>
          <a:prstGeom prst="roundRect">
            <a:avLst/>
          </a:prstGeom>
          <a:solidFill>
            <a:srgbClr val="F26D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64240" y="6355080"/>
            <a:ext cx="731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A8A2BB"/>
                </a:solidFill>
                <a:latin typeface="Calibri"/>
              </a:rPr>
              <a:t>42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355080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A8A2BB"/>
                </a:solidFill>
                <a:latin typeface="Calibri"/>
              </a:rPr>
              <a:t>Semurog' Tort Markazi  |  To'liq kod misollari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554480"/>
            <a:ext cx="10817352" cy="2926080"/>
          </a:xfrm>
          <a:prstGeom prst="roundRect">
            <a:avLst/>
          </a:prstGeom>
          <a:solidFill>
            <a:srgbClr val="100D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00784"/>
            <a:ext cx="10360152" cy="2651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08">
                <a:solidFill>
                  <a:srgbClr val="A8A2BB"/>
                </a:solidFill>
                <a:latin typeface="Consolas"/>
              </a:rPr>
              <a:t># orders/urls.py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08">
                <a:solidFill>
                  <a:srgbClr val="F26D9B"/>
                </a:solidFill>
                <a:latin typeface="Consolas"/>
              </a:rPr>
              <a:t>from django.urls import path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08">
                <a:solidFill>
                  <a:srgbClr val="F26D9B"/>
                </a:solidFill>
                <a:latin typeface="Consolas"/>
              </a:rPr>
              <a:t>from . import views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08">
                <a:solidFill>
                  <a:srgbClr val="C9C2DA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08">
                <a:solidFill>
                  <a:srgbClr val="C9C2DA"/>
                </a:solidFill>
                <a:latin typeface="Consolas"/>
              </a:rPr>
              <a:t>app_name = 'orders'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08">
                <a:solidFill>
                  <a:srgbClr val="C9C2DA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08">
                <a:solidFill>
                  <a:srgbClr val="C9C2DA"/>
                </a:solidFill>
                <a:latin typeface="Consolas"/>
              </a:rPr>
              <a:t>urlpatterns = [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08">
                <a:solidFill>
                  <a:srgbClr val="C9C2DA"/>
                </a:solidFill>
                <a:latin typeface="Consolas"/>
              </a:rPr>
              <a:t>    path('cart/',                 views.cart_view,  name='cart'),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08">
                <a:solidFill>
                  <a:srgbClr val="C9C2DA"/>
                </a:solidFill>
                <a:latin typeface="Consolas"/>
              </a:rPr>
              <a:t>    path('cart/add/&lt;int:pk&gt;/',    views.cart_add,   name='cart_add'),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08">
                <a:solidFill>
                  <a:srgbClr val="C9C2DA"/>
                </a:solidFill>
                <a:latin typeface="Consolas"/>
              </a:rPr>
              <a:t>    path('cart/update/&lt;int:pk&gt;/', views.cart_update, name='cart_update'),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08">
                <a:solidFill>
                  <a:srgbClr val="C9C2DA"/>
                </a:solidFill>
                <a:latin typeface="Consolas"/>
              </a:rPr>
              <a:t>    path('cart/remove/&lt;int:pk&gt;/', views.cart_remove, name='cart_remove'),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08">
                <a:solidFill>
                  <a:srgbClr val="C9C2DA"/>
                </a:solidFill>
                <a:latin typeface="Consolas"/>
              </a:rPr>
              <a:t>    path('checkout/',             views.checkout,   name='checkout'),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08">
                <a:solidFill>
                  <a:srgbClr val="C9C2DA"/>
                </a:solidFill>
                <a:latin typeface="Consolas"/>
              </a:rPr>
              <a:t>    path('success/&lt;int:pk&gt;/',     views.success,    name='success'),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08">
                <a:solidFill>
                  <a:srgbClr val="C9C2DA"/>
                </a:solidFill>
                <a:latin typeface="Consolas"/>
              </a:rPr>
              <a:t>    path('my/',                   views.my_orders,  name='my'),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08">
                <a:solidFill>
                  <a:srgbClr val="C9C2DA"/>
                </a:solidFill>
                <a:latin typeface="Consolas"/>
              </a:rPr>
              <a:t>]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08">
                <a:solidFill>
                  <a:srgbClr val="C9C2DA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08">
                <a:solidFill>
                  <a:srgbClr val="A8A2BB"/>
                </a:solidFill>
                <a:latin typeface="Consolas"/>
              </a:rPr>
              <a:t># --- shablonda ---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08">
                <a:solidFill>
                  <a:srgbClr val="A8A2BB"/>
                </a:solidFill>
                <a:latin typeface="Consolas"/>
              </a:rPr>
              <a:t># &lt;a href="{% url 'orders:cart_add' cake.pk %}"&gt;Savatga&lt;/a&gt;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08">
                <a:solidFill>
                  <a:srgbClr val="A8A2BB"/>
                </a:solidFill>
                <a:latin typeface="Consolas"/>
              </a:rPr>
              <a:t># &lt;form method="post" action="{% url 'orders:cart_update' row.cake.pk %}"&gt;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08">
                <a:solidFill>
                  <a:srgbClr val="A8A2BB"/>
                </a:solidFill>
                <a:latin typeface="Consolas"/>
              </a:rPr>
              <a:t>#   {% csrf_token %}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08">
                <a:solidFill>
                  <a:srgbClr val="A8A2BB"/>
                </a:solidFill>
                <a:latin typeface="Consolas"/>
              </a:rPr>
              <a:t>#   &lt;input type="number" name="quantity" value="{{ row.quantity }}"&gt;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08">
                <a:solidFill>
                  <a:srgbClr val="A8A2BB"/>
                </a:solidFill>
                <a:latin typeface="Consolas"/>
              </a:rPr>
              <a:t>#   &lt;button&gt;Yangilash&lt;/button&gt;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08">
                <a:solidFill>
                  <a:srgbClr val="A8A2BB"/>
                </a:solidFill>
                <a:latin typeface="Consolas"/>
              </a:rPr>
              <a:t># &lt;/form&gt;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4983480"/>
            <a:ext cx="5294376" cy="1371600"/>
          </a:xfrm>
          <a:prstGeom prst="roundRect">
            <a:avLst/>
          </a:prstGeom>
          <a:solidFill>
            <a:srgbClr val="1F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85800" y="4983480"/>
            <a:ext cx="5294376" cy="45720"/>
          </a:xfrm>
          <a:prstGeom prst="roundRect">
            <a:avLst/>
          </a:prstGeom>
          <a:solidFill>
            <a:srgbClr val="F26D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5184648"/>
            <a:ext cx="483717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F26D9B"/>
                </a:solidFill>
                <a:latin typeface="Calibri"/>
              </a:rPr>
              <a:t>&lt;int:pk&gt; nima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696712"/>
            <a:ext cx="4837176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100" b="1">
                <a:solidFill>
                  <a:srgbClr val="F4F1F7"/>
                </a:solidFill>
                <a:latin typeface="Calibri"/>
              </a:rPr>
              <a:t>▸  Bu konverter — URL qismini butun son deb o'qiydi</a:t>
            </a:r>
          </a:p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100" b="1">
                <a:solidFill>
                  <a:srgbClr val="F4F1F7"/>
                </a:solidFill>
                <a:latin typeface="Calibri"/>
              </a:rPr>
              <a:t>▸  &lt;slug:slug&gt; — matn (tort nomlari uchun)</a:t>
            </a:r>
          </a:p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100" b="1">
                <a:solidFill>
                  <a:srgbClr val="F4F1F7"/>
                </a:solidFill>
                <a:latin typeface="Calibri"/>
              </a:rPr>
              <a:t>▸  &lt;int:year&gt; — yil (arxiv uchun)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08776" y="4983480"/>
            <a:ext cx="5294376" cy="1371600"/>
          </a:xfrm>
          <a:prstGeom prst="roundRect">
            <a:avLst/>
          </a:prstGeom>
          <a:solidFill>
            <a:srgbClr val="1F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08776" y="4983480"/>
            <a:ext cx="5294376" cy="45720"/>
          </a:xfrm>
          <a:prstGeom prst="roundRect">
            <a:avLst/>
          </a:prstGeom>
          <a:solidFill>
            <a:srgbClr val="6CC7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37376" y="5184648"/>
            <a:ext cx="483717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6CC7B8"/>
                </a:solidFill>
                <a:latin typeface="Calibri"/>
              </a:rPr>
              <a:t>Xavfsizlik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37376" y="5696712"/>
            <a:ext cx="4837176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100" b="1">
                <a:solidFill>
                  <a:srgbClr val="F4F1F7"/>
                </a:solidFill>
                <a:latin typeface="Calibri"/>
              </a:rPr>
              <a:t>▸  Har doim {% csrf_token %} qo'yish shart</a:t>
            </a:r>
          </a:p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100" b="1">
                <a:solidFill>
                  <a:srgbClr val="F4F1F7"/>
                </a:solidFill>
                <a:latin typeface="Calibri"/>
              </a:rPr>
              <a:t>▸  Faqat POST orqali o'zgartirish (GET da savatni tozalash xavfsiz emas)</a:t>
            </a:r>
          </a:p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100" b="1">
                <a:solidFill>
                  <a:srgbClr val="F4F1F7"/>
                </a:solidFill>
                <a:latin typeface="Calibri"/>
              </a:rPr>
              <a:t>▸  login_required bilan shaxsiy sahifalarni himoya qilish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1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064240" y="6355080"/>
            <a:ext cx="731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A8A2BB"/>
                </a:solidFill>
                <a:latin typeface="Calibri"/>
              </a:rPr>
              <a:t>43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355080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A8A2BB"/>
                </a:solidFill>
                <a:latin typeface="Calibri"/>
              </a:rPr>
              <a:t>Semurog' Tort Markazi  |  To'liq kod misollari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965960"/>
            <a:ext cx="960120" cy="960120"/>
          </a:xfrm>
          <a:prstGeom prst="roundRect">
            <a:avLst/>
          </a:prstGeom>
          <a:solidFill>
            <a:srgbClr val="F26D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103120"/>
            <a:ext cx="960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4000" b="1">
                <a:solidFill>
                  <a:srgbClr val="14111C"/>
                </a:solidFill>
                <a:latin typeface="Calibri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20240" y="2084831"/>
            <a:ext cx="9509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400" b="1">
                <a:solidFill>
                  <a:srgbClr val="F4F1F7"/>
                </a:solidFill>
                <a:latin typeface="Calibri"/>
              </a:rPr>
              <a:t>reviews — mijoz sharhlari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2926080"/>
            <a:ext cx="95097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0">
                <a:solidFill>
                  <a:srgbClr val="A8A2BB"/>
                </a:solidFill>
                <a:latin typeface="Calibri"/>
              </a:rPr>
              <a:t>Bitta model, lekin moderatsiya bilan: sharh avval tasdiqlanadi,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0">
                <a:solidFill>
                  <a:srgbClr val="A8A2BB"/>
                </a:solidFill>
                <a:latin typeface="Calibri"/>
              </a:rPr>
              <a:t>keyin saytda ko'rinadi.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920240" y="4069080"/>
            <a:ext cx="8686800" cy="457200"/>
          </a:xfrm>
          <a:prstGeom prst="roundRect">
            <a:avLst/>
          </a:prstGeom>
          <a:solidFill>
            <a:srgbClr val="1F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148840" y="4142232"/>
            <a:ext cx="8321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26D9B"/>
                </a:solidFill>
                <a:latin typeface="Calibri"/>
              </a:rPr>
              <a:t>1 ta model:  Review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1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>
                <a:solidFill>
                  <a:srgbClr val="F26D9B"/>
                </a:solidFill>
                <a:latin typeface="Calibri"/>
              </a:rPr>
              <a:t>APP 5 · MODEL 1/2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76656"/>
            <a:ext cx="10789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F4F1F7"/>
                </a:solidFill>
                <a:latin typeface="Calibri"/>
              </a:rPr>
              <a:t>reviews/models.py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35024"/>
            <a:ext cx="1371600" cy="54864"/>
          </a:xfrm>
          <a:prstGeom prst="roundRect">
            <a:avLst/>
          </a:prstGeom>
          <a:solidFill>
            <a:srgbClr val="F26D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64240" y="6355080"/>
            <a:ext cx="731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A8A2BB"/>
                </a:solidFill>
                <a:latin typeface="Calibri"/>
              </a:rPr>
              <a:t>44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355080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A8A2BB"/>
                </a:solidFill>
                <a:latin typeface="Calibri"/>
              </a:rPr>
              <a:t>Semurog' Tort Markazi  |  To'liq kod misollari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63040"/>
            <a:ext cx="10817352" cy="4846320"/>
          </a:xfrm>
          <a:prstGeom prst="roundRect">
            <a:avLst/>
          </a:prstGeom>
          <a:solidFill>
            <a:srgbClr val="100D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09344"/>
            <a:ext cx="10360152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96">
                <a:solidFill>
                  <a:srgbClr val="A8A2BB"/>
                </a:solidFill>
                <a:latin typeface="Consolas"/>
              </a:rPr>
              <a:t># reviews/models.py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96">
                <a:solidFill>
                  <a:srgbClr val="F26D9B"/>
                </a:solidFill>
                <a:latin typeface="Consolas"/>
              </a:rPr>
              <a:t>from django.db import models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96">
                <a:solidFill>
                  <a:srgbClr val="F26D9B"/>
                </a:solidFill>
                <a:latin typeface="Consolas"/>
              </a:rPr>
              <a:t>from django.core.validators import MinLengthValidator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96">
                <a:solidFill>
                  <a:srgbClr val="F26D9B"/>
                </a:solidFill>
                <a:latin typeface="Consolas"/>
              </a:rPr>
              <a:t>from cakes.models import Cake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96">
                <a:solidFill>
                  <a:srgbClr val="F26D9B"/>
                </a:solidFill>
                <a:latin typeface="Consolas"/>
              </a:rPr>
              <a:t>from clients.models import Client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96">
                <a:solidFill>
                  <a:srgbClr val="C9C2DA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96">
                <a:solidFill>
                  <a:srgbClr val="C9C2DA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96">
                <a:solidFill>
                  <a:srgbClr val="F26D9B"/>
                </a:solidFill>
                <a:latin typeface="Consolas"/>
              </a:rPr>
              <a:t>class Review(models.Model):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96">
                <a:solidFill>
                  <a:srgbClr val="F26D9B"/>
                </a:solidFill>
                <a:latin typeface="Consolas"/>
              </a:rPr>
              <a:t>    class Rating(models.IntegerChoices):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96">
                <a:solidFill>
                  <a:srgbClr val="C9C2DA"/>
                </a:solidFill>
                <a:latin typeface="Consolas"/>
              </a:rPr>
              <a:t>        ONE = 1, '1 yulduz'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96">
                <a:solidFill>
                  <a:srgbClr val="C9C2DA"/>
                </a:solidFill>
                <a:latin typeface="Consolas"/>
              </a:rPr>
              <a:t>        TWO = 2, '2 yulduz'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96">
                <a:solidFill>
                  <a:srgbClr val="C9C2DA"/>
                </a:solidFill>
                <a:latin typeface="Consolas"/>
              </a:rPr>
              <a:t>        THREE = 3, '3 yulduz'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96">
                <a:solidFill>
                  <a:srgbClr val="C9C2DA"/>
                </a:solidFill>
                <a:latin typeface="Consolas"/>
              </a:rPr>
              <a:t>        FOUR = 4, '4 yulduz'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96">
                <a:solidFill>
                  <a:srgbClr val="C9C2DA"/>
                </a:solidFill>
                <a:latin typeface="Consolas"/>
              </a:rPr>
              <a:t>        FIVE = 5, '5 yulduz'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96">
                <a:solidFill>
                  <a:srgbClr val="C9C2DA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96">
                <a:solidFill>
                  <a:srgbClr val="C9C2DA"/>
                </a:solidFill>
                <a:latin typeface="Consolas"/>
              </a:rPr>
              <a:t>    cake         = models.ForeignKey(Cake, on_delete=models.CASCADE,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96">
                <a:solidFill>
                  <a:srgbClr val="C9C2DA"/>
                </a:solidFill>
                <a:latin typeface="Consolas"/>
              </a:rPr>
              <a:t>                                     null=True, blank=True,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96">
                <a:solidFill>
                  <a:srgbClr val="C9C2DA"/>
                </a:solidFill>
                <a:latin typeface="Consolas"/>
              </a:rPr>
              <a:t>                                     related_name='reviews')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96">
                <a:solidFill>
                  <a:srgbClr val="C9C2DA"/>
                </a:solidFill>
                <a:latin typeface="Consolas"/>
              </a:rPr>
              <a:t>    client       = models.ForeignKey(Client, on_delete=models.SET_NULL,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96">
                <a:solidFill>
                  <a:srgbClr val="C9C2DA"/>
                </a:solidFill>
                <a:latin typeface="Consolas"/>
              </a:rPr>
              <a:t>                                     null=True, blank=True,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96">
                <a:solidFill>
                  <a:srgbClr val="C9C2DA"/>
                </a:solidFill>
                <a:latin typeface="Consolas"/>
              </a:rPr>
              <a:t>                                     related_name='reviews')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96">
                <a:solidFill>
                  <a:srgbClr val="C9C2DA"/>
                </a:solidFill>
                <a:latin typeface="Consolas"/>
              </a:rPr>
              <a:t>    author_name  = models.CharField("Ism", max_length=120)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96">
                <a:solidFill>
                  <a:srgbClr val="C9C2DA"/>
                </a:solidFill>
                <a:latin typeface="Consolas"/>
              </a:rPr>
              <a:t>    rating       = models.PositiveSmallIntegerField("Baho",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96">
                <a:solidFill>
                  <a:srgbClr val="C9C2DA"/>
                </a:solidFill>
                <a:latin typeface="Consolas"/>
              </a:rPr>
              <a:t>                                                    choices=Rating.choices,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96">
                <a:solidFill>
                  <a:srgbClr val="C9C2DA"/>
                </a:solidFill>
                <a:latin typeface="Consolas"/>
              </a:rPr>
              <a:t>                                                    default=Rating.FIVE)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96">
                <a:solidFill>
                  <a:srgbClr val="C9C2DA"/>
                </a:solidFill>
                <a:latin typeface="Consolas"/>
              </a:rPr>
              <a:t>    text         = models.TextField("Sharh", max_length=1000,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96">
                <a:solidFill>
                  <a:srgbClr val="C9C2DA"/>
                </a:solidFill>
                <a:latin typeface="Consolas"/>
              </a:rPr>
              <a:t>                                    validators=[MinLengthValidator(10)])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96">
                <a:solidFill>
                  <a:srgbClr val="C9C2DA"/>
                </a:solidFill>
                <a:latin typeface="Consolas"/>
              </a:rPr>
              <a:t>    is_published = models.BooleanField("Tasdiqlangan", default=False)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96">
                <a:solidFill>
                  <a:srgbClr val="C9C2DA"/>
                </a:solidFill>
                <a:latin typeface="Consolas"/>
              </a:rPr>
              <a:t>    created_at   = models.DateTimeField(auto_now_add=True)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96">
                <a:solidFill>
                  <a:srgbClr val="C9C2DA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96">
                <a:solidFill>
                  <a:srgbClr val="F26D9B"/>
                </a:solidFill>
                <a:latin typeface="Consolas"/>
              </a:rPr>
              <a:t>    class Meta: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96">
                <a:solidFill>
                  <a:srgbClr val="C9C2DA"/>
                </a:solidFill>
                <a:latin typeface="Consolas"/>
              </a:rPr>
              <a:t>        ordering = ['-created_at']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96">
                <a:solidFill>
                  <a:srgbClr val="C9C2DA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96">
                <a:solidFill>
                  <a:srgbClr val="F26D9B"/>
                </a:solidFill>
                <a:latin typeface="Consolas"/>
              </a:rPr>
              <a:t>    def __str__(self):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96">
                <a:solidFill>
                  <a:srgbClr val="F26D9B"/>
                </a:solidFill>
                <a:latin typeface="Consolas"/>
              </a:rPr>
              <a:t>        return f"{self.author_name} — {self.get_rating_display()}"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96">
                <a:solidFill>
                  <a:srgbClr val="C9C2DA"/>
                </a:solidFill>
                <a:latin typeface="Consolas"/>
              </a:rPr>
              <a:t> 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1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>
                <a:solidFill>
                  <a:srgbClr val="F26D9B"/>
                </a:solidFill>
                <a:latin typeface="Calibri"/>
              </a:rPr>
              <a:t>APP 5 · MODEL 2/2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76656"/>
            <a:ext cx="10789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F4F1F7"/>
                </a:solidFill>
                <a:latin typeface="Calibri"/>
              </a:rPr>
              <a:t>reviews/ — forma, view va url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35024"/>
            <a:ext cx="1371600" cy="54864"/>
          </a:xfrm>
          <a:prstGeom prst="roundRect">
            <a:avLst/>
          </a:prstGeom>
          <a:solidFill>
            <a:srgbClr val="F26D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64240" y="6355080"/>
            <a:ext cx="731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A8A2BB"/>
                </a:solidFill>
                <a:latin typeface="Calibri"/>
              </a:rPr>
              <a:t>45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355080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A8A2BB"/>
                </a:solidFill>
                <a:latin typeface="Calibri"/>
              </a:rPr>
              <a:t>Semurog' Tort Markazi  |  To'liq kod misollari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63040"/>
            <a:ext cx="10817352" cy="4846320"/>
          </a:xfrm>
          <a:prstGeom prst="roundRect">
            <a:avLst/>
          </a:prstGeom>
          <a:solidFill>
            <a:srgbClr val="100D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09344"/>
            <a:ext cx="10360152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699">
                <a:solidFill>
                  <a:srgbClr val="C9C2DA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699">
                <a:solidFill>
                  <a:srgbClr val="A8A2BB"/>
                </a:solidFill>
                <a:latin typeface="Consolas"/>
              </a:rPr>
              <a:t># reviews/forms.py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699">
                <a:solidFill>
                  <a:srgbClr val="F26D9B"/>
                </a:solidFill>
                <a:latin typeface="Consolas"/>
              </a:rPr>
              <a:t>from django import forms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699">
                <a:solidFill>
                  <a:srgbClr val="F26D9B"/>
                </a:solidFill>
                <a:latin typeface="Consolas"/>
              </a:rPr>
              <a:t>from .models import Review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699">
                <a:solidFill>
                  <a:srgbClr val="C9C2DA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699">
                <a:solidFill>
                  <a:srgbClr val="C9C2DA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699">
                <a:solidFill>
                  <a:srgbClr val="F26D9B"/>
                </a:solidFill>
                <a:latin typeface="Consolas"/>
              </a:rPr>
              <a:t>class ReviewForm(forms.ModelForm):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699">
                <a:solidFill>
                  <a:srgbClr val="F26D9B"/>
                </a:solidFill>
                <a:latin typeface="Consolas"/>
              </a:rPr>
              <a:t>    class Meta: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699">
                <a:solidFill>
                  <a:srgbClr val="C9C2DA"/>
                </a:solidFill>
                <a:latin typeface="Consolas"/>
              </a:rPr>
              <a:t>        model = Review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699">
                <a:solidFill>
                  <a:srgbClr val="C9C2DA"/>
                </a:solidFill>
                <a:latin typeface="Consolas"/>
              </a:rPr>
              <a:t>        fields = ('rating', 'text', 'cake')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699">
                <a:solidFill>
                  <a:srgbClr val="C9C2DA"/>
                </a:solidFill>
                <a:latin typeface="Consolas"/>
              </a:rPr>
              <a:t>        widgets = {'text': forms.Textarea(attrs={'rows': 4})}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699">
                <a:solidFill>
                  <a:srgbClr val="C9C2DA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699">
                <a:solidFill>
                  <a:srgbClr val="C9C2DA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699">
                <a:solidFill>
                  <a:srgbClr val="A8A2BB"/>
                </a:solidFill>
                <a:latin typeface="Consolas"/>
              </a:rPr>
              <a:t># reviews/views.py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699">
                <a:solidFill>
                  <a:srgbClr val="F26D9B"/>
                </a:solidFill>
                <a:latin typeface="Consolas"/>
              </a:rPr>
              <a:t>from django.shortcuts import render, get_object_or_404, redirect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699">
                <a:solidFill>
                  <a:srgbClr val="F26D9B"/>
                </a:solidFill>
                <a:latin typeface="Consolas"/>
              </a:rPr>
              <a:t>from .forms import ReviewForm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699">
                <a:solidFill>
                  <a:srgbClr val="C9C2DA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699">
                <a:solidFill>
                  <a:srgbClr val="C9C2DA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699">
                <a:solidFill>
                  <a:srgbClr val="F26D9B"/>
                </a:solidFill>
                <a:latin typeface="Consolas"/>
              </a:rPr>
              <a:t>def add_review(request, slug):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699">
                <a:solidFill>
                  <a:srgbClr val="C9C2DA"/>
                </a:solidFill>
                <a:latin typeface="Consolas"/>
              </a:rPr>
              <a:t>    cake = get_object_or_404(Cake, slug=slug)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699">
                <a:solidFill>
                  <a:srgbClr val="C9C2DA"/>
                </a:solidFill>
                <a:latin typeface="Consolas"/>
              </a:rPr>
              <a:t>    form = ReviewForm(request.POST or None)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699">
                <a:solidFill>
                  <a:srgbClr val="C9C2DA"/>
                </a:solidFill>
                <a:latin typeface="Consolas"/>
              </a:rPr>
              <a:t>    if request.method == 'POST' and form.is_valid():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699">
                <a:solidFill>
                  <a:srgbClr val="C9C2DA"/>
                </a:solidFill>
                <a:latin typeface="Consolas"/>
              </a:rPr>
              <a:t>        review = form.save(commit=False)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699">
                <a:solidFill>
                  <a:srgbClr val="C9C2DA"/>
                </a:solidFill>
                <a:latin typeface="Consolas"/>
              </a:rPr>
              <a:t>        review.cake = cake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699">
                <a:solidFill>
                  <a:srgbClr val="C9C2DA"/>
                </a:solidFill>
                <a:latin typeface="Consolas"/>
              </a:rPr>
              <a:t>        review.author_name = (request.user.client.full_name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699">
                <a:solidFill>
                  <a:srgbClr val="C9C2DA"/>
                </a:solidFill>
                <a:latin typeface="Consolas"/>
              </a:rPr>
              <a:t>                              if request.user.is_authenticated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699">
                <a:solidFill>
                  <a:srgbClr val="C9C2DA"/>
                </a:solidFill>
                <a:latin typeface="Consolas"/>
              </a:rPr>
              <a:t>                              else 'Mehmon')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699">
                <a:solidFill>
                  <a:srgbClr val="C9C2DA"/>
                </a:solidFill>
                <a:latin typeface="Consolas"/>
              </a:rPr>
              <a:t>        review.is_published = False          # admin tasdiqlaydi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699">
                <a:solidFill>
                  <a:srgbClr val="C9C2DA"/>
                </a:solidFill>
                <a:latin typeface="Consolas"/>
              </a:rPr>
              <a:t>        review.save()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699">
                <a:solidFill>
                  <a:srgbClr val="F26D9B"/>
                </a:solidFill>
                <a:latin typeface="Consolas"/>
              </a:rPr>
              <a:t>        return redirect('cakes:detail', slug=slug)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699">
                <a:solidFill>
                  <a:srgbClr val="F26D9B"/>
                </a:solidFill>
                <a:latin typeface="Consolas"/>
              </a:rPr>
              <a:t>    return render(request, 'reviews/add.html', {'form': form, 'cake': cake})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699">
                <a:solidFill>
                  <a:srgbClr val="C9C2DA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699">
                <a:solidFill>
                  <a:srgbClr val="C9C2DA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699">
                <a:solidFill>
                  <a:srgbClr val="A8A2BB"/>
                </a:solidFill>
                <a:latin typeface="Consolas"/>
              </a:rPr>
              <a:t># reviews/urls.py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699">
                <a:solidFill>
                  <a:srgbClr val="F26D9B"/>
                </a:solidFill>
                <a:latin typeface="Consolas"/>
              </a:rPr>
              <a:t>from django.urls import path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699">
                <a:solidFill>
                  <a:srgbClr val="F26D9B"/>
                </a:solidFill>
                <a:latin typeface="Consolas"/>
              </a:rPr>
              <a:t>from . import views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699">
                <a:solidFill>
                  <a:srgbClr val="C9C2DA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699">
                <a:solidFill>
                  <a:srgbClr val="C9C2DA"/>
                </a:solidFill>
                <a:latin typeface="Consolas"/>
              </a:rPr>
              <a:t>app_name = 'reviews'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699">
                <a:solidFill>
                  <a:srgbClr val="C9C2DA"/>
                </a:solidFill>
                <a:latin typeface="Consolas"/>
              </a:rPr>
              <a:t>urlpatterns = [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699">
                <a:solidFill>
                  <a:srgbClr val="C9C2DA"/>
                </a:solidFill>
                <a:latin typeface="Consolas"/>
              </a:rPr>
              <a:t>    path('add/&lt;slug:slug&gt;/', views.add_review, name='add'),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699">
                <a:solidFill>
                  <a:srgbClr val="C9C2DA"/>
                </a:solidFill>
                <a:latin typeface="Consolas"/>
              </a:rPr>
              <a:t>]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1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>
                <a:solidFill>
                  <a:srgbClr val="F26D9B"/>
                </a:solidFill>
                <a:latin typeface="Calibri"/>
              </a:rPr>
              <a:t>YIG'INDI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76656"/>
            <a:ext cx="10789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F4F1F7"/>
                </a:solidFill>
                <a:latin typeface="Calibri"/>
              </a:rPr>
              <a:t>config/urls.py — umumiy bog'lash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35024"/>
            <a:ext cx="1371600" cy="54864"/>
          </a:xfrm>
          <a:prstGeom prst="roundRect">
            <a:avLst/>
          </a:prstGeom>
          <a:solidFill>
            <a:srgbClr val="F26D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64240" y="6355080"/>
            <a:ext cx="731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A8A2BB"/>
                </a:solidFill>
                <a:latin typeface="Calibri"/>
              </a:rPr>
              <a:t>46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355080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A8A2BB"/>
                </a:solidFill>
                <a:latin typeface="Calibri"/>
              </a:rPr>
              <a:t>Semurog' Tort Markazi  |  To'liq kod misollari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63040"/>
            <a:ext cx="10817352" cy="4846320"/>
          </a:xfrm>
          <a:prstGeom prst="roundRect">
            <a:avLst/>
          </a:prstGeom>
          <a:solidFill>
            <a:srgbClr val="100D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09344"/>
            <a:ext cx="10360152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75">
                <a:solidFill>
                  <a:srgbClr val="A8A2BB"/>
                </a:solidFill>
                <a:latin typeface="Consolas"/>
              </a:rPr>
              <a:t># config/urls.py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75">
                <a:solidFill>
                  <a:srgbClr val="F26D9B"/>
                </a:solidFill>
                <a:latin typeface="Consolas"/>
              </a:rPr>
              <a:t>from django.contrib import admin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75">
                <a:solidFill>
                  <a:srgbClr val="F26D9B"/>
                </a:solidFill>
                <a:latin typeface="Consolas"/>
              </a:rPr>
              <a:t>from django.conf import settings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75">
                <a:solidFill>
                  <a:srgbClr val="F26D9B"/>
                </a:solidFill>
                <a:latin typeface="Consolas"/>
              </a:rPr>
              <a:t>from django.conf.urls.static import static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75">
                <a:solidFill>
                  <a:srgbClr val="F26D9B"/>
                </a:solidFill>
                <a:latin typeface="Consolas"/>
              </a:rPr>
              <a:t>from django.urls import include, path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75">
                <a:solidFill>
                  <a:srgbClr val="C9C2DA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75">
                <a:solidFill>
                  <a:srgbClr val="C9C2DA"/>
                </a:solidFill>
                <a:latin typeface="Consolas"/>
              </a:rPr>
              <a:t>urlpatterns = [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75">
                <a:solidFill>
                  <a:srgbClr val="C9C2DA"/>
                </a:solidFill>
                <a:latin typeface="Consolas"/>
              </a:rPr>
              <a:t>    path('admin/', admin.site.urls),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75">
                <a:solidFill>
                  <a:srgbClr val="C9C2DA"/>
                </a:solidFill>
                <a:latin typeface="Consolas"/>
              </a:rPr>
              <a:t>    path('',        include('core.urls')),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75">
                <a:solidFill>
                  <a:srgbClr val="C9C2DA"/>
                </a:solidFill>
                <a:latin typeface="Consolas"/>
              </a:rPr>
              <a:t>    path('clients/', include('clients.urls')),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75">
                <a:solidFill>
                  <a:srgbClr val="C9C2DA"/>
                </a:solidFill>
                <a:latin typeface="Consolas"/>
              </a:rPr>
              <a:t>    path('cakes/',   include('cakes.urls')),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75">
                <a:solidFill>
                  <a:srgbClr val="C9C2DA"/>
                </a:solidFill>
                <a:latin typeface="Consolas"/>
              </a:rPr>
              <a:t>    path('orders/',  include('orders.urls')),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75">
                <a:solidFill>
                  <a:srgbClr val="C9C2DA"/>
                </a:solidFill>
                <a:latin typeface="Consolas"/>
              </a:rPr>
              <a:t>    path('reviews/', include('reviews.urls')),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75">
                <a:solidFill>
                  <a:srgbClr val="C9C2DA"/>
                </a:solidFill>
                <a:latin typeface="Consolas"/>
              </a:rPr>
              <a:t>]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75">
                <a:solidFill>
                  <a:srgbClr val="C9C2DA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75">
                <a:solidFill>
                  <a:srgbClr val="C9C2DA"/>
                </a:solidFill>
                <a:latin typeface="Consolas"/>
              </a:rPr>
              <a:t>if settings.DEBUG: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75">
                <a:solidFill>
                  <a:srgbClr val="C9C2DA"/>
                </a:solidFill>
                <a:latin typeface="Consolas"/>
              </a:rPr>
              <a:t>    urlpatterns += static(settings.MEDIA_URL,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75">
                <a:solidFill>
                  <a:srgbClr val="C9C2DA"/>
                </a:solidFill>
                <a:latin typeface="Consolas"/>
              </a:rPr>
              <a:t>                          document_root=settings.MEDIA_ROOT)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75">
                <a:solidFill>
                  <a:srgbClr val="C9C2DA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75">
                <a:solidFill>
                  <a:srgbClr val="C9C2DA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75">
                <a:solidFill>
                  <a:srgbClr val="A8A2BB"/>
                </a:solidFill>
                <a:latin typeface="Consolas"/>
              </a:rPr>
              <a:t># config/settings.py  (app'lardan tashqari qism)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75">
                <a:solidFill>
                  <a:srgbClr val="C9C2DA"/>
                </a:solidFill>
                <a:latin typeface="Consolas"/>
              </a:rPr>
              <a:t>INSTALLED_APPS = [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75">
                <a:solidFill>
                  <a:srgbClr val="C9C2DA"/>
                </a:solidFill>
                <a:latin typeface="Consolas"/>
              </a:rPr>
              <a:t>    'django.contrib.admin',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75">
                <a:solidFill>
                  <a:srgbClr val="C9C2DA"/>
                </a:solidFill>
                <a:latin typeface="Consolas"/>
              </a:rPr>
              <a:t>    'django.contrib.auth',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75">
                <a:solidFill>
                  <a:srgbClr val="C9C2DA"/>
                </a:solidFill>
                <a:latin typeface="Consolas"/>
              </a:rPr>
              <a:t>    'django.contrib.contenttypes',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75">
                <a:solidFill>
                  <a:srgbClr val="C9C2DA"/>
                </a:solidFill>
                <a:latin typeface="Consolas"/>
              </a:rPr>
              <a:t>    'django.contrib.sessions',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75">
                <a:solidFill>
                  <a:srgbClr val="C9C2DA"/>
                </a:solidFill>
                <a:latin typeface="Consolas"/>
              </a:rPr>
              <a:t>    'django.contrib.messages',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75">
                <a:solidFill>
                  <a:srgbClr val="C9C2DA"/>
                </a:solidFill>
                <a:latin typeface="Consolas"/>
              </a:rPr>
              <a:t>    'django.contrib.staticfiles',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75">
                <a:solidFill>
                  <a:srgbClr val="C9C2DA"/>
                </a:solidFill>
                <a:latin typeface="Consolas"/>
              </a:rPr>
              <a:t>    'core', 'clients', 'cakes', 'orders', 'reviews',   # &lt;- bizning app'lar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75">
                <a:solidFill>
                  <a:srgbClr val="C9C2DA"/>
                </a:solidFill>
                <a:latin typeface="Consolas"/>
              </a:rPr>
              <a:t>]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75">
                <a:solidFill>
                  <a:srgbClr val="C9C2DA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75">
                <a:solidFill>
                  <a:srgbClr val="C9C2DA"/>
                </a:solidFill>
                <a:latin typeface="Consolas"/>
              </a:rPr>
              <a:t>LANGUAGE_CODE = 'uz-uz'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75">
                <a:solidFill>
                  <a:srgbClr val="C9C2DA"/>
                </a:solidFill>
                <a:latin typeface="Consolas"/>
              </a:rPr>
              <a:t>TIME_ZONE = 'Asia/Tashkent'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75">
                <a:solidFill>
                  <a:srgbClr val="C9C2DA"/>
                </a:solidFill>
                <a:latin typeface="Consolas"/>
              </a:rPr>
              <a:t>MEDIA_URL = '/media/'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75">
                <a:solidFill>
                  <a:srgbClr val="C9C2DA"/>
                </a:solidFill>
                <a:latin typeface="Consolas"/>
              </a:rPr>
              <a:t>MEDIA_ROOT = BASE_DIR / 'media'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75">
                <a:solidFill>
                  <a:srgbClr val="C9C2DA"/>
                </a:solidFill>
                <a:latin typeface="Consolas"/>
              </a:rPr>
              <a:t>STATIC_URL = 'static/'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75">
                <a:solidFill>
                  <a:srgbClr val="C9C2DA"/>
                </a:solidFill>
                <a:latin typeface="Consolas"/>
              </a:rPr>
              <a:t>STATIC_ROOT = BASE_DIR / 'staticfiles'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1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>
                <a:solidFill>
                  <a:srgbClr val="F26D9B"/>
                </a:solidFill>
                <a:latin typeface="Calibri"/>
              </a:rPr>
              <a:t>KO'RINISH QISMI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76656"/>
            <a:ext cx="10789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F4F1F7"/>
                </a:solidFill>
                <a:latin typeface="Calibri"/>
              </a:rPr>
              <a:t>Template'lar — asosiy namunalar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35024"/>
            <a:ext cx="1371600" cy="54864"/>
          </a:xfrm>
          <a:prstGeom prst="roundRect">
            <a:avLst/>
          </a:prstGeom>
          <a:solidFill>
            <a:srgbClr val="F26D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64240" y="6355080"/>
            <a:ext cx="731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A8A2BB"/>
                </a:solidFill>
                <a:latin typeface="Calibri"/>
              </a:rPr>
              <a:t>47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355080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A8A2BB"/>
                </a:solidFill>
                <a:latin typeface="Calibri"/>
              </a:rPr>
              <a:t>Semurog' Tort Markazi  |  To'liq kod misollari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63040"/>
            <a:ext cx="10817352" cy="4846320"/>
          </a:xfrm>
          <a:prstGeom prst="roundRect">
            <a:avLst/>
          </a:prstGeom>
          <a:solidFill>
            <a:srgbClr val="100D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09344"/>
            <a:ext cx="10360152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35">
                <a:solidFill>
                  <a:srgbClr val="A8A2BB"/>
                </a:solidFill>
                <a:latin typeface="Consolas"/>
              </a:rPr>
              <a:t># templates/base.html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35">
                <a:solidFill>
                  <a:srgbClr val="C9C2DA"/>
                </a:solidFill>
                <a:latin typeface="Consolas"/>
              </a:rPr>
              <a:t>{% load static %}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35">
                <a:solidFill>
                  <a:srgbClr val="C9C2DA"/>
                </a:solidFill>
                <a:latin typeface="Consolas"/>
              </a:rPr>
              <a:t>&lt;!DOCTYPE html&gt;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35">
                <a:solidFill>
                  <a:srgbClr val="C9C2DA"/>
                </a:solidFill>
                <a:latin typeface="Consolas"/>
              </a:rPr>
              <a:t>&lt;html lang="uz"&gt;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35">
                <a:solidFill>
                  <a:srgbClr val="C9C2DA"/>
                </a:solidFill>
                <a:latin typeface="Consolas"/>
              </a:rPr>
              <a:t>&lt;head&gt;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35">
                <a:solidFill>
                  <a:srgbClr val="C9C2DA"/>
                </a:solidFill>
                <a:latin typeface="Consolas"/>
              </a:rPr>
              <a:t>  &lt;meta charset="UTF-8"&gt;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35">
                <a:solidFill>
                  <a:srgbClr val="C9C2DA"/>
                </a:solidFill>
                <a:latin typeface="Consolas"/>
              </a:rPr>
              <a:t>  &lt;title&gt;{% block title %}Semurog' Tort Markazi{% endblock %}&lt;/title&gt;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35">
                <a:solidFill>
                  <a:srgbClr val="C9C2DA"/>
                </a:solidFill>
                <a:latin typeface="Consolas"/>
              </a:rPr>
              <a:t>  &lt;link rel="stylesheet" href="{% static 'css/style.css' %}"&gt;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35">
                <a:solidFill>
                  <a:srgbClr val="C9C2DA"/>
                </a:solidFill>
                <a:latin typeface="Consolas"/>
              </a:rPr>
              <a:t>&lt;/head&gt;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35">
                <a:solidFill>
                  <a:srgbClr val="C9C2DA"/>
                </a:solidFill>
                <a:latin typeface="Consolas"/>
              </a:rPr>
              <a:t>&lt;body&gt;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35">
                <a:solidFill>
                  <a:srgbClr val="C9C2DA"/>
                </a:solidFill>
                <a:latin typeface="Consolas"/>
              </a:rPr>
              <a:t>  {% include 'partials/navbar.html' %}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35">
                <a:solidFill>
                  <a:srgbClr val="C9C2DA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35">
                <a:solidFill>
                  <a:srgbClr val="C9C2DA"/>
                </a:solidFill>
                <a:latin typeface="Consolas"/>
              </a:rPr>
              <a:t>  {% if messages %}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35">
                <a:solidFill>
                  <a:srgbClr val="C9C2DA"/>
                </a:solidFill>
                <a:latin typeface="Consolas"/>
              </a:rPr>
              <a:t>    {% for message in messages %}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35">
                <a:solidFill>
                  <a:srgbClr val="C9C2DA"/>
                </a:solidFill>
                <a:latin typeface="Consolas"/>
              </a:rPr>
              <a:t>      &lt;div class="alert"&gt;{{ message }}&lt;/div&gt;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35">
                <a:solidFill>
                  <a:srgbClr val="C9C2DA"/>
                </a:solidFill>
                <a:latin typeface="Consolas"/>
              </a:rPr>
              <a:t>    {% endfor %}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35">
                <a:solidFill>
                  <a:srgbClr val="C9C2DA"/>
                </a:solidFill>
                <a:latin typeface="Consolas"/>
              </a:rPr>
              <a:t>  {% endif %}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35">
                <a:solidFill>
                  <a:srgbClr val="C9C2DA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35">
                <a:solidFill>
                  <a:srgbClr val="C9C2DA"/>
                </a:solidFill>
                <a:latin typeface="Consolas"/>
              </a:rPr>
              <a:t>  &lt;main&gt;{% block content %}{% endblock %}&lt;/main&gt;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35">
                <a:solidFill>
                  <a:srgbClr val="C9C2DA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35">
                <a:solidFill>
                  <a:srgbClr val="C9C2DA"/>
                </a:solidFill>
                <a:latin typeface="Consolas"/>
              </a:rPr>
              <a:t>  {% include 'partials/footer.html' %}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35">
                <a:solidFill>
                  <a:srgbClr val="C9C2DA"/>
                </a:solidFill>
                <a:latin typeface="Consolas"/>
              </a:rPr>
              <a:t>  &lt;script src="{% static 'js/main.js' %}"&gt;&lt;/script&gt;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35">
                <a:solidFill>
                  <a:srgbClr val="C9C2DA"/>
                </a:solidFill>
                <a:latin typeface="Consolas"/>
              </a:rPr>
              <a:t>&lt;/body&gt;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35">
                <a:solidFill>
                  <a:srgbClr val="C9C2DA"/>
                </a:solidFill>
                <a:latin typeface="Consolas"/>
              </a:rPr>
              <a:t>&lt;/html&gt;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35">
                <a:solidFill>
                  <a:srgbClr val="C9C2DA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35">
                <a:solidFill>
                  <a:srgbClr val="C9C2DA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35">
                <a:solidFill>
                  <a:srgbClr val="A8A2BB"/>
                </a:solidFill>
                <a:latin typeface="Consolas"/>
              </a:rPr>
              <a:t># templates/partials/cake_card.html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35">
                <a:solidFill>
                  <a:srgbClr val="C9C2DA"/>
                </a:solidFill>
                <a:latin typeface="Consolas"/>
              </a:rPr>
              <a:t>&lt;div class="card"&gt;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35">
                <a:solidFill>
                  <a:srgbClr val="C9C2DA"/>
                </a:solidFill>
                <a:latin typeface="Consolas"/>
              </a:rPr>
              <a:t>  &lt;a href="{% url 'cakes:detail' cake.slug %}"&gt;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35">
                <a:solidFill>
                  <a:srgbClr val="C9C2DA"/>
                </a:solidFill>
                <a:latin typeface="Consolas"/>
              </a:rPr>
              <a:t>    &lt;img src="{{ cake.main_image.url }}" alt="{{ cake.name }}"&gt;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35">
                <a:solidFill>
                  <a:srgbClr val="C9C2DA"/>
                </a:solidFill>
                <a:latin typeface="Consolas"/>
              </a:rPr>
              <a:t>  &lt;/a&gt;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35">
                <a:solidFill>
                  <a:srgbClr val="C9C2DA"/>
                </a:solidFill>
                <a:latin typeface="Consolas"/>
              </a:rPr>
              <a:t>  &lt;h3&gt;{{ cake.name }}&lt;/h3&gt;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35">
                <a:solidFill>
                  <a:srgbClr val="C9C2DA"/>
                </a:solidFill>
                <a:latin typeface="Consolas"/>
              </a:rPr>
              <a:t>  &lt;p class="price"&gt;{{ cake.price }} so'm&lt;/p&gt;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35">
                <a:solidFill>
                  <a:srgbClr val="C9C2DA"/>
                </a:solidFill>
                <a:latin typeface="Consolas"/>
              </a:rPr>
              <a:t>  {% if cake.has_discount %}&lt;s&gt;{{ cake.old_price }}&lt;/s&gt;{% endif %}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35">
                <a:solidFill>
                  <a:srgbClr val="C9C2DA"/>
                </a:solidFill>
                <a:latin typeface="Consolas"/>
              </a:rPr>
              <a:t>  &lt;form method="post" action="{% url 'orders:cart_add' cake.pk %}"&gt;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35">
                <a:solidFill>
                  <a:srgbClr val="C9C2DA"/>
                </a:solidFill>
                <a:latin typeface="Consolas"/>
              </a:rPr>
              <a:t>    {% csrf_token %}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35">
                <a:solidFill>
                  <a:srgbClr val="C9C2DA"/>
                </a:solidFill>
                <a:latin typeface="Consolas"/>
              </a:rPr>
              <a:t>    &lt;button type="submit"&gt;Savatga&lt;/button&gt;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35">
                <a:solidFill>
                  <a:srgbClr val="C9C2DA"/>
                </a:solidFill>
                <a:latin typeface="Consolas"/>
              </a:rPr>
              <a:t>  &lt;/form&gt;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35">
                <a:solidFill>
                  <a:srgbClr val="C9C2DA"/>
                </a:solidFill>
                <a:latin typeface="Consolas"/>
              </a:rPr>
              <a:t>&lt;/div&gt;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1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>
                <a:solidFill>
                  <a:srgbClr val="F26D9B"/>
                </a:solidFill>
                <a:latin typeface="Calibri"/>
              </a:rPr>
              <a:t>AVTOMATIK ESLATMA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76656"/>
            <a:ext cx="10789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F4F1F7"/>
                </a:solidFill>
                <a:latin typeface="Calibri"/>
              </a:rPr>
              <a:t>Telegram xabari (ixtiyoriy, lekin foydali)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35024"/>
            <a:ext cx="1371600" cy="54864"/>
          </a:xfrm>
          <a:prstGeom prst="roundRect">
            <a:avLst/>
          </a:prstGeom>
          <a:solidFill>
            <a:srgbClr val="F26D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64240" y="6355080"/>
            <a:ext cx="731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A8A2BB"/>
                </a:solidFill>
                <a:latin typeface="Calibri"/>
              </a:rPr>
              <a:t>48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355080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A8A2BB"/>
                </a:solidFill>
                <a:latin typeface="Calibri"/>
              </a:rPr>
              <a:t>Semurog' Tort Markazi  |  To'liq kod misollari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554480"/>
            <a:ext cx="10817352" cy="4114800"/>
          </a:xfrm>
          <a:prstGeom prst="roundRect">
            <a:avLst/>
          </a:prstGeom>
          <a:solidFill>
            <a:srgbClr val="100D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00784"/>
            <a:ext cx="10360152" cy="3840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98">
                <a:solidFill>
                  <a:srgbClr val="A8A2BB"/>
                </a:solidFill>
                <a:latin typeface="Consolas"/>
              </a:rPr>
              <a:t># orders/services.py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98">
                <a:solidFill>
                  <a:srgbClr val="F26D9B"/>
                </a:solidFill>
                <a:latin typeface="Consolas"/>
              </a:rPr>
              <a:t>import requests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98">
                <a:solidFill>
                  <a:srgbClr val="F26D9B"/>
                </a:solidFill>
                <a:latin typeface="Consolas"/>
              </a:rPr>
              <a:t>from django.conf import settings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98">
                <a:solidFill>
                  <a:srgbClr val="C9C2DA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98">
                <a:solidFill>
                  <a:srgbClr val="C9C2DA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98">
                <a:solidFill>
                  <a:srgbClr val="F26D9B"/>
                </a:solidFill>
                <a:latin typeface="Consolas"/>
              </a:rPr>
              <a:t>def send_order_to_telegram(order):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98">
                <a:solidFill>
                  <a:srgbClr val="A8A2BB"/>
                </a:solidFill>
                <a:latin typeface="Consolas"/>
              </a:rPr>
              <a:t>    # Yangi buyurtma bo'lganda markazga xabar yuboradi.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98">
                <a:solidFill>
                  <a:srgbClr val="C9C2DA"/>
                </a:solidFill>
                <a:latin typeface="Consolas"/>
              </a:rPr>
              <a:t>    token  = settings.TELEGRAM_BOT_TOKEN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98">
                <a:solidFill>
                  <a:srgbClr val="C9C2DA"/>
                </a:solidFill>
                <a:latin typeface="Consolas"/>
              </a:rPr>
              <a:t>    chat_id = settings.TELEGRAM_CHAT_ID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98">
                <a:solidFill>
                  <a:srgbClr val="C9C2DA"/>
                </a:solidFill>
                <a:latin typeface="Consolas"/>
              </a:rPr>
              <a:t>    if not token or not chat_id: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98">
                <a:solidFill>
                  <a:srgbClr val="F26D9B"/>
                </a:solidFill>
                <a:latin typeface="Consolas"/>
              </a:rPr>
              <a:t>        return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98">
                <a:solidFill>
                  <a:srgbClr val="C9C2DA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98">
                <a:solidFill>
                  <a:srgbClr val="C9C2DA"/>
                </a:solidFill>
                <a:latin typeface="Consolas"/>
              </a:rPr>
              <a:t>    items = "\n".join(f"• {i.cake.name} × {i.quantity} = {i.subtotal}"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98">
                <a:solidFill>
                  <a:srgbClr val="C9C2DA"/>
                </a:solidFill>
                <a:latin typeface="Consolas"/>
              </a:rPr>
              <a:t>                      for i in order.items.all())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98">
                <a:solidFill>
                  <a:srgbClr val="C9C2DA"/>
                </a:solidFill>
                <a:latin typeface="Consolas"/>
              </a:rPr>
              <a:t>    text = (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98">
                <a:solidFill>
                  <a:srgbClr val="C9C2DA"/>
                </a:solidFill>
                <a:latin typeface="Consolas"/>
              </a:rPr>
              <a:t>        f"YANGI BUYURTMA #{order.pk}\n"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98">
                <a:solidFill>
                  <a:srgbClr val="C9C2DA"/>
                </a:solidFill>
                <a:latin typeface="Consolas"/>
              </a:rPr>
              <a:t>        f"Mijoz: {order.client.full_name} ({order.client.phone})\n"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98">
                <a:solidFill>
                  <a:srgbClr val="C9C2DA"/>
                </a:solidFill>
                <a:latin typeface="Consolas"/>
              </a:rPr>
              <a:t>        f"Sana: {order.delivery_date} {order.delivery_time or ''}\n"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98">
                <a:solidFill>
                  <a:srgbClr val="C9C2DA"/>
                </a:solidFill>
                <a:latin typeface="Consolas"/>
              </a:rPr>
              <a:t>        f"Manzil: {order.delivery_address}\n\n{items}\n\n"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98">
                <a:solidFill>
                  <a:srgbClr val="C9C2DA"/>
                </a:solidFill>
                <a:latin typeface="Consolas"/>
              </a:rPr>
              <a:t>        f"JAMI: {order.total_price} so'm"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98">
                <a:solidFill>
                  <a:srgbClr val="C9C2DA"/>
                </a:solidFill>
                <a:latin typeface="Consolas"/>
              </a:rPr>
              <a:t>    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98">
                <a:solidFill>
                  <a:srgbClr val="C9C2DA"/>
                </a:solidFill>
                <a:latin typeface="Consolas"/>
              </a:rPr>
              <a:t>    requests.post(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98">
                <a:solidFill>
                  <a:srgbClr val="C9C2DA"/>
                </a:solidFill>
                <a:latin typeface="Consolas"/>
              </a:rPr>
              <a:t>        f"https://api.telegram.org/bot{token}/sendMessage",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98">
                <a:solidFill>
                  <a:srgbClr val="C9C2DA"/>
                </a:solidFill>
                <a:latin typeface="Consolas"/>
              </a:rPr>
              <a:t>        json={'chat_id': chat_id, 'text': text},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98">
                <a:solidFill>
                  <a:srgbClr val="C9C2DA"/>
                </a:solidFill>
                <a:latin typeface="Consolas"/>
              </a:rPr>
              <a:t>        timeout=10,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98">
                <a:solidFill>
                  <a:srgbClr val="C9C2DA"/>
                </a:solidFill>
                <a:latin typeface="Consolas"/>
              </a:rPr>
              <a:t>    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98">
                <a:solidFill>
                  <a:srgbClr val="C9C2DA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98">
                <a:solidFill>
                  <a:srgbClr val="A8A2BB"/>
                </a:solidFill>
                <a:latin typeface="Consolas"/>
              </a:rPr>
              <a:t># settings.py ga qo'shamiz: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98">
                <a:solidFill>
                  <a:srgbClr val="C9C2DA"/>
                </a:solidFill>
                <a:latin typeface="Consolas"/>
              </a:rPr>
              <a:t>TELEGRAM_BOT_TOKEN = os.environ.get('TELEGRAM_BOT_TOKEN', '')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98">
                <a:solidFill>
                  <a:srgbClr val="C9C2DA"/>
                </a:solidFill>
                <a:latin typeface="Consolas"/>
              </a:rPr>
              <a:t>TELEGRAM_CHAT_ID   = os.environ.get('TELEGRAM_CHAT_ID', '')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589788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F5B060"/>
                </a:solidFill>
                <a:latin typeface="Calibri"/>
              </a:rPr>
              <a:t>Xato bo'lsa sayt ishlamay qolmasin — shuning uchun try/except ichida chaqiring.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1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>
                <a:solidFill>
                  <a:srgbClr val="F26D9B"/>
                </a:solidFill>
                <a:latin typeface="Calibri"/>
              </a:rPr>
              <a:t>TOSHKIN KOD BILAN MA'LUMOT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76656"/>
            <a:ext cx="10789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F4F1F7"/>
                </a:solidFill>
                <a:latin typeface="Calibri"/>
              </a:rPr>
              <a:t>Ma'lumot kiritish (seed command)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35024"/>
            <a:ext cx="1371600" cy="54864"/>
          </a:xfrm>
          <a:prstGeom prst="roundRect">
            <a:avLst/>
          </a:prstGeom>
          <a:solidFill>
            <a:srgbClr val="F26D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64240" y="6355080"/>
            <a:ext cx="731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A8A2BB"/>
                </a:solidFill>
                <a:latin typeface="Calibri"/>
              </a:rPr>
              <a:t>49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355080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A8A2BB"/>
                </a:solidFill>
                <a:latin typeface="Calibri"/>
              </a:rPr>
              <a:t>Semurog' Tort Markazi  |  To'liq kod misollari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63040"/>
            <a:ext cx="10817352" cy="4846320"/>
          </a:xfrm>
          <a:prstGeom prst="roundRect">
            <a:avLst/>
          </a:prstGeom>
          <a:solidFill>
            <a:srgbClr val="100D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09344"/>
            <a:ext cx="10360152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699">
                <a:solidFill>
                  <a:srgbClr val="A8A2BB"/>
                </a:solidFill>
                <a:latin typeface="Consolas"/>
              </a:rPr>
              <a:t># cakes/management/commands/seed_cakes.py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699">
                <a:solidFill>
                  <a:srgbClr val="F26D9B"/>
                </a:solidFill>
                <a:latin typeface="Consolas"/>
              </a:rPr>
              <a:t>from django.core.management.base import BaseCommand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699">
                <a:solidFill>
                  <a:srgbClr val="F26D9B"/>
                </a:solidFill>
                <a:latin typeface="Consolas"/>
              </a:rPr>
              <a:t>from decimal import Decimal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699">
                <a:solidFill>
                  <a:srgbClr val="F26D9B"/>
                </a:solidFill>
                <a:latin typeface="Consolas"/>
              </a:rPr>
              <a:t>from cakes.models import Category, Cake, Option, Allergen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699">
                <a:solidFill>
                  <a:srgbClr val="C9C2DA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699">
                <a:solidFill>
                  <a:srgbClr val="C9C2DA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699">
                <a:solidFill>
                  <a:srgbClr val="F26D9B"/>
                </a:solidFill>
                <a:latin typeface="Consolas"/>
              </a:rPr>
              <a:t>class Command(BaseCommand):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699">
                <a:solidFill>
                  <a:srgbClr val="C9C2DA"/>
                </a:solidFill>
                <a:latin typeface="Consolas"/>
              </a:rPr>
              <a:t>    help = "Katalog uchun namuna ma'lumot kiritadi"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699">
                <a:solidFill>
                  <a:srgbClr val="C9C2DA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699">
                <a:solidFill>
                  <a:srgbClr val="F26D9B"/>
                </a:solidFill>
                <a:latin typeface="Consolas"/>
              </a:rPr>
              <a:t>    def handle(self, *args, **kwargs):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699">
                <a:solidFill>
                  <a:srgbClr val="C9C2DA"/>
                </a:solidFill>
                <a:latin typeface="Consolas"/>
              </a:rPr>
              <a:t>        cats = {}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699">
                <a:solidFill>
                  <a:srgbClr val="C9C2DA"/>
                </a:solidFill>
                <a:latin typeface="Consolas"/>
              </a:rPr>
              <a:t>        for name in ['Tug\'ilgan kun', 'To\'y torti', 'Shirinliklar']: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699">
                <a:solidFill>
                  <a:srgbClr val="C9C2DA"/>
                </a:solidFill>
                <a:latin typeface="Consolas"/>
              </a:rPr>
              <a:t>            cat, _ = Category.objects.get_or_create(name=name)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699">
                <a:solidFill>
                  <a:srgbClr val="C9C2DA"/>
                </a:solidFill>
                <a:latin typeface="Consolas"/>
              </a:rPr>
              <a:t>            cats[name] = cat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699">
                <a:solidFill>
                  <a:srgbClr val="C9C2DA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699">
                <a:solidFill>
                  <a:srgbClr val="C9C2DA"/>
                </a:solidFill>
                <a:latin typeface="Consolas"/>
              </a:rPr>
              <a:t>        opts = [Option.objects.get_or_create(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699">
                <a:solidFill>
                  <a:srgbClr val="C9C2DA"/>
                </a:solidFill>
                <a:latin typeface="Consolas"/>
              </a:rPr>
              <a:t>            name=n, group=g, defaults={'price_delta': Decimal(p)})[0]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699">
                <a:solidFill>
                  <a:srgbClr val="C9C2DA"/>
                </a:solidFill>
                <a:latin typeface="Consolas"/>
              </a:rPr>
              <a:t>            for n, g, p in [('8 inch', "O'lcham", '0'),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699">
                <a:solidFill>
                  <a:srgbClr val="C9C2DA"/>
                </a:solidFill>
                <a:latin typeface="Consolas"/>
              </a:rPr>
              <a:t>                            ('10 inch', "O'lcham", '150000'),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699">
                <a:solidFill>
                  <a:srgbClr val="C9C2DA"/>
                </a:solidFill>
                <a:latin typeface="Consolas"/>
              </a:rPr>
              <a:t>                            ('Vanilli krem', 'Ta\'m', '0'),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699">
                <a:solidFill>
                  <a:srgbClr val="C9C2DA"/>
                </a:solidFill>
                <a:latin typeface="Consolas"/>
              </a:rPr>
              <a:t>                            ('Shokolad', 'Ta\'m', '20000')]]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699">
                <a:solidFill>
                  <a:srgbClr val="C9C2DA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699">
                <a:solidFill>
                  <a:srgbClr val="C9C2DA"/>
                </a:solidFill>
                <a:latin typeface="Consolas"/>
              </a:rPr>
              <a:t>        for i, (cat, name, price) in enumerate([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699">
                <a:solidFill>
                  <a:srgbClr val="C9C2DA"/>
                </a:solidFill>
                <a:latin typeface="Consolas"/>
              </a:rPr>
              <a:t>            (cats["Tug'ilgan kun"], 'Tug\'ilgan kun torti', '450000'),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699">
                <a:solidFill>
                  <a:srgbClr val="C9C2DA"/>
                </a:solidFill>
                <a:latin typeface="Consolas"/>
              </a:rPr>
              <a:t>            (cats["To'y torti"],    'To\'y torti 3 qavat', '1200000'),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699">
                <a:solidFill>
                  <a:srgbClr val="C9C2DA"/>
                </a:solidFill>
                <a:latin typeface="Consolas"/>
              </a:rPr>
              <a:t>            (cats['Shirinliklar'],  'Truffel quyoshlar',   '380000'),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699">
                <a:solidFill>
                  <a:srgbClr val="C9C2DA"/>
                </a:solidFill>
                <a:latin typeface="Consolas"/>
              </a:rPr>
              <a:t>        ]):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699">
                <a:solidFill>
                  <a:srgbClr val="C9C2DA"/>
                </a:solidFill>
                <a:latin typeface="Consolas"/>
              </a:rPr>
              <a:t>            cake, created = Cake.objects.get_or_create(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699">
                <a:solidFill>
                  <a:srgbClr val="C9C2DA"/>
                </a:solidFill>
                <a:latin typeface="Consolas"/>
              </a:rPr>
              <a:t>                name=name,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699">
                <a:solidFill>
                  <a:srgbClr val="C9C2DA"/>
                </a:solidFill>
                <a:latin typeface="Consolas"/>
              </a:rPr>
              <a:t>                defaults={'category': cat, 'description': 'Mazali tort',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699">
                <a:solidFill>
                  <a:srgbClr val="C9C2DA"/>
                </a:solidFill>
                <a:latin typeface="Consolas"/>
              </a:rPr>
              <a:t>                          'price': Decimal(price),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699">
                <a:solidFill>
                  <a:srgbClr val="C9C2DA"/>
                </a:solidFill>
                <a:latin typeface="Consolas"/>
              </a:rPr>
              <a:t>                          'weight_gram': 1000 + i * 200,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699">
                <a:solidFill>
                  <a:srgbClr val="C9C2DA"/>
                </a:solidFill>
                <a:latin typeface="Consolas"/>
              </a:rPr>
              <a:t>                          'main_image': 'cakes/placeholder.jpg'})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699">
                <a:solidFill>
                  <a:srgbClr val="C9C2DA"/>
                </a:solidFill>
                <a:latin typeface="Consolas"/>
              </a:rPr>
              <a:t>            cake.options.set(opts[:2])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699">
                <a:solidFill>
                  <a:srgbClr val="C9C2DA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699">
                <a:solidFill>
                  <a:srgbClr val="C9C2DA"/>
                </a:solidFill>
                <a:latin typeface="Consolas"/>
              </a:rPr>
              <a:t>        for a in ['Yong\'oq', 'Tuxum', 'Sut', 'Gluten']: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699">
                <a:solidFill>
                  <a:srgbClr val="C9C2DA"/>
                </a:solidFill>
                <a:latin typeface="Consolas"/>
              </a:rPr>
              <a:t>            Allergen.objects.get_or_create(name=a)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699">
                <a:solidFill>
                  <a:srgbClr val="C9C2DA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699">
                <a:solidFill>
                  <a:srgbClr val="C9C2DA"/>
                </a:solidFill>
                <a:latin typeface="Consolas"/>
              </a:rPr>
              <a:t>        self.stdout.write(self.style.SUCCESS('Namuna ma\'lumot kiritildi'))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699">
                <a:solidFill>
                  <a:srgbClr val="C9C2DA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699">
                <a:solidFill>
                  <a:srgbClr val="A8A2BB"/>
                </a:solidFill>
                <a:latin typeface="Consolas"/>
              </a:rPr>
              <a:t># Ishga tushirish:  python manage.py seed_cakes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1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>
                <a:solidFill>
                  <a:srgbClr val="F26D9B"/>
                </a:solidFill>
                <a:latin typeface="Calibri"/>
              </a:rPr>
              <a:t>SIFAT KAFOLATI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76656"/>
            <a:ext cx="10789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F4F1F7"/>
                </a:solidFill>
                <a:latin typeface="Calibri"/>
              </a:rPr>
              <a:t>Testlar — o'z ishingni tekshirish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35024"/>
            <a:ext cx="1371600" cy="54864"/>
          </a:xfrm>
          <a:prstGeom prst="roundRect">
            <a:avLst/>
          </a:prstGeom>
          <a:solidFill>
            <a:srgbClr val="F26D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64240" y="6355080"/>
            <a:ext cx="731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A8A2BB"/>
                </a:solidFill>
                <a:latin typeface="Calibri"/>
              </a:rPr>
              <a:t>50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355080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A8A2BB"/>
                </a:solidFill>
                <a:latin typeface="Calibri"/>
              </a:rPr>
              <a:t>Semurog' Tort Markazi  |  To'liq kod misollari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63040"/>
            <a:ext cx="10817352" cy="4846320"/>
          </a:xfrm>
          <a:prstGeom prst="roundRect">
            <a:avLst/>
          </a:prstGeom>
          <a:solidFill>
            <a:srgbClr val="100D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09344"/>
            <a:ext cx="10360152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35">
                <a:solidFill>
                  <a:srgbClr val="A8A2BB"/>
                </a:solidFill>
                <a:latin typeface="Consolas"/>
              </a:rPr>
              <a:t># orders/tests.py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35">
                <a:solidFill>
                  <a:srgbClr val="F26D9B"/>
                </a:solidFill>
                <a:latin typeface="Consolas"/>
              </a:rPr>
              <a:t>from django.test import TestCase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35">
                <a:solidFill>
                  <a:srgbClr val="F26D9B"/>
                </a:solidFill>
                <a:latin typeface="Consolas"/>
              </a:rPr>
              <a:t>from decimal import Decimal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35">
                <a:solidFill>
                  <a:srgbClr val="F26D9B"/>
                </a:solidFill>
                <a:latin typeface="Consolas"/>
              </a:rPr>
              <a:t>from core.models import SiteSettings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35">
                <a:solidFill>
                  <a:srgbClr val="F26D9B"/>
                </a:solidFill>
                <a:latin typeface="Consolas"/>
              </a:rPr>
              <a:t>from clients.models import Client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35">
                <a:solidFill>
                  <a:srgbClr val="F26D9B"/>
                </a:solidFill>
                <a:latin typeface="Consolas"/>
              </a:rPr>
              <a:t>from cakes.models import Cake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35">
                <a:solidFill>
                  <a:srgbClr val="F26D9B"/>
                </a:solidFill>
                <a:latin typeface="Consolas"/>
              </a:rPr>
              <a:t>from .models import Order, OrderItem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35">
                <a:solidFill>
                  <a:srgbClr val="C9C2DA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35">
                <a:solidFill>
                  <a:srgbClr val="C9C2DA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35">
                <a:solidFill>
                  <a:srgbClr val="F26D9B"/>
                </a:solidFill>
                <a:latin typeface="Consolas"/>
              </a:rPr>
              <a:t>class OrderTotalTests(TestCase):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35">
                <a:solidFill>
                  <a:srgbClr val="A8A2BB"/>
                </a:solidFill>
                <a:latin typeface="Consolas"/>
              </a:rPr>
              <a:t>    # Jami summa to'g'ri hisoblanayotganini tekshirish.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35">
                <a:solidFill>
                  <a:srgbClr val="C9C2DA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35">
                <a:solidFill>
                  <a:srgbClr val="F26D9B"/>
                </a:solidFill>
                <a:latin typeface="Consolas"/>
              </a:rPr>
              <a:t>    def setUp(self):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35">
                <a:solidFill>
                  <a:srgbClr val="C9C2DA"/>
                </a:solidFill>
                <a:latin typeface="Consolas"/>
              </a:rPr>
              <a:t>        SiteSettings.objects.create(site_name='T', phone='+998901234567',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35">
                <a:solidFill>
                  <a:srgbClr val="C9C2DA"/>
                </a:solidFill>
                <a:latin typeface="Consolas"/>
              </a:rPr>
              <a:t>                                    address='Toshkent', delivery_price=20000)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35">
                <a:solidFill>
                  <a:srgbClr val="C9C2DA"/>
                </a:solidFill>
                <a:latin typeface="Consolas"/>
              </a:rPr>
              <a:t>        self.client_obj = Client.objects.create(full_name='Ali',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35">
                <a:solidFill>
                  <a:srgbClr val="C9C2DA"/>
                </a:solidFill>
                <a:latin typeface="Consolas"/>
              </a:rPr>
              <a:t>                                                phone='+998901234567')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35">
                <a:solidFill>
                  <a:srgbClr val="C9C2DA"/>
                </a:solidFill>
                <a:latin typeface="Consolas"/>
              </a:rPr>
              <a:t>        self.cake = Cake.objects.create(name='Tort', price=Decimal('300000'),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35">
                <a:solidFill>
                  <a:srgbClr val="C9C2DA"/>
                </a:solidFill>
                <a:latin typeface="Consolas"/>
              </a:rPr>
              <a:t>                                        weight_gram=1000, min_order_days=0)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35">
                <a:solidFill>
                  <a:srgbClr val="C9C2DA"/>
                </a:solidFill>
                <a:latin typeface="Consolas"/>
              </a:rPr>
              <a:t>        self.order = Order.objects.create(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35">
                <a:solidFill>
                  <a:srgbClr val="C9C2DA"/>
                </a:solidFill>
                <a:latin typeface="Consolas"/>
              </a:rPr>
              <a:t>            client=self.client_obj, delivery_address='Toshkent',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35">
                <a:solidFill>
                  <a:srgbClr val="C9C2DA"/>
                </a:solidFill>
                <a:latin typeface="Consolas"/>
              </a:rPr>
              <a:t>            delivery_date='2030-01-01', total_price=0)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35">
                <a:solidFill>
                  <a:srgbClr val="C9C2DA"/>
                </a:solidFill>
                <a:latin typeface="Consolas"/>
              </a:rPr>
              <a:t>        OrderItem.objects.create(order=self.order, cake=self.cake, quantity=2)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35">
                <a:solidFill>
                  <a:srgbClr val="C9C2DA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35">
                <a:solidFill>
                  <a:srgbClr val="F26D9B"/>
                </a:solidFill>
                <a:latin typeface="Consolas"/>
              </a:rPr>
              <a:t>    def test_total_is_correct(self):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35">
                <a:solidFill>
                  <a:srgbClr val="C9C2DA"/>
                </a:solidFill>
                <a:latin typeface="Consolas"/>
              </a:rPr>
              <a:t>        self.order.recalc_total()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35">
                <a:solidFill>
                  <a:srgbClr val="C9C2DA"/>
                </a:solidFill>
                <a:latin typeface="Consolas"/>
              </a:rPr>
              <a:t>        self.order.refresh_from_db()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35">
                <a:solidFill>
                  <a:srgbClr val="C9C2DA"/>
                </a:solidFill>
                <a:latin typeface="Consolas"/>
              </a:rPr>
              <a:t>        self.assertEqual(self.order.total_price, Decimal('620000'))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35">
                <a:solidFill>
                  <a:srgbClr val="C9C2DA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35">
                <a:solidFill>
                  <a:srgbClr val="F26D9B"/>
                </a:solidFill>
                <a:latin typeface="Consolas"/>
              </a:rPr>
              <a:t>    def test_item_subtotal(self):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35">
                <a:solidFill>
                  <a:srgbClr val="C9C2DA"/>
                </a:solidFill>
                <a:latin typeface="Consolas"/>
              </a:rPr>
              <a:t>        item = self.order.items.first()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35">
                <a:solidFill>
                  <a:srgbClr val="C9C2DA"/>
                </a:solidFill>
                <a:latin typeface="Consolas"/>
              </a:rPr>
              <a:t>        self.assertEqual(item.subtotal, Decimal('600000'))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35">
                <a:solidFill>
                  <a:srgbClr val="C9C2DA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35">
                <a:solidFill>
                  <a:srgbClr val="C9C2DA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35">
                <a:solidFill>
                  <a:srgbClr val="F26D9B"/>
                </a:solidFill>
                <a:latin typeface="Consolas"/>
              </a:rPr>
              <a:t>class CartTests(TestCase):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35">
                <a:solidFill>
                  <a:srgbClr val="F26D9B"/>
                </a:solidFill>
                <a:latin typeface="Consolas"/>
              </a:rPr>
              <a:t>    def test_add_twice_increases_quantity(self):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35">
                <a:solidFill>
                  <a:srgbClr val="C9C2DA"/>
                </a:solidFill>
                <a:latin typeface="Consolas"/>
              </a:rPr>
              <a:t>        self.client.get('/orders/cart/add/1/')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35">
                <a:solidFill>
                  <a:srgbClr val="C9C2DA"/>
                </a:solidFill>
                <a:latin typeface="Consolas"/>
              </a:rPr>
              <a:t>        self.client.get('/orders/cart/add/1/')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735">
                <a:solidFill>
                  <a:srgbClr val="C9C2DA"/>
                </a:solidFill>
                <a:latin typeface="Consolas"/>
              </a:rPr>
              <a:t>        self.assertEqual(self.client.session['cart'], {'1': 2})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1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>
                <a:solidFill>
                  <a:srgbClr val="F26D9B"/>
                </a:solidFill>
                <a:latin typeface="Calibri"/>
              </a:rPr>
              <a:t>TEZIKLIK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76656"/>
            <a:ext cx="10789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F4F1F7"/>
                </a:solidFill>
                <a:latin typeface="Calibri"/>
              </a:rPr>
              <a:t>Tez-tez uchraydigan xatolar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35024"/>
            <a:ext cx="1371600" cy="54864"/>
          </a:xfrm>
          <a:prstGeom prst="roundRect">
            <a:avLst/>
          </a:prstGeom>
          <a:solidFill>
            <a:srgbClr val="F26D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64240" y="6355080"/>
            <a:ext cx="731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A8A2BB"/>
                </a:solidFill>
                <a:latin typeface="Calibri"/>
              </a:rPr>
              <a:t>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355080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A8A2BB"/>
                </a:solidFill>
                <a:latin typeface="Calibri"/>
              </a:rPr>
              <a:t>Semurog' Tort Markazi  |  To'liq kod misollari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737360"/>
            <a:ext cx="10817352" cy="3474720"/>
          </a:xfrm>
          <a:prstGeom prst="roundRect">
            <a:avLst/>
          </a:prstGeom>
          <a:solidFill>
            <a:srgbClr val="100D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83664"/>
            <a:ext cx="10360152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C9C2DA"/>
                </a:solidFill>
                <a:latin typeface="Consolas"/>
              </a:rPr>
              <a:t>Xato                                 Sabab / yechim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C9C2DA"/>
                </a:solidFill>
                <a:latin typeface="Consolas"/>
              </a:rPr>
              <a:t>-----------------------------------------------------------------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C9C2DA"/>
                </a:solidFill>
                <a:latin typeface="Consolas"/>
              </a:rPr>
              <a:t>You have N unapplied migration(s)     makemigrations + migrate qildiring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C9C2DA"/>
                </a:solidFill>
                <a:latin typeface="Consolas"/>
              </a:rPr>
              <a:t>NoReverseMatch                         URL yoki view nomi xato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C9C2DA"/>
                </a:solidFill>
                <a:latin typeface="Consolas"/>
              </a:rPr>
              <a:t>VariableDoesNotExist                   context kaliti nomi boshqa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C9C2DA"/>
                </a:solidFill>
                <a:latin typeface="Consolas"/>
              </a:rPr>
              <a:t>'NoneType' has no attribute             null=True maydon tekshirilmagan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C9C2DA"/>
                </a:solidFill>
                <a:latin typeface="Consolas"/>
              </a:rPr>
              <a:t>too many values to unpack                Tuple / miqdor mos kelmagan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C9C2DA"/>
                </a:solidFill>
                <a:latin typeface="Consolas"/>
              </a:rPr>
              <a:t>'Cake' has no attribute 'images'       related_name boshqa nom bilan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C9C2DA"/>
                </a:solidFill>
                <a:latin typeface="Consolas"/>
              </a:rPr>
              <a:t>Migration 'orders.0001' is applied     models.py ni o'zgartirib, yangi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C9C2DA"/>
                </a:solidFill>
                <a:latin typeface="Consolas"/>
              </a:rPr>
              <a:t>                                       migration kerak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C9C2DA"/>
                </a:solidFill>
                <a:latin typeface="Consolas"/>
              </a:rPr>
              <a:t>ConstraintViolation: phone             unique=True — telefon allaqachon bor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C9C2DA"/>
                </a:solidFill>
                <a:latin typeface="Consolas"/>
              </a:rPr>
              <a:t>Cannot use None as a query value        None qiymat bo'ldi (masalan m2m)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C9C2DA"/>
                </a:solidFill>
                <a:latin typeface="Consolas"/>
              </a:rPr>
              <a:t>StaticFilesDirectoryNotFound            static/ papkasi yaratilmagan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C9C2DA"/>
                </a:solidFill>
                <a:latin typeface="Consolas"/>
              </a:rPr>
              <a:t>Forbidden (403)                         {% csrf_token %} qo'yilmagan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5349240"/>
            <a:ext cx="5294376" cy="1005840"/>
          </a:xfrm>
          <a:prstGeom prst="roundRect">
            <a:avLst/>
          </a:prstGeom>
          <a:solidFill>
            <a:srgbClr val="1F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85800" y="5349240"/>
            <a:ext cx="5294376" cy="45720"/>
          </a:xfrm>
          <a:prstGeom prst="roundRect">
            <a:avLst/>
          </a:prstGeom>
          <a:solidFill>
            <a:srgbClr val="F26D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5550408"/>
            <a:ext cx="483717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F26D9B"/>
                </a:solidFill>
                <a:latin typeface="Calibri"/>
              </a:rPr>
              <a:t>Diagnostika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6062472"/>
            <a:ext cx="48371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100" b="1">
                <a:solidFill>
                  <a:srgbClr val="F4F1F7"/>
                </a:solidFill>
                <a:latin typeface="Calibri"/>
              </a:rPr>
              <a:t>▸  python manage.py check</a:t>
            </a:r>
          </a:p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100" b="1">
                <a:solidFill>
                  <a:srgbClr val="F4F1F7"/>
                </a:solidFill>
                <a:latin typeface="Calibri"/>
              </a:rPr>
              <a:t>▸  python manage.py showmigrations</a:t>
            </a:r>
          </a:p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100" b="1">
                <a:solidFill>
                  <a:srgbClr val="F4F1F7"/>
                </a:solidFill>
                <a:latin typeface="Calibri"/>
              </a:rPr>
              <a:t>▸  python manage.py shell → Cake.objects.count()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08776" y="5349240"/>
            <a:ext cx="5294376" cy="1005840"/>
          </a:xfrm>
          <a:prstGeom prst="roundRect">
            <a:avLst/>
          </a:prstGeom>
          <a:solidFill>
            <a:srgbClr val="1F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08776" y="5349240"/>
            <a:ext cx="5294376" cy="45720"/>
          </a:xfrm>
          <a:prstGeom prst="roundRect">
            <a:avLst/>
          </a:prstGeom>
          <a:solidFill>
            <a:srgbClr val="6CC7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37376" y="5550408"/>
            <a:ext cx="483717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6CC7B8"/>
                </a:solidFill>
                <a:latin typeface="Calibri"/>
              </a:rPr>
              <a:t>Shell'da foydali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37376" y="6062472"/>
            <a:ext cx="48371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100" b="1">
                <a:solidFill>
                  <a:srgbClr val="F4F1F7"/>
                </a:solidFill>
                <a:latin typeface="Calibri"/>
              </a:rPr>
              <a:t>▸  print(cake.get_absolute_url())</a:t>
            </a:r>
          </a:p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100" b="1">
                <a:solidFill>
                  <a:srgbClr val="F4F1F7"/>
                </a:solidFill>
                <a:latin typeface="Calibri"/>
              </a:rPr>
              <a:t>▸  list(Cake.objects.values_list('name', 'price'))</a:t>
            </a:r>
          </a:p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100" b="1">
                <a:solidFill>
                  <a:srgbClr val="F4F1F7"/>
                </a:solidFill>
                <a:latin typeface="Calibri"/>
              </a:rPr>
              <a:t>▸  Client.objects.filter(phone__startswith='+9989')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1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>
                <a:solidFill>
                  <a:srgbClr val="F26D9B"/>
                </a:solidFill>
                <a:latin typeface="Calibri"/>
              </a:rPr>
              <a:t>VAQT REJASI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76656"/>
            <a:ext cx="10789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F4F1F7"/>
                </a:solidFill>
                <a:latin typeface="Calibri"/>
              </a:rPr>
              <a:t>8 kunlik reja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35024"/>
            <a:ext cx="1371600" cy="54864"/>
          </a:xfrm>
          <a:prstGeom prst="roundRect">
            <a:avLst/>
          </a:prstGeom>
          <a:solidFill>
            <a:srgbClr val="F26D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64240" y="6355080"/>
            <a:ext cx="731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A8A2BB"/>
                </a:solidFill>
                <a:latin typeface="Calibri"/>
              </a:rPr>
              <a:t>52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355080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A8A2BB"/>
                </a:solidFill>
                <a:latin typeface="Calibri"/>
              </a:rPr>
              <a:t>Semurog' Tort Markazi  |  To'liq kod misollari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828800"/>
            <a:ext cx="1176147" cy="1828800"/>
          </a:xfrm>
          <a:prstGeom prst="roundRect">
            <a:avLst/>
          </a:prstGeom>
          <a:solidFill>
            <a:srgbClr val="1F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85800" y="1828800"/>
            <a:ext cx="1176147" cy="45720"/>
          </a:xfrm>
          <a:prstGeom prst="roundRect">
            <a:avLst/>
          </a:prstGeom>
          <a:solidFill>
            <a:srgbClr val="F26D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2011680"/>
            <a:ext cx="846963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29" b="1">
                <a:solidFill>
                  <a:srgbClr val="F26D9B"/>
                </a:solidFill>
                <a:latin typeface="Calibri"/>
              </a:rPr>
              <a:t>1-kun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2487168"/>
            <a:ext cx="846963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150" b="0">
                <a:solidFill>
                  <a:srgbClr val="F4F1F7"/>
                </a:solidFill>
                <a:latin typeface="Calibri"/>
              </a:rPr>
              <a:t>core/models.py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150" b="0">
                <a:solidFill>
                  <a:srgbClr val="F4F1F7"/>
                </a:solidFill>
                <a:latin typeface="Calibri"/>
              </a:rPr>
              <a:t>4 ta model +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150" b="0">
                <a:solidFill>
                  <a:srgbClr val="F4F1F7"/>
                </a:solidFill>
                <a:latin typeface="Calibri"/>
              </a:rPr>
              <a:t>admin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063115" y="1828800"/>
            <a:ext cx="1176147" cy="1828800"/>
          </a:xfrm>
          <a:prstGeom prst="roundRect">
            <a:avLst/>
          </a:prstGeom>
          <a:solidFill>
            <a:srgbClr val="1F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063115" y="1828800"/>
            <a:ext cx="1176147" cy="45720"/>
          </a:xfrm>
          <a:prstGeom prst="roundRect">
            <a:avLst/>
          </a:prstGeom>
          <a:solidFill>
            <a:srgbClr val="F26D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227707" y="2011680"/>
            <a:ext cx="846963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29" b="1">
                <a:solidFill>
                  <a:srgbClr val="F26D9B"/>
                </a:solidFill>
                <a:latin typeface="Calibri"/>
              </a:rPr>
              <a:t>2-kun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27707" y="2487168"/>
            <a:ext cx="846963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150" b="0">
                <a:solidFill>
                  <a:srgbClr val="F4F1F7"/>
                </a:solidFill>
                <a:latin typeface="Calibri"/>
              </a:rPr>
              <a:t>core views,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150" b="0">
                <a:solidFill>
                  <a:srgbClr val="F4F1F7"/>
                </a:solidFill>
                <a:latin typeface="Calibri"/>
              </a:rPr>
              <a:t>templates,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150" b="0">
                <a:solidFill>
                  <a:srgbClr val="F4F1F7"/>
                </a:solidFill>
                <a:latin typeface="Calibri"/>
              </a:rPr>
              <a:t>home sahifa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40430" y="1828800"/>
            <a:ext cx="1176147" cy="1828800"/>
          </a:xfrm>
          <a:prstGeom prst="roundRect">
            <a:avLst/>
          </a:prstGeom>
          <a:solidFill>
            <a:srgbClr val="1F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440430" y="1828800"/>
            <a:ext cx="1176147" cy="45720"/>
          </a:xfrm>
          <a:prstGeom prst="roundRect">
            <a:avLst/>
          </a:prstGeom>
          <a:solidFill>
            <a:srgbClr val="F26D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05022" y="2011680"/>
            <a:ext cx="846963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29" b="1">
                <a:solidFill>
                  <a:srgbClr val="F26D9B"/>
                </a:solidFill>
                <a:latin typeface="Calibri"/>
              </a:rPr>
              <a:t>3-kun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05022" y="2487168"/>
            <a:ext cx="846963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150" b="0">
                <a:solidFill>
                  <a:srgbClr val="F4F1F7"/>
                </a:solidFill>
                <a:latin typeface="Calibri"/>
              </a:rPr>
              <a:t>clients model,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150" b="0">
                <a:solidFill>
                  <a:srgbClr val="F4F1F7"/>
                </a:solidFill>
                <a:latin typeface="Calibri"/>
              </a:rPr>
              <a:t>forms, auth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150" b="0">
                <a:solidFill>
                  <a:srgbClr val="F4F1F7"/>
                </a:solidFill>
                <a:latin typeface="Calibri"/>
              </a:rPr>
              <a:t>view'lari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817745" y="1828800"/>
            <a:ext cx="1176147" cy="1828800"/>
          </a:xfrm>
          <a:prstGeom prst="roundRect">
            <a:avLst/>
          </a:prstGeom>
          <a:solidFill>
            <a:srgbClr val="1F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817745" y="1828800"/>
            <a:ext cx="1176147" cy="45720"/>
          </a:xfrm>
          <a:prstGeom prst="roundRect">
            <a:avLst/>
          </a:prstGeom>
          <a:solidFill>
            <a:srgbClr val="F26D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982337" y="2011680"/>
            <a:ext cx="846963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29" b="1">
                <a:solidFill>
                  <a:srgbClr val="F26D9B"/>
                </a:solidFill>
                <a:latin typeface="Calibri"/>
              </a:rPr>
              <a:t>4-kun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82337" y="2487168"/>
            <a:ext cx="846963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150" b="0">
                <a:solidFill>
                  <a:srgbClr val="F4F1F7"/>
                </a:solidFill>
                <a:latin typeface="Calibri"/>
              </a:rPr>
              <a:t>cakes 5 ta model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150" b="0">
                <a:solidFill>
                  <a:srgbClr val="F4F1F7"/>
                </a:solidFill>
                <a:latin typeface="Calibri"/>
              </a:rPr>
              <a:t>+ admin +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150" b="0">
                <a:solidFill>
                  <a:srgbClr val="F4F1F7"/>
                </a:solidFill>
                <a:latin typeface="Calibri"/>
              </a:rPr>
              <a:t>katalog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95060" y="1828800"/>
            <a:ext cx="1176147" cy="1828800"/>
          </a:xfrm>
          <a:prstGeom prst="roundRect">
            <a:avLst/>
          </a:prstGeom>
          <a:solidFill>
            <a:srgbClr val="1F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195060" y="1828800"/>
            <a:ext cx="1176147" cy="45720"/>
          </a:xfrm>
          <a:prstGeom prst="roundRect">
            <a:avLst/>
          </a:prstGeom>
          <a:solidFill>
            <a:srgbClr val="F26D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59652" y="2011680"/>
            <a:ext cx="846963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29" b="1">
                <a:solidFill>
                  <a:srgbClr val="F26D9B"/>
                </a:solidFill>
                <a:latin typeface="Calibri"/>
              </a:rPr>
              <a:t>5-kun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59652" y="2487168"/>
            <a:ext cx="846963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150" b="0">
                <a:solidFill>
                  <a:srgbClr val="F4F1F7"/>
                </a:solidFill>
                <a:latin typeface="Calibri"/>
              </a:rPr>
              <a:t>cakes filtr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150" b="0">
                <a:solidFill>
                  <a:srgbClr val="F4F1F7"/>
                </a:solidFill>
                <a:latin typeface="Calibri"/>
              </a:rPr>
              <a:t>+ detail sahifa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150" b="0">
                <a:solidFill>
                  <a:srgbClr val="F4F1F7"/>
                </a:solidFill>
                <a:latin typeface="Calibri"/>
              </a:rPr>
              <a:t>+ variantlar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572375" y="1828800"/>
            <a:ext cx="1176147" cy="1828800"/>
          </a:xfrm>
          <a:prstGeom prst="roundRect">
            <a:avLst/>
          </a:prstGeom>
          <a:solidFill>
            <a:srgbClr val="1F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572375" y="1828800"/>
            <a:ext cx="1176147" cy="45720"/>
          </a:xfrm>
          <a:prstGeom prst="roundRect">
            <a:avLst/>
          </a:prstGeom>
          <a:solidFill>
            <a:srgbClr val="F26D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36967" y="2011680"/>
            <a:ext cx="846963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29" b="1">
                <a:solidFill>
                  <a:srgbClr val="F26D9B"/>
                </a:solidFill>
                <a:latin typeface="Calibri"/>
              </a:rPr>
              <a:t>6-kun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36967" y="2487168"/>
            <a:ext cx="846963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150" b="0">
                <a:solidFill>
                  <a:srgbClr val="F4F1F7"/>
                </a:solidFill>
                <a:latin typeface="Calibri"/>
              </a:rPr>
              <a:t>orders 3 ta model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150" b="0">
                <a:solidFill>
                  <a:srgbClr val="F4F1F7"/>
                </a:solidFill>
                <a:latin typeface="Calibri"/>
              </a:rPr>
              <a:t>+ savat +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150" b="0">
                <a:solidFill>
                  <a:srgbClr val="F4F1F7"/>
                </a:solidFill>
                <a:latin typeface="Calibri"/>
              </a:rPr>
              <a:t>checkout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949690" y="1828800"/>
            <a:ext cx="1176147" cy="1828800"/>
          </a:xfrm>
          <a:prstGeom prst="roundRect">
            <a:avLst/>
          </a:prstGeom>
          <a:solidFill>
            <a:srgbClr val="1F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8949690" y="1828800"/>
            <a:ext cx="1176147" cy="45720"/>
          </a:xfrm>
          <a:prstGeom prst="roundRect">
            <a:avLst/>
          </a:prstGeom>
          <a:solidFill>
            <a:srgbClr val="F26D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14282" y="2011680"/>
            <a:ext cx="846963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29" b="1">
                <a:solidFill>
                  <a:srgbClr val="F26D9B"/>
                </a:solidFill>
                <a:latin typeface="Calibri"/>
              </a:rPr>
              <a:t>7-kun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14282" y="2487168"/>
            <a:ext cx="846963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150" b="0">
                <a:solidFill>
                  <a:srgbClr val="F4F1F7"/>
                </a:solidFill>
                <a:latin typeface="Calibri"/>
              </a:rPr>
              <a:t>orders admin,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150" b="0">
                <a:solidFill>
                  <a:srgbClr val="F4F1F7"/>
                </a:solidFill>
                <a:latin typeface="Calibri"/>
              </a:rPr>
              <a:t>reviews,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150" b="0">
                <a:solidFill>
                  <a:srgbClr val="F4F1F7"/>
                </a:solidFill>
                <a:latin typeface="Calibri"/>
              </a:rPr>
              <a:t>testlar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327005" y="1828800"/>
            <a:ext cx="1176147" cy="1828800"/>
          </a:xfrm>
          <a:prstGeom prst="roundRect">
            <a:avLst/>
          </a:prstGeom>
          <a:solidFill>
            <a:srgbClr val="1F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10327005" y="1828800"/>
            <a:ext cx="1176147" cy="45720"/>
          </a:xfrm>
          <a:prstGeom prst="roundRect">
            <a:avLst/>
          </a:prstGeom>
          <a:solidFill>
            <a:srgbClr val="F26D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491597" y="2011680"/>
            <a:ext cx="846963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29" b="1">
                <a:solidFill>
                  <a:srgbClr val="F26D9B"/>
                </a:solidFill>
                <a:latin typeface="Calibri"/>
              </a:rPr>
              <a:t>8-kun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491597" y="2487168"/>
            <a:ext cx="846963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993" b="0">
                <a:solidFill>
                  <a:srgbClr val="F4F1F7"/>
                </a:solidFill>
                <a:latin typeface="Calibri"/>
              </a:rPr>
              <a:t>Telegram, deploy,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993" b="0">
                <a:solidFill>
                  <a:srgbClr val="F4F1F7"/>
                </a:solidFill>
                <a:latin typeface="Calibri"/>
              </a:rPr>
              <a:t>ma'lumot kiritish,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993" b="0">
                <a:solidFill>
                  <a:srgbClr val="F4F1F7"/>
                </a:solidFill>
                <a:latin typeface="Calibri"/>
              </a:rPr>
              <a:t>qadashu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7240" y="3977639"/>
            <a:ext cx="10607040" cy="2377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500" b="1">
                <a:solidFill>
                  <a:srgbClr val="F4F1F7"/>
                </a:solidFill>
                <a:latin typeface="Calibri"/>
              </a:rPr>
              <a:t>▸  Har kuni: makemigrations → migrate → runserver → /admin/ da tekshirish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500" b="1">
                <a:solidFill>
                  <a:srgbClr val="F4F1F7"/>
                </a:solidFill>
                <a:latin typeface="Calibri"/>
              </a:rPr>
              <a:t>▸  Kun oxirida ishlaydigan natija bo'lsin — keyin davom etasiz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1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>
                <a:solidFill>
                  <a:srgbClr val="F26D9B"/>
                </a:solidFill>
                <a:latin typeface="Calibri"/>
              </a:rPr>
              <a:t>YAKUNIY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76656"/>
            <a:ext cx="10789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F4F1F7"/>
                </a:solidFill>
                <a:latin typeface="Calibri"/>
              </a:rPr>
              <a:t>Tartib va xulosa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35024"/>
            <a:ext cx="1371600" cy="54864"/>
          </a:xfrm>
          <a:prstGeom prst="roundRect">
            <a:avLst/>
          </a:prstGeom>
          <a:solidFill>
            <a:srgbClr val="F26D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64240" y="6355080"/>
            <a:ext cx="731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A8A2BB"/>
                </a:solidFill>
                <a:latin typeface="Calibri"/>
              </a:rPr>
              <a:t>53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355080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A8A2BB"/>
                </a:solidFill>
                <a:latin typeface="Calibri"/>
              </a:rPr>
              <a:t>Semurog' Tort Markazi  |  To'liq kod misollari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828800"/>
            <a:ext cx="3471672" cy="1737360"/>
          </a:xfrm>
          <a:prstGeom prst="roundRect">
            <a:avLst/>
          </a:prstGeom>
          <a:solidFill>
            <a:srgbClr val="1F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85800" y="1828800"/>
            <a:ext cx="3471672" cy="45720"/>
          </a:xfrm>
          <a:prstGeom prst="roundRect">
            <a:avLst/>
          </a:prstGeom>
          <a:solidFill>
            <a:srgbClr val="F26D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2011680"/>
            <a:ext cx="31424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29" b="1">
                <a:solidFill>
                  <a:srgbClr val="F26D9B"/>
                </a:solidFill>
                <a:latin typeface="Calibri"/>
              </a:rPr>
              <a:t>Qoidasi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2487168"/>
            <a:ext cx="3142488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300" b="0">
                <a:solidFill>
                  <a:srgbClr val="F4F1F7"/>
                </a:solidFill>
                <a:latin typeface="Calibri"/>
              </a:rPr>
              <a:t>Model → migration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300" b="0">
                <a:solidFill>
                  <a:srgbClr val="F4F1F7"/>
                </a:solidFill>
                <a:latin typeface="Calibri"/>
              </a:rPr>
              <a:t>→ admin → view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300" b="0">
                <a:solidFill>
                  <a:srgbClr val="F4F1F7"/>
                </a:solidFill>
                <a:latin typeface="Calibri"/>
              </a:rPr>
              <a:t>→ url → template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58640" y="1828800"/>
            <a:ext cx="3471672" cy="1737360"/>
          </a:xfrm>
          <a:prstGeom prst="roundRect">
            <a:avLst/>
          </a:prstGeom>
          <a:solidFill>
            <a:srgbClr val="1F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358640" y="1828800"/>
            <a:ext cx="3471672" cy="45720"/>
          </a:xfrm>
          <a:prstGeom prst="roundRect">
            <a:avLst/>
          </a:prstGeom>
          <a:solidFill>
            <a:srgbClr val="F26D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23232" y="2011680"/>
            <a:ext cx="31424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29" b="1">
                <a:solidFill>
                  <a:srgbClr val="F26D9B"/>
                </a:solidFill>
                <a:latin typeface="Calibri"/>
              </a:rPr>
              <a:t>Tekshiruv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3232" y="2487168"/>
            <a:ext cx="3142488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300" b="0">
                <a:solidFill>
                  <a:srgbClr val="F4F1F7"/>
                </a:solidFill>
                <a:latin typeface="Calibri"/>
              </a:rPr>
              <a:t>Har bosqichdan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300" b="0">
                <a:solidFill>
                  <a:srgbClr val="F4F1F7"/>
                </a:solidFill>
                <a:latin typeface="Calibri"/>
              </a:rPr>
              <a:t>keyin /admin/ da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300" b="0">
                <a:solidFill>
                  <a:srgbClr val="F4F1F7"/>
                </a:solidFill>
                <a:latin typeface="Calibri"/>
              </a:rPr>
              <a:t>tekshir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31480" y="1828800"/>
            <a:ext cx="3471672" cy="1737360"/>
          </a:xfrm>
          <a:prstGeom prst="roundRect">
            <a:avLst/>
          </a:prstGeom>
          <a:solidFill>
            <a:srgbClr val="1F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31480" y="1828800"/>
            <a:ext cx="3471672" cy="45720"/>
          </a:xfrm>
          <a:prstGeom prst="roundRect">
            <a:avLst/>
          </a:prstGeom>
          <a:solidFill>
            <a:srgbClr val="F26D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96072" y="2011680"/>
            <a:ext cx="31424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29" b="1">
                <a:solidFill>
                  <a:srgbClr val="F26D9B"/>
                </a:solidFill>
                <a:latin typeface="Calibri"/>
              </a:rPr>
              <a:t>Xotira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96072" y="2487168"/>
            <a:ext cx="3142488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300" b="0">
                <a:solidFill>
                  <a:srgbClr val="F4F1F7"/>
                </a:solidFill>
                <a:latin typeface="Calibri"/>
              </a:rPr>
              <a:t>Kodni ko'rib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300" b="0">
                <a:solidFill>
                  <a:srgbClr val="F4F1F7"/>
                </a:solidFill>
                <a:latin typeface="Calibri"/>
              </a:rPr>
              <a:t>yozib olma —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300" b="0">
                <a:solidFill>
                  <a:srgbClr val="F4F1F7"/>
                </a:solidFill>
                <a:latin typeface="Calibri"/>
              </a:rPr>
              <a:t>o'zing yoz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3886200"/>
            <a:ext cx="106070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500" b="1">
                <a:solidFill>
                  <a:srgbClr val="F4F1F7"/>
                </a:solidFill>
                <a:latin typeface="Calibri"/>
              </a:rPr>
              <a:t>▸  Har bir slayddagi kod — namunaviy. O'z loyihang nomlari va qoidalariga moslashtir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500" b="1">
                <a:solidFill>
                  <a:srgbClr val="F4F1F7"/>
                </a:solidFill>
                <a:latin typeface="Calibri"/>
              </a:rPr>
              <a:t>▸  Yangi maydon qo'shsang: models.py ni o'zgartir → makemigrations → migrate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500" b="1">
                <a:solidFill>
                  <a:srgbClr val="F4F1F7"/>
                </a:solidFill>
                <a:latin typeface="Calibri"/>
              </a:rPr>
              <a:t>▸  Xato chiqsa: xatoning oxirgi qatorini o'qib, tegishli slaydga qayt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5577840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500" b="0">
                <a:solidFill>
                  <a:srgbClr val="F5B060"/>
                </a:solidFill>
                <a:latin typeface="Calibri"/>
              </a:rPr>
              <a:t>Keyingi qadam: core/models.py ni och va SiteSettings modelini yozib ko'r —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500" b="0">
                <a:solidFill>
                  <a:srgbClr val="F5B060"/>
                </a:solidFill>
                <a:latin typeface="Calibri"/>
              </a:rPr>
              <a:t>migratsiya, admin, keyin view. Shu tartibda 5 ta app bajariladi.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